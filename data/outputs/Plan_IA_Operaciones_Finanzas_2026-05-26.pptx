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3017520" cy="1483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228600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Plan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108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4A90E2"/>
                </a:solidFill>
                <a:latin typeface="Calibri"/>
              </a:rPr>
              <a:t>Operaciones y Finanzas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4023360"/>
            <a:ext cx="32004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42062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Hoja de ruta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54864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Andrés Browne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85216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Gerencia Finanzas + Supply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2179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26 de mayo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El Cerebro IA ya está construido a medias. Cerrando 5 piezas liberamos eficiencias significativas.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5486400" cy="320040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691640"/>
            <a:ext cx="5486400" cy="32004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DICIEMBRE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51206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Procesos manuales · 75% errores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Decisiones con dato de hace 30 días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Excel paralelos en cada PC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Equipo captura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286000"/>
            <a:ext cx="51206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• Procesos automatizados · &lt; 5% errores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• 3 reportes auto-generados lunes 9:00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• Decisiones con dato fresco (&lt; 1 día)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• 1 cerebro centralizado consultable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• Equipo valida y analiza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120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LOS 2 OBJETIVOS DEL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7784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40AF"/>
                </a:solidFill>
                <a:latin typeface="Calibri"/>
              </a:rPr>
              <a:t>1 · CENTRALIZACIÓN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89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Cerebro Union X — una sola fuente de verdad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57784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56692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2 · REDUCCIÓN DE COSTOS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989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~$33 MM en 2026 · ~$100 MM/año run-rate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20" name="Picture 19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Foto 360 — Lo que ya está vivo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4 apps web · 3 agentes IA · 6 skills · integraciones múltiples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6974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2697480" cy="4572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4 APPS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423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App Ventas (17 vistas, 5 usuarios)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App Finanzas (P&amp;L, EBIT, FCST)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App Operaciones (COMEX, Stock, Bonos)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App Planificación (Triada)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45920"/>
            <a:ext cx="26974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645920"/>
            <a:ext cx="2697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71907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 AGENTES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240280"/>
            <a:ext cx="2423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Agente COMEX Gmail ✓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Agente LCV-Compras ✓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Agente Cobranza ⏸ pausado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6974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645920"/>
            <a:ext cx="26974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1907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6 SKILLS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423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comex-workflow · shipping-plan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distribución comisiones · reporte gerencial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segmentación pedido · EERR clasificador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645920"/>
            <a:ext cx="26974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645920"/>
            <a:ext cx="2697480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71907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INTEGRACIONES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240280"/>
            <a:ext cx="2423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Odoo (XML-RPC)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Gmail · Drive · Sheets API</a:t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• SII (Playwright) · DuckDB (post 7-jun)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348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Calibri"/>
              </a:rPr>
              <a:t>Estado por pieza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463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4360" y="50474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92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App Ventas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138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Producción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6120" y="48463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83279" y="50474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0" y="4892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App Finanzas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5138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Producción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48463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72200" y="50474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892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App Operaciones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138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Producción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59" y="48463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961119" y="50474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39" y="4892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App Planificación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39" y="5138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Producción (F2 OK)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4360" y="57332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57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Agente COMEX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824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Activo polling 2 min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46120" y="55321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383279" y="57332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0" y="557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Agente LCV-Compras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824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Daily email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5040" y="55321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72200" y="5733288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557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Agente Cobranza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824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Pausado · incidente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23959" y="5532120"/>
            <a:ext cx="27432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61119" y="573328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39" y="557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Skills Claude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39" y="5824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On-demand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56" name="Picture 55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El Cerebro Union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Centralizar para tener data en vivo, capturar eficiencias y dejar el valor agregado dentro de la empresa.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Calibri"/>
              </a:rPr>
              <a:t>EL PROBLEMA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548640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4572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Odoo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6887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ERP potente, pero solo 1 de las fuentes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4572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08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Drives por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8327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Formatos propios · archivos locales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23360"/>
            <a:ext cx="4572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23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023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Integraciones a medias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97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Cada área toma lo que necesita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937760"/>
            <a:ext cx="4572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37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377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Marketplaces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ML, Falabella, Paris, Ripley… separados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669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→ Cada área arma su versión · valor a medias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Calibri"/>
              </a:rPr>
              <a:t>LA RESPUESTA — 5 FASES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0116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2130552"/>
            <a:ext cx="502920" cy="4572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1305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Auditar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377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Mapear cómo trabaja cada área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78892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2907792"/>
            <a:ext cx="502920" cy="4572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907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Integrar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154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Modelo único semi-automático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661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3685032"/>
            <a:ext cx="502920" cy="4572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68503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Automatizar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Apagar Drives/Excel paralelos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34340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4462272"/>
            <a:ext cx="502920" cy="4572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446227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Eficientar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47091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Optimizar integraciones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512064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55080" y="5239512"/>
            <a:ext cx="502920" cy="4572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52395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521207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Agentes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5486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IA replica los flujos del Cerebro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52" name="Picture 51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Caso paradigmático: RAW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Lo que logramos con Ventas (F1→F3 ya cerrado) lo replicamos en cada área.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9144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37360"/>
            <a:ext cx="49377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49377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914400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00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228600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24688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Construido por tercero, sin documentar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8600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4688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41 columnas mapeadas, fuente por fuente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63240"/>
            <a:ext cx="914400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06324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Info de Odoo + Excel + Drive + MP, manual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06324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Modelo unificado en Turso, semi-auto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914400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9319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24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7320" y="384048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54480" y="40233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Cada área hacía SU versión del RAW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84048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0233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RAW único en vivo · 17 vistas · 5 usuarios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17720"/>
            <a:ext cx="914400" cy="7315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70915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0017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17320" y="461772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54480" y="4800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61772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Pendiente: comisiones / logística / mkt por canal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394960"/>
            <a:ext cx="914400" cy="7315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486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7790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7320" y="539496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54480" y="5577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5394960"/>
            <a:ext cx="49377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5577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Pendiente: agente auto-cura Matriz + Maestra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35508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E40AF"/>
                </a:solidFill>
                <a:latin typeface="Calibri"/>
              </a:rPr>
              <a:t>Mensaje a Gerencias: el patrón está validado. La pregunta no es "¿se puede?", sino "¿cuándo lo replicamos en cada área?".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9" name="Picture 48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Mirada Empresa — Avance por área en las 5 fases del Cerebro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9 áreas mapeadas. Cada celda muestra el % de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Calibri"/>
              </a:rPr>
              <a:t>Área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691640"/>
            <a:ext cx="16002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737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F1 Auditar</a:t>
            </a:r>
          </a:p>
        </p:txBody>
      </p:sp>
      <p:sp>
        <p:nvSpPr>
          <p:cNvPr id="8" name="Rectangle 7"/>
          <p:cNvSpPr/>
          <p:nvPr/>
        </p:nvSpPr>
        <p:spPr>
          <a:xfrm>
            <a:off x="4800600" y="1691640"/>
            <a:ext cx="16002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737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F2 Integrar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691640"/>
            <a:ext cx="16002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F3 Automatizar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91640"/>
            <a:ext cx="16002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737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F4 Eficientar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1691640"/>
            <a:ext cx="16002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1737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F5 Agentes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3172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Ventas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2286000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2286000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286000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2286000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286000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61487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Finanzas + Ctrl Gest.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2715768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27157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2715768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7157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2715768"/>
            <a:ext cx="1600200" cy="384048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27157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70%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80" y="2715768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27157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2715768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27157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1912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Operaciones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3145536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0" y="31455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3145536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31455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145536"/>
            <a:ext cx="1600200" cy="384048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1455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80" y="3145536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83880" y="31455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20" y="3145536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75520" y="31455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362102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Planificación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3575304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00600" y="3575304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0060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57530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83880" y="357530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8388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357530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7552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050791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Contabilidad (LCV)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4005072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40050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00600" y="4005072"/>
            <a:ext cx="1600200" cy="384048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00600" y="40050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92240" y="4005072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92240" y="40050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83880" y="4005072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83880" y="40050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75520" y="4005072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875520" y="40050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448055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SAC / Log. Inv.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108960" y="4434840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0" y="44348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00600" y="4434840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0600" y="44348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92240" y="4434840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92240" y="44348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183880" y="4434840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83880" y="44348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75520" y="4434840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75520" y="44348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491032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Facturación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4864608"/>
            <a:ext cx="160020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08960" y="48646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 100%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00600" y="4864608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800600" y="48646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92240" y="4864608"/>
            <a:ext cx="1600200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92240" y="48646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83880" y="4864608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83880" y="48646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75520" y="4864608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875520" y="48646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7200" y="534009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EEFF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108960" y="5294376"/>
            <a:ext cx="1600200" cy="384048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108960" y="52943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294376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2943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92240" y="5294376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92240" y="52943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80" y="5294376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80" y="52943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875520" y="5294376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875520" y="52943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" y="57698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Productos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108960" y="572414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108960" y="5724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800600" y="572414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5724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92240" y="572414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92240" y="5724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183880" y="572414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183880" y="5724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875520" y="5724144"/>
            <a:ext cx="1600200" cy="3840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75520" y="5724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Verde: completo (100%)   ·   Amarillo: avanzado (50-99%)   ·   Naranja: en progreso (1-49%)   ·   Rojo: no iniciado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118" name="Picture 117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Ventas — Caso paradigmático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El recorrido completo F1→F3 ya está logrado. Ahora F4 (margen real) y F5 (agente curador).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41 columnas mapeadas, fuente por fuente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Modelo unificado en Turso · sync 3×/día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App Ventas única · 17 vistas · 5 usuarios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A580C"/>
                </a:solidFill>
                <a:latin typeface="Calibri"/>
              </a:rP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Cargar comisiones / logística / mkt por canal. Contenido: Subgcia. Comercial. Arquitectura: Andrés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Agente auto-cura Matriz Productos y Maestra Canales · alerta SKUs nuevos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JUNIO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Cargar comisiones · logística · marketing por canal → margen final REAL. Subgcia. Comercial toma contenido; arquitectura sigue con Andrés.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Finanzas + Control de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App ya integrada. Skills de contribución y P&amp;L se centralizan en junio.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EERR clasificado · 88 reglas · mapeo cuentas analíticas. Control Gestión: scope definido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App Finanzas: P&amp;L 7 líneas · EBIT consolidado · FCST Ene-Dic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ACC15"/>
                </a:solidFill>
                <a:latin typeface="Calibri"/>
              </a:rPr>
              <a:t>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Sigue dependiendo del P&amp;L sheet + cálculos P&amp;L y contribución por Drive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Incorporar archivos MD de contribución y P&amp;L al cerebro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Todo centralizado · EEFF desde Odoo en vivo · agente construye reportes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JUNIO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Skills de Contribución y P&amp;L quedan en el cerebro. Pendiente: EEFF integrado.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Operaciones — COMEX · Stock · Fulfillment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Fulfillment 100% auto excepto costos operativos. COMEX tránsito ok · falta pre-embarque y producción.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Flujos COMEX (PI→PL→OHNSO) · stock LIVE · capacidad WMS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Apps integradas · Stock LIVE desde Odoo · Fulfillment 100% auto (todo Odoo)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A580C"/>
                </a:solidFill>
                <a:latin typeface="Calibri"/>
              </a:rPr>
              <a:t>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Falta automatizar costos operativos · COMEX pre-embarque y producción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Eficiencia: Slotting · rotación inventario · prever costos variables · punto equilibrio vs planificación venta · oportunidades anticipadas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A580C"/>
                </a:solidFill>
                <a:latin typeface="Calibri"/>
              </a:rPr>
              <a:t>30%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COMEX activo polling 2 min. Próximo: COMEX v2 sin validación intermedia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JUNIO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Automatización COMEX pre-embarque + producción → conecta con Triada de Planificación.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Contabilidad — Libro de Compra y Venta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Agente LCV-Compras en producción. Cobranza pausado por incidente — fix prioridad #1.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Mapeo SII × Odoo × Drive completo (compra y venta)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ACC15"/>
                </a:solidFill>
                <a:latin typeface="Calibri"/>
              </a:rPr>
              <a:t>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LCV-Compras: 3 fuentes cruzadas diario. Próximo: LCV-Venta + Cobranza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A580C"/>
                </a:solidFill>
                <a:latin typeface="Calibr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LCV-Compras: cuadre 3-vías + email 7 AM. Próximo: fix incidente Cobranza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Validación cruzada con auditoría externa automatizada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A580C"/>
                </a:solidFill>
                <a:latin typeface="Calibri"/>
              </a:rPr>
              <a:t>40%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Agente LCV-Compras en prod. Cobranza pausado. Próximo: fix + 2 ciclos validados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31 JUL · OCT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Salidas de Analista Contable #1 (31/07) y Analista Contable #2 (Oct) habilitadas por LCV + Cobranza estables.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SAC / Logística Inversa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Solo F1 al 30%. Acelerar F1→F3 antes del 31-jul para liberar Analista Log. Inversa.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EA580C"/>
                </a:solidFill>
                <a:latin typeface="Calibri"/>
              </a:rPr>
              <a:t>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URGENTE: completar auditoría flujos NC + devoluciones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Modelo unificado NC en Turso · integración con WMS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Informe semanal 100% auto · email sin intervención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F1-F3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F1-F3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31 JULIO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Salida de Analista Logística Inversa. El informe semanal queda 100% automatizado.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Facturación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POC etiqueta + deadline activo. Cerrar F2-F3 antes de 15-ago y 15-sep.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Flujos por canal mapeados · criterios facturación documentados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Centralizar criterio facturación por canal en tabla única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POC etiqueta + deadline activo. Próximo: producción + 2 ciclos validados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F2-F3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F2-F3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15 AGO · 15 SEP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Salida de Facturadora #1 (15/08) y Facturadora #2 (15/09). POC etiqueta+deadline las reemplaza.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EEFF — Estados Financieros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EEFF en vivo desde Odoo con reglas contables, integrados a la planilla de planificación financiera.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ACC15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Próximo: completar mapeo cuentas faltantes · reglas contables documentadas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Conectar Odoo → modelo EEFF en vivo aplicando reglas contables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EEFF en vivo en planilla planif. financiera · idealmente automatizada en la 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F2-F3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F2-F3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30 SEPTIEMBRE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Salida de Control de Gestión (Gabriela). EEFF en vivo en planilla planif. financiera.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Planificación — Triada (stock + llegadas + demanda)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App ya en producción F2. En junio el equipo de Planificación toma 100% el control del contenido.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Flujos planificación auditados · Triada definida: stock + llegadas + demanda → cobertura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24028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App Planificación en producción · Triada Proyectada (baseline + live)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Automatizar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Equipo Planificación toma control del contenido · feed COMEX pre-embarque y producción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Eficientar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Pendiente F3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691640"/>
            <a:ext cx="22402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2468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DC2626"/>
                </a:solidFill>
                <a:latin typeface="Calibr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9718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próximo paso: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291840"/>
            <a:ext cx="1965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Agente sugiere ajustes a planificación según señales de demanda real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760720"/>
            <a:ext cx="1645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🎯 HITO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5760720"/>
            <a:ext cx="36576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607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JUNIO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6035040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Equipo Planificación toma 100% el control del contenido. La Triada se alimenta de COMEX pre-embarque + producción.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7" name="Picture 4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Eficiencias directas identificadas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Ahorros calculados con cifras del P&amp;L. Eficiencia en GAV operacional para 2027.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5577840" cy="182880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AHORRO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$32,85 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junio-diciembre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577840" cy="18288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EFICIENCIA GAV OPERACIONAL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945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$99,7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1089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run-rate anualizado · solo costos directos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75569"/>
                </a:solidFill>
                <a:latin typeface="Calibri"/>
              </a:rPr>
              <a:t>DESGLOSE POR CATEGORÍA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9436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4206240"/>
            <a:ext cx="18288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251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4206240"/>
            <a:ext cx="18288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51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Run-rate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95560" y="4206240"/>
            <a:ext cx="15087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425196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% del total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9160"/>
            <a:ext cx="5943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Personal (6 cargos + cargas)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709160"/>
            <a:ext cx="18288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7091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$28,4 MM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4709160"/>
            <a:ext cx="18288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7091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$91,0 MM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0" y="4709160"/>
            <a:ext cx="15087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5560" y="4709160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91%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66360"/>
            <a:ext cx="5943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1663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Reducción usuarios Odoo (35 → 15)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5166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51663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90E2"/>
                </a:solidFill>
                <a:latin typeface="Calibri"/>
              </a:rPr>
              <a:t>$2,7 MM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5166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51663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$5,47 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95560" y="5166360"/>
            <a:ext cx="1508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5166360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60"/>
            <a:ext cx="5943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6235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Eliminación Multivende (desde jun)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5623560"/>
            <a:ext cx="18288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56235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90E2"/>
                </a:solidFill>
                <a:latin typeface="Calibri"/>
              </a:rPr>
              <a:t>$1,15 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040" y="5623560"/>
            <a:ext cx="18288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56235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$1,98 MM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95560" y="5623560"/>
            <a:ext cx="15087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5623560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080760"/>
            <a:ext cx="5943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080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Fulfillment Falabella +10%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46520" y="60807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60807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90E2"/>
                </a:solidFill>
                <a:latin typeface="Calibri"/>
              </a:rPr>
              <a:t>$0,6 MM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1040" y="60807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60807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$1,28 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95560" y="6080760"/>
            <a:ext cx="1508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5560" y="6080760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1%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56" name="Picture 55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Reducción de plantilla por automatización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6 cargos liberados entre julio y octubre 2026. Transición planificada con IA en producción.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5661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Cargo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691640"/>
            <a:ext cx="12801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737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691640"/>
            <a:ext cx="13258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737360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Bruto/mes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1691640"/>
            <a:ext cx="10515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59" y="173736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Meses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15087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7373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Ahorro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1691640"/>
            <a:ext cx="20116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Anualizado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35661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1945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Analista Logística Inversa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194560"/>
            <a:ext cx="12801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21945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31/07/2026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2194560"/>
            <a:ext cx="1325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219456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$1.004.852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2194560"/>
            <a:ext cx="10515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59" y="21945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5 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94560"/>
            <a:ext cx="15087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219456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40AF"/>
                </a:solidFill>
                <a:latin typeface="Calibri"/>
              </a:rPr>
              <a:t>$5,02 MM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2194560"/>
            <a:ext cx="20116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1945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Calibri"/>
              </a:rPr>
              <a:t>$12,06 MM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651760"/>
            <a:ext cx="3566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6517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Analista Contable #1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2651760"/>
            <a:ext cx="1280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0" y="26517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31/07/2026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2651760"/>
            <a:ext cx="1325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77840" y="265176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$1.015.754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2651760"/>
            <a:ext cx="1051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6517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5 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651760"/>
            <a:ext cx="1508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265176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40AF"/>
                </a:solidFill>
                <a:latin typeface="Calibri"/>
              </a:rPr>
              <a:t>$5,08 MM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26517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26517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Calibri"/>
              </a:rPr>
              <a:t>$12,19 MM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108960"/>
            <a:ext cx="35661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31089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Facturadora #1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3108960"/>
            <a:ext cx="12801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40" y="31089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15/08/2026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108960"/>
            <a:ext cx="1325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77840" y="310896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$895.815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03720" y="3108960"/>
            <a:ext cx="10515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95159" y="31089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4,5 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108960"/>
            <a:ext cx="15087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310896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40AF"/>
                </a:solidFill>
                <a:latin typeface="Calibri"/>
              </a:rPr>
              <a:t>$4,03 MM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3108960"/>
            <a:ext cx="20116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38360" y="31089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Calibri"/>
              </a:rPr>
              <a:t>$10,75 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566160"/>
            <a:ext cx="3566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5661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Facturadora #2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0" y="3566160"/>
            <a:ext cx="1280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15/09/2026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3566160"/>
            <a:ext cx="1325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77840" y="356616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$822.212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03720" y="3566160"/>
            <a:ext cx="1051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95159" y="35661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3,5 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3566160"/>
            <a:ext cx="1508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356616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40AF"/>
                </a:solidFill>
                <a:latin typeface="Calibri"/>
              </a:rPr>
              <a:t>$2,88 MM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35661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38360" y="35661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Calibri"/>
              </a:rPr>
              <a:t>$9,87 MM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023360"/>
            <a:ext cx="35661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40233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Control de Gestión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0" y="4023360"/>
            <a:ext cx="12801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06240" y="40233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30/09/2026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0" y="4023360"/>
            <a:ext cx="1325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77840" y="402336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$2.258.096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03720" y="4023360"/>
            <a:ext cx="10515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5159" y="40233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3 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46720" y="4023360"/>
            <a:ext cx="150876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38160" y="402336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40AF"/>
                </a:solidFill>
                <a:latin typeface="Calibri"/>
              </a:rPr>
              <a:t>$6,77 MM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4023360"/>
            <a:ext cx="20116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38360" y="40233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Calibri"/>
              </a:rPr>
              <a:t>$27,10 MM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480560"/>
            <a:ext cx="3566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44805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Analista Contable #2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0" y="4480560"/>
            <a:ext cx="1280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06240" y="44805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Oct 2026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86400" y="4480560"/>
            <a:ext cx="1325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77840" y="448056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$770.000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03720" y="4480560"/>
            <a:ext cx="1051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95159" y="44805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0F172A"/>
                </a:solidFill>
                <a:latin typeface="Calibri"/>
              </a:rPr>
              <a:t>2 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46720" y="4480560"/>
            <a:ext cx="1508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38160" y="448056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40AF"/>
                </a:solidFill>
                <a:latin typeface="Calibri"/>
              </a:rPr>
              <a:t>$1,54 MM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44805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38360" y="44805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Calibri"/>
              </a:rPr>
              <a:t>$9,24 MM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4937760"/>
            <a:ext cx="690372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493776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TOTAL (con cargas patronales 12%)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60920" y="4937760"/>
            <a:ext cx="22402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60920" y="493776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~$28,4 MM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646920" y="4937760"/>
            <a:ext cx="205740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646920" y="493776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~$91,0 MM/año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54864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LÍNEA DE TIEMPO DE SALIDAS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14400" y="6263640"/>
            <a:ext cx="10515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188720" y="6080760"/>
            <a:ext cx="365760" cy="365760"/>
          </a:xfrm>
          <a:prstGeom prst="ellipse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6080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99" name="Oval 98"/>
          <p:cNvSpPr/>
          <p:nvPr/>
        </p:nvSpPr>
        <p:spPr>
          <a:xfrm>
            <a:off x="3794759" y="6080760"/>
            <a:ext cx="365760" cy="365760"/>
          </a:xfrm>
          <a:prstGeom prst="ellipse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520439" y="6080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AGO</a:t>
            </a:r>
          </a:p>
        </p:txBody>
      </p:sp>
      <p:sp>
        <p:nvSpPr>
          <p:cNvPr id="101" name="Oval 100"/>
          <p:cNvSpPr/>
          <p:nvPr/>
        </p:nvSpPr>
        <p:spPr>
          <a:xfrm>
            <a:off x="6400800" y="6080760"/>
            <a:ext cx="365760" cy="365760"/>
          </a:xfrm>
          <a:prstGeom prst="ellipse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26480" y="6080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03" name="Oval 102"/>
          <p:cNvSpPr/>
          <p:nvPr/>
        </p:nvSpPr>
        <p:spPr>
          <a:xfrm>
            <a:off x="9006840" y="6080760"/>
            <a:ext cx="365760" cy="365760"/>
          </a:xfrm>
          <a:prstGeom prst="ellipse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732520" y="6080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5760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Calibri"/>
              </a:rPr>
              <a:t>31 Jul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4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Anal.LI + AC#1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20440" y="5760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15 Ago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2044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Facturadora 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2648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15 Sep · 30 Sep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26480" y="64922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Facturadora 2 + Ctrl Gestión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732520" y="5760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Oct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Anal. Contable #2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115" name="Picture 114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Paso a paso para la reducción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Cada salida requiere IA en producción y validada 2 meses antes. Transición planificada.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22402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737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Cargo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88920" y="1691640"/>
            <a:ext cx="22402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62072" y="1737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IA que reemplaza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91640"/>
            <a:ext cx="1234439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93792" y="1737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Estado 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691640"/>
            <a:ext cx="41148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73736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Prerrequisito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60" y="1691640"/>
            <a:ext cx="1005839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25912" y="173736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Fecha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224028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9456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Calibri"/>
              </a:rPr>
              <a:t>Analista Log. Inv.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194560"/>
            <a:ext cx="224028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219456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Agente SAC / Log. Inversa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194560"/>
            <a:ext cx="1234439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2079" y="2395728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79" y="2194560"/>
            <a:ext cx="914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Calibri"/>
              </a:rPr>
              <a:t>F1 30%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194560"/>
            <a:ext cx="41148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94560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Auditar flujos NC · automatizar informe semanal · 2 ciclos validados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52760" y="2194560"/>
            <a:ext cx="1005839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44200" y="2194560"/>
            <a:ext cx="8229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31/07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34639"/>
            <a:ext cx="2240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34639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Calibri"/>
              </a:rPr>
              <a:t>Analista Contable #1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88920" y="2834639"/>
            <a:ext cx="2240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360" y="2834639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Agente LCV-Compras (activo)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834639"/>
            <a:ext cx="1234439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12079" y="303580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79" y="2834639"/>
            <a:ext cx="914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F5 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834639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Onboarding Camila/Víctor · agente estable 2 meses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834639"/>
            <a:ext cx="1005839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44200" y="2834639"/>
            <a:ext cx="8229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31/07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474720"/>
            <a:ext cx="224028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47472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Calibri"/>
              </a:rPr>
              <a:t>Analista Contable #2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88920" y="3474720"/>
            <a:ext cx="224028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347472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Agente Cobranza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474720"/>
            <a:ext cx="1234439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212079" y="3675887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40679" y="3474720"/>
            <a:ext cx="914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Calibri"/>
              </a:rPr>
              <a:t>F3 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3474720"/>
            <a:ext cx="41148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59" y="3474720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Fix root cause incidente · 2 ciclos validados · Camila absorbe carga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52760" y="3474720"/>
            <a:ext cx="1005839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44200" y="3474720"/>
            <a:ext cx="8229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Oct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114800"/>
            <a:ext cx="2240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11480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Calibri"/>
              </a:rPr>
              <a:t>Facturadora #1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88920" y="4114800"/>
            <a:ext cx="2240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360" y="411480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POC etiqueta + deadline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4114800"/>
            <a:ext cx="1234439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12079" y="4315968"/>
            <a:ext cx="164592" cy="164592"/>
          </a:xfrm>
          <a:prstGeom prst="ellipse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79" y="4114800"/>
            <a:ext cx="914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ACC15"/>
                </a:solidFill>
                <a:latin typeface="Calibri"/>
              </a:rPr>
              <a:t>F3 10%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46520" y="4114800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59" y="4114800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POC a producción · 2 ciclos sin error · validación Yohana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652760" y="4114800"/>
            <a:ext cx="1005839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44200" y="4114800"/>
            <a:ext cx="8229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15/08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4754879"/>
            <a:ext cx="224028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4754879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Calibri"/>
              </a:rPr>
              <a:t>Facturadora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88920" y="4754879"/>
            <a:ext cx="224028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80360" y="4754879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POC + flujo #1 validado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20640" y="4754879"/>
            <a:ext cx="1234439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212079" y="4956047"/>
            <a:ext cx="164592" cy="164592"/>
          </a:xfrm>
          <a:prstGeom prst="ellipse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40679" y="4754879"/>
            <a:ext cx="914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ACC15"/>
                </a:solidFill>
                <a:latin typeface="Calibri"/>
              </a:rPr>
              <a:t>Sigue #1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46520" y="4754879"/>
            <a:ext cx="41148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37959" y="4754879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Flujo #1 estable post-15-ago · Yohana redistribuye carga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52760" y="4754879"/>
            <a:ext cx="1005839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44200" y="4754879"/>
            <a:ext cx="8229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15/09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394960"/>
            <a:ext cx="2240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39496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Calibri"/>
              </a:rPr>
              <a:t>Control de Gestión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88920" y="5394960"/>
            <a:ext cx="2240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80360" y="5394960"/>
            <a:ext cx="2057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Cerebro + EEFF en vivo + Chat ejec.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20640" y="5394960"/>
            <a:ext cx="1234439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212079" y="5596128"/>
            <a:ext cx="164592" cy="164592"/>
          </a:xfrm>
          <a:prstGeom prst="ellipse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394960"/>
            <a:ext cx="914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ACC15"/>
                </a:solidFill>
                <a:latin typeface="Calibri"/>
              </a:rPr>
              <a:t>F4 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46520" y="5394960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59" y="5394960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EEFF en vivo desde Odoo · planilla planif. financiera automatizada · chat ejec. POC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52760" y="5394960"/>
            <a:ext cx="1005839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44200" y="5394960"/>
            <a:ext cx="8229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30/09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57200" y="6080760"/>
            <a:ext cx="11247120" cy="41148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💡 Cada salida requiere IA en producción 2 meses antes con validación humana cruzada · Transición planificada.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85" name="Picture 84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Otras eficiencias directas habilitadas por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3 palancas adicionales que la centralización del Cerebro destraba.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370332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3703320" cy="6858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Reducción usuarios Odoo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E40AF"/>
                </a:solidFill>
                <a:latin typeface="Calibri"/>
              </a:rPr>
              <a:t>35 →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Calibri"/>
              </a:rPr>
              <a:t>$5,47 MM/año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39"/>
            <a:ext cx="3246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Apps centralizadas (Ventas + Finanzas + Ops + Planificación) reemplazan acceso directo de 20 personas.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074920"/>
            <a:ext cx="3246120" cy="4572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1663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75569"/>
                </a:solidFill>
                <a:latin typeface="Calibri"/>
              </a:rPr>
              <a:t>PRERREQUISITO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440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Audit usos 90d · capacitación · apps cubren flujos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91640"/>
            <a:ext cx="370332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91640"/>
            <a:ext cx="3703320" cy="6858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7830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Eliminación Multivende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06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4A90E2"/>
                </a:solidFill>
                <a:latin typeface="Calibri"/>
              </a:rPr>
              <a:t>DESDE JUNIO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1546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Calibri"/>
              </a:rPr>
              <a:t>$1,98 MM/año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749039"/>
            <a:ext cx="3246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Integraciones directas Odoo ↔ marketplaces vía Agente COMEX reemplazan Multivende.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46120" cy="4572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51663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75569"/>
                </a:solidFill>
                <a:latin typeface="Calibri"/>
              </a:rPr>
              <a:t>PRERREQUISITO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5440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Definir integración alternativa · 1 ciclo validado · rollback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691640"/>
            <a:ext cx="370332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1691640"/>
            <a:ext cx="3703320" cy="685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7830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Fulfillment Falabella +10%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606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Calibri"/>
              </a:rPr>
              <a:t>+10%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1546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Calibri"/>
              </a:rPr>
              <a:t>$1,28 MM/año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49039"/>
            <a:ext cx="3246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Tarifa fulfillment Fala ($2.490/ped) &lt; costo bodega allocated ($2.887/ped) · +$397/ped a favor.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5074920"/>
            <a:ext cx="3246120" cy="4572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51663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75569"/>
                </a:solidFill>
                <a:latin typeface="Calibri"/>
              </a:rPr>
              <a:t>PRERREQUISITO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440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Costo variable real · plan migración SKUs · decisión Comité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34" name="Picture 33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Ahorros POTENCIALES — escenario conservador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Más allá de los costos directos: lo que la IA habilita en eficiencia operativa y comercial.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11247120" cy="146304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POTENCIAL ADICIONAL · RUN-RATE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"/>
              </a:rPr>
              <a:t>+$58 MM/año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ESCENARIO CONSERVADOR — depende de implementación correcta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37033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337560"/>
            <a:ext cx="370332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83280"/>
            <a:ext cx="3429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📊 FORECASTING
Reducir quiebres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5196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Calibri"/>
              </a:rPr>
              <a:t>$28 MM/año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006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Tasa quiebres actual estimada: ~5% demanda perdida (multi-canal)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Mejor forecasting → reducir a 3% (-2 pp)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Recupero 2% × $5.000 MM venta = $100 MM en ventas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Margen 56% = $56 MM · Conservador 50% = $28 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337560"/>
            <a:ext cx="37033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3337560"/>
            <a:ext cx="370332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383280"/>
            <a:ext cx="3429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📦 INVENTARIO
-0,5 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25196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Calibri"/>
              </a:rPr>
              <a:t>$15 MM/año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8006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Inventario promedio estimado: ~$250 MM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Reducir 0,5 mes = $125 MM capital trabajo liberado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Costo financiero (12% anual) = $15 MM/año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+ Costo operativo evitado ~$3 MM/año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3337560"/>
            <a:ext cx="37033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337560"/>
            <a:ext cx="370332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383280"/>
            <a:ext cx="3429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🎯 MARGEN FINAL
Mix óptimo canales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5196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Calibri"/>
              </a:rPr>
              <a:t>$15 MM/año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8006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Hoy margen_final = margen_front (sin comisión/log/mkt)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Con margen real → cortar canales tóxicos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Mejora margen +1 pp sobre $5.000 MM = $50 MM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Conservador 30% = $15 MM/año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26" name="Picture 25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Qué necesitamos para lograr las otras eficiencias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Prerrequisitos técnicos + organizacionales con owner y deadline.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21945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Eficiencia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91640"/>
            <a:ext cx="310896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7373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Prerrequisito técnico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691640"/>
            <a:ext cx="315468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7373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Prerrequisito organizacional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20" y="1691640"/>
            <a:ext cx="1463039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7373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44200" y="1691640"/>
            <a:ext cx="96012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40" y="17373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Deadline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219456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240279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Calibri"/>
              </a:rPr>
              <a:t>Eliminación Multivende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194560"/>
            <a:ext cx="310896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2240279"/>
            <a:ext cx="29260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Integración directa Odoo ↔ MP via Agente COMEX · 1 ciclo validado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194560"/>
            <a:ext cx="315468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2240279"/>
            <a:ext cx="297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Validación Felipe · plan rollback si falla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194560"/>
            <a:ext cx="1463039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240279"/>
            <a:ext cx="12801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Andrés + Felipe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44200" y="2194560"/>
            <a:ext cx="96012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35640" y="2240279"/>
            <a:ext cx="77724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0F172A"/>
                </a:solidFill>
                <a:latin typeface="Calibri"/>
              </a:rPr>
              <a:t>JUN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74720"/>
            <a:ext cx="21945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20439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Calibri"/>
              </a:rPr>
              <a:t>Fulfillment +10% Fala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474720"/>
            <a:ext cx="3108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3520439"/>
            <a:ext cx="29260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Costo variable evitable real · plan migración SKUs · stock fulfillment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3474720"/>
            <a:ext cx="31546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0" y="3520439"/>
            <a:ext cx="297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Decisión Comité Comercial · política inventario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9720" y="3474720"/>
            <a:ext cx="1463039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81160" y="3520439"/>
            <a:ext cx="12801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Andrés + Comité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3474720"/>
            <a:ext cx="9601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5640" y="3520439"/>
            <a:ext cx="77724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0F172A"/>
                </a:solidFill>
                <a:latin typeface="Calibri"/>
              </a:rPr>
              <a:t>Q4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54879"/>
            <a:ext cx="219456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800599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Calibri"/>
              </a:rPr>
              <a:t>Odoo 35 → 15 usuarios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4754879"/>
            <a:ext cx="310896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4640" y="4800599"/>
            <a:ext cx="29260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Apps cubren flujos de 20 usuarios · capacitación 2 sesiones · audit 90d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4754879"/>
            <a:ext cx="315468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800599"/>
            <a:ext cx="297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Comunicación al equipo · acuerdos por área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9720" y="4754879"/>
            <a:ext cx="1463039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1160" y="4800599"/>
            <a:ext cx="12801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Andrés + 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44200" y="4754879"/>
            <a:ext cx="960120" cy="12344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35640" y="4800599"/>
            <a:ext cx="77724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0F172A"/>
                </a:solidFill>
                <a:latin typeface="Calibri"/>
              </a:rPr>
              <a:t>Q3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80760"/>
            <a:ext cx="11247120" cy="41148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⚠️ Esta tabla es el insumo principal de la Carta Gantt del siguiente bloque.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9" name="Picture 48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Carta Gantt — Vista macro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3 capas: Cerebro (por área) · Salidas personal · Otras eficiencias.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0" y="1691640"/>
            <a:ext cx="1078992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1691640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488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Calibri"/>
              </a:rPr>
              <a:t>Hitos personal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715000" y="2148840"/>
            <a:ext cx="274320" cy="32004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6263640" y="2148840"/>
            <a:ext cx="274320" cy="32004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7360919" y="2148840"/>
            <a:ext cx="274320" cy="32004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7909559" y="2148840"/>
            <a:ext cx="274320" cy="32004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8458200" y="2148840"/>
            <a:ext cx="274320" cy="32004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060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  <a:latin typeface="Calibri"/>
              </a:rPr>
              <a:t>Cerebro por área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8803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SAC F1→F3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2916936"/>
            <a:ext cx="1600199" cy="182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5467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Contabilidad LCV F2→F3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3191256"/>
            <a:ext cx="1600199" cy="182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4290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Facturación F2→F3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465576"/>
            <a:ext cx="1600199" cy="1828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703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EEFF F1→F3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3739896"/>
            <a:ext cx="2148840" cy="1828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Finanzas F3→F4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0" y="4014215"/>
            <a:ext cx="3246120" cy="18288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Ventas F4 Mg Real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4288536"/>
            <a:ext cx="2148840" cy="18288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52627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Operaciones COMEX v2 + pre-embarque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4562855"/>
            <a:ext cx="4343400" cy="18288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800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Planificación F3 (control equipo)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837176"/>
            <a:ext cx="1051560" cy="18288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74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</a:rPr>
              <a:t>Cerebro Voz (POC+prod)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79" y="5111496"/>
            <a:ext cx="3246120" cy="1828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457200" y="5486400"/>
            <a:ext cx="1097280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57200" y="55321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Otras eficiencias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852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Multivende eliminado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0" y="5879592"/>
            <a:ext cx="1051560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126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Odoo 35→15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6153912"/>
            <a:ext cx="2148840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400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Fulfillment Fala +10%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98079" y="6428232"/>
            <a:ext cx="3246120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54" name="Picture 53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Hitos críticos — Entregables previos a cada salida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Para cada fecha, los entregables IA tienen que estar en producción y validados antes.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31 JUL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Anal. Log. Inv. + Anal. Cont. #1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22402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1965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Agente SAC F1 completo (15-jun)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Agente SAC F2-F3 informe auto (30-jun)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2 ciclos validados sin error (15-jul)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Agente LCV-Compras 60d prod (15-jul)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Onboarding Camila/Víctor (20-jul)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15 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Facturadora #1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331720"/>
            <a:ext cx="22402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468880"/>
            <a:ext cx="1965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POC etiqueta+deadline en prod (30-jun)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2 ciclos completos sin error (julio)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Tabla criterio facturación canal (15-jul)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Validación final flujo (10-ago)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691640"/>
            <a:ext cx="224028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15 SEP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Facturadora #2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331720"/>
            <a:ext cx="22402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468880"/>
            <a:ext cx="1965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Flujo #1 estable post-15-ago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Redistribución carga residual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Validación 30 días con flujo #1 sola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691640"/>
            <a:ext cx="2240280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30 SEP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Control de Gestión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2331720"/>
            <a:ext cx="22402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468880"/>
            <a:ext cx="1965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EEFF F1 completo (31-jul)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Skill reporte integrada al pipeline (15-ago)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EEFF en vivo + planilla planif. financiera (15-sep)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Skills contribución y P&amp;L en cerebro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Chat ejecutivo POC operativo (22-sep)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691640"/>
            <a:ext cx="2240280" cy="6400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17373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01168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Anal. Contable #2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0" y="2331720"/>
            <a:ext cx="22402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60" y="2468880"/>
            <a:ext cx="1965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Fix root cause Agente Cobranza (15-jun urgente)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Cobranza reactivada + 60 d sin error (15-sep)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• Camila absorbe carga residual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32" name="Picture 31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Vista calendario — Qué se entrega cada 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Cinco meses críticos jun→oct 2026.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2240280" cy="50292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JUNIO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22402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1965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SAC F1-F3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Cobranza fix root cause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Comisión canal Ventas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Skills Contribución+P&amp;L cerebro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Planificación → equipo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COMEX pre-embarque + producción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Multivende eliminado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40680"/>
            <a:ext cx="2240280" cy="9601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22402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Calibri"/>
              </a:rPr>
              <a:t>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691640"/>
            <a:ext cx="224028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69164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JULIO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194560"/>
            <a:ext cx="22402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331720"/>
            <a:ext cx="1965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SAC F3 validación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POC facturación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LCV-Compras 60d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Onboarding Camila/Víctor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5440680"/>
            <a:ext cx="2240280" cy="9601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54864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▼ 31 Jul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85216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Anal.LI + AC #1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1691640"/>
            <a:ext cx="2240280" cy="5029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AGOSTO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194560"/>
            <a:ext cx="22402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331720"/>
            <a:ext cx="1965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Fact #1 en prod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Odoo audit usos 90d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Costo variable bodega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5440680"/>
            <a:ext cx="2240280" cy="9601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54864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▼ 15 Ago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Fact. #1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1691640"/>
            <a:ext cx="2240280" cy="5029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169164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SEPTIEMBRE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2194560"/>
            <a:ext cx="22402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331720"/>
            <a:ext cx="1965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Fact #2 validación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EEFF en vivo + planilla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Skills P&amp;L 2 ciclos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Chat ejecutivo POC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5440680"/>
            <a:ext cx="2240280" cy="9601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54864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▼ 15+30 Sep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585216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Fact #2 + Ctrl Gest.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1691640"/>
            <a:ext cx="2240280" cy="5029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OCTUBRE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194560"/>
            <a:ext cx="22402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2331720"/>
            <a:ext cx="1965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Cobranza reactivada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Cerebro Voz POC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• Fulfillment plan migración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5440680"/>
            <a:ext cx="2240280" cy="9601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0" y="54864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▼ Oct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585216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Anal. Cont. #2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41" name="Picture 40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KPIs — Cuadro de mando dic-2026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4 dimensiones · Benchmark sector: ROI digital típico 2-3x año 1 · 4-6x año 2 exitoso.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743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74320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Headcount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Calibri"/>
              </a:rPr>
              <a:t>47 →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632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(-6 personas)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37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Costo personal/año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Calibri"/>
              </a:rPr>
              <a:t>-$91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run-rate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976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Costo SaaS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72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Calibri"/>
              </a:rPr>
              <a:t>-$8,7 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9834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Odoo+Multivende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257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Inversión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532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Calibri"/>
              </a:rPr>
              <a:t>USD $2.250/m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94360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Claude + Cerebro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691640"/>
            <a:ext cx="2743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1691640"/>
            <a:ext cx="2743200" cy="50292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1691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EFICIENCIA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Reportes manuales/sem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6517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90E2"/>
                </a:solidFill>
                <a:latin typeface="Calibri"/>
              </a:rPr>
              <a:t>5 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0632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Andrés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3337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Tiempo consolidación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36118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90E2"/>
                </a:solidFill>
                <a:latin typeface="Calibri"/>
              </a:rPr>
              <a:t>↓ 80%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402336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≤ 2 hrs/sem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2976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Lead time COMEX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572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90E2"/>
                </a:solidFill>
                <a:latin typeface="Calibri"/>
              </a:rPr>
              <a:t>↓ 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49834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≤ 1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5257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Visibilidad EBIT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5532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90E2"/>
                </a:solidFill>
                <a:latin typeface="Calibri"/>
              </a:rPr>
              <a:t>30 d → 1 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1691640"/>
            <a:ext cx="2743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1691640"/>
            <a:ext cx="274320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1691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CALIDAD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Tasa error reportes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6517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75% → &lt; 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337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Cuadre SII×Odoo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6118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5-7 d → &lt; 1 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2976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Quiebres demanda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4572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5% → 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potencial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5257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Inventario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5532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-0,5 mes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594360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potencial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61120" y="1691640"/>
            <a:ext cx="2743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61120" y="1691640"/>
            <a:ext cx="2743200" cy="5029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0" y="1691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MADUREZ + ROI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Áreas F3+ (de 9)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517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3 →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337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Agentes en prod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8280" y="36118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2 → 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42976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ROI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4572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~3,0x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280" y="49834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directos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5257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ROI 2027 + potenciales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5532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~6,6x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98280" y="594360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$158 MM/año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62" name="Picture 61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Riesgos y mitigaciones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8 riesgos identificados. El #1 (fix Agente Cobranza) es bloqueante y prioridad máxima.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411480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691640"/>
            <a:ext cx="4069080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Riesgo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691640"/>
            <a:ext cx="457200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169164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691640"/>
            <a:ext cx="457200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69164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4526280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59" y="16916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Mitigación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0" y="1691640"/>
            <a:ext cx="1097280" cy="3657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52760" y="1691640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03120"/>
            <a:ext cx="41148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03120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103120"/>
            <a:ext cx="40690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10312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Agente Cobranza no se arregla en junio → caen 2 hitos (jul + oct)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103120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2103120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2103120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2103120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103120"/>
            <a:ext cx="4526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9" y="210312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Fix prioridad máxima S1-S2 (1-30 jun) · Plan B: Martín reactiva Task Scheduler local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07040" y="2103120"/>
            <a:ext cx="1097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52760" y="2103120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Andrés + Víctor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633472"/>
            <a:ext cx="411480" cy="5029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633472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2633472"/>
            <a:ext cx="4069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2633472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Adopción baja del equipo (siguen con Excel local)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2633472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2633472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32120" y="2633472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2633472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33472"/>
            <a:ext cx="4526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3347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Onboarding formal · cerrar acceso planillas paralelas · sponsor Gerencia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07040" y="2633472"/>
            <a:ext cx="1097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52760" y="2633472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Andrés + Gerencia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163824"/>
            <a:ext cx="411480" cy="5029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163824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3163824"/>
            <a:ext cx="40690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3163824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Comunicación interna mal manejada → conflicto laboral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0" y="3163824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0" y="3163824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32120" y="3163824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32120" y="3163824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3163824"/>
            <a:ext cx="4526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79" y="3163824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Plan comunicación RR.HH. 30 d antes · narrativa automatización · finiquitos OK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07040" y="3163824"/>
            <a:ext cx="1097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52760" y="3163824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Gerencia + RR.HH.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694175"/>
            <a:ext cx="411480" cy="5029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3694175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3694175"/>
            <a:ext cx="4069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" y="3694175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POC etiqueta+deadline no llega a prod a tiempo (15-ago)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0" y="3694175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0" y="3694175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32120" y="3694175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32120" y="3694175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694175"/>
            <a:ext cx="4526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26479" y="3694175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Sprint dedicado junio · Yohana valida semana a semana · plan B: postergar 30-ago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07040" y="3694175"/>
            <a:ext cx="1097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52760" y="3694175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Andrés + Yohana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224527"/>
            <a:ext cx="411480" cy="5029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4224527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4224527"/>
            <a:ext cx="40690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224527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Costo Claude API se descontrola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0" y="4224527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0" y="4224527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B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32120" y="4224527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532120" y="4224527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35040" y="4224527"/>
            <a:ext cx="4526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26479" y="4224527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Prompt caching · límites por skill · auditoría mensual · alerta a USD $3.000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607040" y="4224527"/>
            <a:ext cx="1097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652760" y="4224527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Andrés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754879"/>
            <a:ext cx="411480" cy="5029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4754879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14400" y="4754879"/>
            <a:ext cx="4069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5840" y="4754879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Incidente tipo Cobranza se repite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0" y="4754879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29200" y="4754879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4754879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532120" y="4754879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35040" y="4754879"/>
            <a:ext cx="4526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26479" y="4754879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Regla nueva: features que escriben en Drive/Odoo requieren OK humano pre-merge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607040" y="4754879"/>
            <a:ext cx="1097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652760" y="4754879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Andrés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5285231"/>
            <a:ext cx="411480" cy="5029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02920" y="5285231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14400" y="5285231"/>
            <a:ext cx="40690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5840" y="5285231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Andrés es single point of failure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0" y="5285231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0" y="5285231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532120" y="5285231"/>
            <a:ext cx="4572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532120" y="5285231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035040" y="5285231"/>
            <a:ext cx="4526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26479" y="5285231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Docs vivos (docs/*_ESTADO_*.md) · onboarding técnico a 2do · Claude copiloto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607040" y="5285231"/>
            <a:ext cx="10972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652760" y="5285231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Andrés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7200" y="5815583"/>
            <a:ext cx="4114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2920" y="5815583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5815583"/>
            <a:ext cx="4069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5840" y="5815583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Dependencia Odoo (si cae, todo cae)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0" y="5815583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00" y="5815583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B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532120" y="5815583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532120" y="5815583"/>
            <a:ext cx="457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0" y="5815583"/>
            <a:ext cx="4526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26479" y="5815583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Calibri"/>
              </a:rPr>
              <a:t>Histórico parquet · apps funcionan con histórico aunque Odoo caiga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607040" y="5815583"/>
            <a:ext cx="10972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652760" y="5815583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" y="635508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P = Probabilidad · I = Impacto · A = Alto · M = Medio · B = Bajo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116" name="Picture 115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Cierre — Decisiones que necesitamos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5 decisiones que destraban la ejecución de los próximos 30 días.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4864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64792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Aprobación del plan global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Cerebro + 6 salidas + 3 eficiencias directas + potenciales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916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Calibri"/>
              </a:rPr>
              <a:t>Gerencia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691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Calibri"/>
              </a:rPr>
              <a:t>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54864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59152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Aprobación presupuesto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6032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Subir USD $1.500/m → ~$2.250/m (chat ejec. + 5 agentes nuevos)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Calibri"/>
              </a:rPr>
              <a:t>Finanzas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2860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Calibri"/>
              </a:rPr>
              <a:t>Esta semana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8036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0360"/>
            <a:ext cx="54864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88036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2953512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Validación calendario salidas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546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RR.HH. +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880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Calibri"/>
              </a:rPr>
              <a:t>Gerencia + RR.HH.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8803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Calibri"/>
              </a:rPr>
              <a:t>Esta semana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47472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474720"/>
            <a:ext cx="54864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47472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547872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Sponsor para adopción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74904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Cerrar Excel paralelos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4747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Calibri"/>
              </a:rPr>
              <a:t>Gerencia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Calibri"/>
              </a:rPr>
              <a:t>Inmediato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06908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069080"/>
            <a:ext cx="54864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06908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142232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Fix Agente Cobranza prioridad #1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34340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Destrabar recursos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0690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Calibri"/>
              </a:rPr>
              <a:t>Andrés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0690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Calibri"/>
              </a:rPr>
              <a:t>30-jun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PRÓXIMOS 30 DÍAS (JUNIO 2026)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4924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39496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S1 (1-7)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623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Kick-off + comunicación interna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1840" y="534924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29000" y="539496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S2 (8-14)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9000" y="5623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Fix Agente Cobranza + SAC F1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534924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539496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S3 (15-21)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3640" y="5623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POC etiqueta + comisiones canal + COMEX pre-embarque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61120" y="534924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539496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S4 (22-30)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5623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Validación + go/no-go salidas julio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3504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💡 El Cerebro UnionX ya existe a medias. Cerrar las piezas que faltan libera ~$33 MM este año, ~$100 MM run-rate directos + ~$58 MM potenciales.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57" name="Picture 56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40AF"/>
                </a:solidFill>
                <a:latin typeface="Calibri"/>
              </a:rPr>
              <a:t>Anexo técnico — Stack · Costo IA · ROI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Desglose de inversión + 3 escenarios de ROI (2026 · 2027 directos · 2027 con potenciales).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DESGLOSE COSTO IA MENSUAL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Claude API 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1031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$1.500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21031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2 agentes + 6 skills + desarrollo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+ Agente SAC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146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+$80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51460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Polling NC/devoluciones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26079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+ Agente Cobranza (post-fix)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92607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+$80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92607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Procesamiento diario 5 clientes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37560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375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+ Agente Facturación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3375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+$100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33756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POC etiqueta+deadline prod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49039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490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+ Agente EEFF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74903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+$100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74903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EEFF en vivo desde Odoo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160520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160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+ Chat ejecutivo 24/7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4160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+$400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41605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Pregúntale al Cerebro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572000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+ Alertas tiempo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5720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+$150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7200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10 alertas activas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983479"/>
            <a:ext cx="640080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9834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− Prompt caching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98347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Calibri"/>
              </a:rPr>
              <a:t>−$200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498347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Cachear contexto repetido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440680"/>
            <a:ext cx="6400800" cy="457200"/>
          </a:xfrm>
          <a:prstGeom prst="roundRect">
            <a:avLst>
              <a:gd name="adj" fmla="val 8000"/>
            </a:avLst>
          </a:prstGeom>
          <a:solidFill>
            <a:srgbClr val="4A90E2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4406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TOTAL RÉGIMEN COMPLETO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5440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~$2.250/m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544068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$27 MM CLP/año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+ DuckDB sobre parquet local: $0/mes (post 7-jun)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1691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Calibri"/>
              </a:rPr>
              <a:t>ROI EN 3 ESCENARIOS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0" y="2103120"/>
            <a:ext cx="4754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2103120"/>
            <a:ext cx="4754880" cy="3657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2026 · directos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25146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EA580C"/>
                </a:solidFill>
                <a:latin typeface="Calibri"/>
              </a:rPr>
              <a:t>~3,0x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5603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Ahorro: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$32,85 MM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3017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Costo IA: $11 MM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3474720"/>
            <a:ext cx="4754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132320" y="3474720"/>
            <a:ext cx="4754880" cy="365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69480" y="3474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2027 · directos run-rate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80" y="38862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~4,2x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0" y="39319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Ahorro: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4114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$99,7 MM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43891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Costo IA: $24 MM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4846320"/>
            <a:ext cx="4754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132320" y="4846320"/>
            <a:ext cx="475488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6948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2027 · + potenciales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9480" y="52578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059669"/>
                </a:solidFill>
                <a:latin typeface="Calibri"/>
              </a:rPr>
              <a:t>~6,6x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20" y="5303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Ahorro: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0" y="54864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$157,7 MM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5760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Costo IA: $24 MM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32320" y="6263640"/>
            <a:ext cx="4754880" cy="2743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69480" y="62636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E40AF"/>
                </a:solidFill>
                <a:latin typeface="Calibri"/>
              </a:rPr>
              <a:t>Benchmark sector: 2-3x año 1 · 4-6x año 2 exitoso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57200" y="6583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Plan IA · Operaciones y Finanzas · Mayo 2026</a:t>
            </a:r>
          </a:p>
        </p:txBody>
      </p:sp>
      <p:pic>
        <p:nvPicPr>
          <p:cNvPr id="69" name="Picture 68" descr="union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565392"/>
            <a:ext cx="464949" cy="2286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789920" y="6583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