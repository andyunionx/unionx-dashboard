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0" d="100"/>
          <a:sy n="60" d="100"/>
        </p:scale>
        <p:origin x="892" y="2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L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37631BE-FF97-4B1F-9CAB-668BCBDC7C20}" type="datetimeFigureOut">
              <a:rPr lang="es-CL" smtClean="0"/>
              <a:t>27-05-2026</a:t>
            </a:fld>
            <a:endParaRPr lang="es-CL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L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L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L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294FA47-2D03-4878-868B-88D01FD5045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2402608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L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94FA47-2D03-4878-868B-88D01FD50452}" type="slidenum">
              <a:rPr lang="es-CL" smtClean="0"/>
              <a:t>21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32747889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114800" cy="6858000"/>
          </a:xfrm>
          <a:prstGeom prst="rect">
            <a:avLst/>
          </a:prstGeom>
          <a:solidFill>
            <a:srgbClr val="4A90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unionx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743200"/>
            <a:ext cx="3017520" cy="148361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0" y="2286000"/>
            <a:ext cx="713232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5400" b="1">
                <a:solidFill>
                  <a:srgbClr val="FFFFFF"/>
                </a:solidFill>
                <a:latin typeface="Calibri"/>
              </a:rPr>
              <a:t>Plan IA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0" y="3108960"/>
            <a:ext cx="713232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200" b="0">
                <a:solidFill>
                  <a:srgbClr val="4A90E2"/>
                </a:solidFill>
                <a:latin typeface="Calibri"/>
              </a:rPr>
              <a:t>Operaciones y Finanzas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0" y="4023360"/>
            <a:ext cx="3200400" cy="0"/>
          </a:xfrm>
          <a:prstGeom prst="line">
            <a:avLst/>
          </a:prstGeom>
          <a:ln w="25400">
            <a:solidFill>
              <a:srgbClr val="4A90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4572000" y="4206240"/>
            <a:ext cx="71323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  <a:latin typeface="Calibri"/>
              </a:rPr>
              <a:t>Hoja de ruta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5486400"/>
            <a:ext cx="71323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Andrés Browne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5852160"/>
            <a:ext cx="71323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CBD5E1"/>
                </a:solidFill>
                <a:latin typeface="Calibri"/>
              </a:rPr>
              <a:t>Gerencia Finanzas + Supply Chain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217920"/>
            <a:ext cx="71323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CBD5E1"/>
                </a:solidFill>
                <a:latin typeface="Calibri"/>
              </a:rPr>
              <a:t>26 de mayo de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115568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>
                <a:solidFill>
                  <a:srgbClr val="1E40AF"/>
                </a:solidFill>
                <a:latin typeface="Calibri"/>
              </a:rPr>
              <a:t>Resumen ejecutivo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51560"/>
            <a:ext cx="111556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>
                <a:solidFill>
                  <a:srgbClr val="475569"/>
                </a:solidFill>
                <a:latin typeface="Calibri"/>
              </a:rPr>
              <a:t>El Cerebro IA ya está construido a medias. Cerrando 5 piezas liberamos eficiencias significativas.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691640"/>
            <a:ext cx="5486400" cy="320040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126480" y="1691640"/>
            <a:ext cx="5486400" cy="3200400"/>
          </a:xfrm>
          <a:prstGeom prst="rect">
            <a:avLst/>
          </a:prstGeom>
          <a:solidFill>
            <a:srgbClr val="4A90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1828800"/>
            <a:ext cx="51206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DC2626"/>
                </a:solidFill>
                <a:latin typeface="Calibri"/>
              </a:rPr>
              <a:t>HOY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09360" y="1828800"/>
            <a:ext cx="51206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DICIEMBRE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286000"/>
            <a:ext cx="5120640" cy="2468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>
                <a:solidFill>
                  <a:srgbClr val="0F172A"/>
                </a:solidFill>
                <a:latin typeface="Calibri"/>
              </a:rPr>
              <a:t>• Procesos manuales · 75% errores</a:t>
            </a:r>
          </a:p>
          <a:p>
            <a:pPr algn="l"/>
            <a:r>
              <a:rPr sz="1300" b="0">
                <a:solidFill>
                  <a:srgbClr val="0F172A"/>
                </a:solidFill>
                <a:latin typeface="Calibri"/>
              </a:rPr>
              <a:t>• Decisiones con dato de hace 30 días</a:t>
            </a:r>
          </a:p>
          <a:p>
            <a:pPr algn="l"/>
            <a:r>
              <a:rPr sz="1300" b="0">
                <a:solidFill>
                  <a:srgbClr val="0F172A"/>
                </a:solidFill>
                <a:latin typeface="Calibri"/>
              </a:rPr>
              <a:t>• Excel paralelos en cada PC</a:t>
            </a:r>
          </a:p>
          <a:p>
            <a:pPr algn="l"/>
            <a:r>
              <a:rPr sz="1300" b="0">
                <a:solidFill>
                  <a:srgbClr val="0F172A"/>
                </a:solidFill>
                <a:latin typeface="Calibri"/>
              </a:rPr>
              <a:t>• Equipo captura datos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09360" y="2286000"/>
            <a:ext cx="5120640" cy="2468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• Procesos automatizados · &lt; 5% errores</a:t>
            </a:r>
          </a:p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• 3 reportes auto-generados lunes 9:00</a:t>
            </a:r>
          </a:p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• Decisiones con dato fresco (&lt; 1 día)</a:t>
            </a:r>
          </a:p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• 1 cerebro centralizado consultable</a:t>
            </a:r>
          </a:p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• Equipo valida y analiza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212080"/>
            <a:ext cx="111556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475569"/>
                </a:solidFill>
                <a:latin typeface="Calibri"/>
              </a:rPr>
              <a:t>LOS 2 OBJETIVOS DEL PLAN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5577840"/>
            <a:ext cx="5440680" cy="868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4A90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77240" y="5669280"/>
            <a:ext cx="5029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1E40AF"/>
                </a:solidFill>
                <a:latin typeface="Calibri"/>
              </a:rPr>
              <a:t>1 · CENTRALIZACIÓN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5989320"/>
            <a:ext cx="50292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0F172A"/>
                </a:solidFill>
                <a:latin typeface="Calibri"/>
              </a:rPr>
              <a:t>Cerebro Union X — una sola fuente de verdad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5577840"/>
            <a:ext cx="5440680" cy="868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00800" y="5669280"/>
            <a:ext cx="5029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10B981"/>
                </a:solidFill>
                <a:latin typeface="Calibri"/>
              </a:rPr>
              <a:t>2 · REDUCCIÓN DE COSTOS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5989320"/>
            <a:ext cx="50292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0F172A"/>
                </a:solidFill>
                <a:latin typeface="Calibri"/>
              </a:rPr>
              <a:t>~$33 MM en 2026 · ~$100 MM/año run-rate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457200" y="6537960"/>
            <a:ext cx="11277295" cy="0"/>
          </a:xfrm>
          <a:prstGeom prst="line">
            <a:avLst/>
          </a:prstGeom>
          <a:ln w="9525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457200" y="658368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>
                <a:solidFill>
                  <a:srgbClr val="475569"/>
                </a:solidFill>
                <a:latin typeface="Calibri"/>
              </a:rPr>
              <a:t>Plan IA · Operaciones y Finanzas · Mayo 2026</a:t>
            </a:r>
          </a:p>
        </p:txBody>
      </p:sp>
      <p:pic>
        <p:nvPicPr>
          <p:cNvPr id="20" name="Picture 19" descr="unionx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6565392"/>
            <a:ext cx="464949" cy="22860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10789920" y="658368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>
                <a:solidFill>
                  <a:srgbClr val="475569"/>
                </a:solidFill>
                <a:latin typeface="Calibri"/>
              </a:rPr>
              <a:t>2 / 27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115568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>
                <a:solidFill>
                  <a:srgbClr val="1E40AF"/>
                </a:solidFill>
                <a:latin typeface="Calibri"/>
              </a:rPr>
              <a:t>Foto 360 — Lo que ya está vivo HOY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51560"/>
            <a:ext cx="111556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>
                <a:solidFill>
                  <a:srgbClr val="475569"/>
                </a:solidFill>
                <a:latin typeface="Calibri"/>
              </a:rPr>
              <a:t>4 apps web · 3 agentes IA · 6 skills · integraciones múltiples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645920"/>
            <a:ext cx="2697480" cy="26060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457200" y="1645920"/>
            <a:ext cx="2697480" cy="457200"/>
          </a:xfrm>
          <a:prstGeom prst="rect">
            <a:avLst/>
          </a:prstGeom>
          <a:solidFill>
            <a:srgbClr val="4A90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94360" y="1719072"/>
            <a:ext cx="24231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4 APPS WEB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240280"/>
            <a:ext cx="2423160" cy="2011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>
                <a:solidFill>
                  <a:srgbClr val="0F172A"/>
                </a:solidFill>
                <a:latin typeface="Calibri"/>
              </a:rPr>
              <a:t>• App Ventas (17 vistas, 5 usuarios)</a:t>
            </a:r>
          </a:p>
          <a:p>
            <a:pPr algn="l"/>
            <a:r>
              <a:rPr sz="1050" b="0">
                <a:solidFill>
                  <a:srgbClr val="0F172A"/>
                </a:solidFill>
                <a:latin typeface="Calibri"/>
              </a:rPr>
              <a:t>• App Finanzas (P&amp;L, EBIT, FCST)</a:t>
            </a:r>
          </a:p>
          <a:p>
            <a:pPr algn="l"/>
            <a:r>
              <a:rPr sz="1050" b="0">
                <a:solidFill>
                  <a:srgbClr val="0F172A"/>
                </a:solidFill>
                <a:latin typeface="Calibri"/>
              </a:rPr>
              <a:t>• App Operaciones (COMEX, Stock, Bonos)</a:t>
            </a:r>
          </a:p>
          <a:p>
            <a:pPr algn="l"/>
            <a:r>
              <a:rPr sz="1050" b="0">
                <a:solidFill>
                  <a:srgbClr val="0F172A"/>
                </a:solidFill>
                <a:latin typeface="Calibri"/>
              </a:rPr>
              <a:t>• App Planificación (Triada)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91840" y="1645920"/>
            <a:ext cx="2697480" cy="26060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3291840" y="1645920"/>
            <a:ext cx="269748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429000" y="1719072"/>
            <a:ext cx="24231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3 AGENTES IA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29000" y="2240280"/>
            <a:ext cx="2423160" cy="2011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>
                <a:solidFill>
                  <a:srgbClr val="0F172A"/>
                </a:solidFill>
                <a:latin typeface="Calibri"/>
              </a:rPr>
              <a:t>• Agente COMEX Gmail ✓</a:t>
            </a:r>
          </a:p>
          <a:p>
            <a:pPr algn="l"/>
            <a:r>
              <a:rPr sz="1050" b="0">
                <a:solidFill>
                  <a:srgbClr val="0F172A"/>
                </a:solidFill>
                <a:latin typeface="Calibri"/>
              </a:rPr>
              <a:t>• Agente LCV-Compras ✓</a:t>
            </a:r>
          </a:p>
          <a:p>
            <a:pPr algn="l"/>
            <a:r>
              <a:rPr sz="1050" b="0">
                <a:solidFill>
                  <a:srgbClr val="0F172A"/>
                </a:solidFill>
                <a:latin typeface="Calibri"/>
              </a:rPr>
              <a:t>• Agente Cobranza ⏸ pausado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26480" y="1645920"/>
            <a:ext cx="2697480" cy="26060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126480" y="1645920"/>
            <a:ext cx="2697480" cy="457200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263640" y="1719072"/>
            <a:ext cx="24231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6 SKILLS CLAUDE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63640" y="2240280"/>
            <a:ext cx="2423160" cy="2011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>
                <a:solidFill>
                  <a:srgbClr val="0F172A"/>
                </a:solidFill>
                <a:latin typeface="Calibri"/>
              </a:rPr>
              <a:t>• comex-workflow · shipping-plan</a:t>
            </a:r>
          </a:p>
          <a:p>
            <a:pPr algn="l"/>
            <a:r>
              <a:rPr sz="1050" b="0">
                <a:solidFill>
                  <a:srgbClr val="0F172A"/>
                </a:solidFill>
                <a:latin typeface="Calibri"/>
              </a:rPr>
              <a:t>• distribución comisiones · reporte gerencial</a:t>
            </a:r>
          </a:p>
          <a:p>
            <a:pPr algn="l"/>
            <a:r>
              <a:rPr sz="1050" b="0">
                <a:solidFill>
                  <a:srgbClr val="0F172A"/>
                </a:solidFill>
                <a:latin typeface="Calibri"/>
              </a:rPr>
              <a:t>• segmentación pedido · EERR clasificador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961120" y="1645920"/>
            <a:ext cx="2697480" cy="26060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8961120" y="1645920"/>
            <a:ext cx="2697480" cy="457200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098280" y="1719072"/>
            <a:ext cx="24231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INTEGRACIONES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98280" y="2240280"/>
            <a:ext cx="2423160" cy="2011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>
                <a:solidFill>
                  <a:srgbClr val="0F172A"/>
                </a:solidFill>
                <a:latin typeface="Calibri"/>
              </a:rPr>
              <a:t>• Odoo (XML-RPC)</a:t>
            </a:r>
          </a:p>
          <a:p>
            <a:pPr algn="l"/>
            <a:r>
              <a:rPr sz="1050" b="0">
                <a:solidFill>
                  <a:srgbClr val="0F172A"/>
                </a:solidFill>
                <a:latin typeface="Calibri"/>
              </a:rPr>
              <a:t>• Gmail · Drive · Sheets API</a:t>
            </a:r>
          </a:p>
          <a:p>
            <a:pPr algn="l"/>
            <a:r>
              <a:rPr sz="1050" b="0">
                <a:solidFill>
                  <a:srgbClr val="0F172A"/>
                </a:solidFill>
                <a:latin typeface="Calibri"/>
              </a:rPr>
              <a:t>• SII (Playwright) · DuckDB (post 7-jun)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4434840"/>
            <a:ext cx="11430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1E40AF"/>
                </a:solidFill>
                <a:latin typeface="Calibri"/>
              </a:rPr>
              <a:t>Estado por pieza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4846320"/>
            <a:ext cx="2743200" cy="594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594360" y="5047488"/>
            <a:ext cx="164592" cy="16459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68680" y="4892040"/>
            <a:ext cx="2286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0F172A"/>
                </a:solidFill>
                <a:latin typeface="Calibri"/>
              </a:rPr>
              <a:t>App Ventas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8680" y="5138928"/>
            <a:ext cx="2286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>
                <a:solidFill>
                  <a:srgbClr val="475569"/>
                </a:solidFill>
                <a:latin typeface="Calibri"/>
              </a:rPr>
              <a:t>Producción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246120" y="4846320"/>
            <a:ext cx="2743200" cy="594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3383279" y="5047488"/>
            <a:ext cx="164592" cy="16459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3657600" y="4892040"/>
            <a:ext cx="2286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0F172A"/>
                </a:solidFill>
                <a:latin typeface="Calibri"/>
              </a:rPr>
              <a:t>App Finanzas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657600" y="5138928"/>
            <a:ext cx="2286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>
                <a:solidFill>
                  <a:srgbClr val="475569"/>
                </a:solidFill>
                <a:latin typeface="Calibri"/>
              </a:rPr>
              <a:t>Producción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035040" y="4846320"/>
            <a:ext cx="2743200" cy="594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Oval 30"/>
          <p:cNvSpPr/>
          <p:nvPr/>
        </p:nvSpPr>
        <p:spPr>
          <a:xfrm>
            <a:off x="6172200" y="5047488"/>
            <a:ext cx="164592" cy="16459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446520" y="4892040"/>
            <a:ext cx="2286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0F172A"/>
                </a:solidFill>
                <a:latin typeface="Calibri"/>
              </a:rPr>
              <a:t>App Operaciones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46520" y="5138928"/>
            <a:ext cx="2286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>
                <a:solidFill>
                  <a:srgbClr val="475569"/>
                </a:solidFill>
                <a:latin typeface="Calibri"/>
              </a:rPr>
              <a:t>Producción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823959" y="4846320"/>
            <a:ext cx="2743200" cy="594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Oval 34"/>
          <p:cNvSpPr/>
          <p:nvPr/>
        </p:nvSpPr>
        <p:spPr>
          <a:xfrm>
            <a:off x="8961119" y="5047488"/>
            <a:ext cx="164592" cy="16459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9235439" y="4892040"/>
            <a:ext cx="2286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0F172A"/>
                </a:solidFill>
                <a:latin typeface="Calibri"/>
              </a:rPr>
              <a:t>App Planificación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235439" y="5138928"/>
            <a:ext cx="2286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>
                <a:solidFill>
                  <a:srgbClr val="475569"/>
                </a:solidFill>
                <a:latin typeface="Calibri"/>
              </a:rPr>
              <a:t>Producción (F2 OK)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57200" y="5532120"/>
            <a:ext cx="2743200" cy="594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Oval 38"/>
          <p:cNvSpPr/>
          <p:nvPr/>
        </p:nvSpPr>
        <p:spPr>
          <a:xfrm>
            <a:off x="594360" y="5733288"/>
            <a:ext cx="164592" cy="16459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868680" y="5577840"/>
            <a:ext cx="2286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0F172A"/>
                </a:solidFill>
                <a:latin typeface="Calibri"/>
              </a:rPr>
              <a:t>Agente COMEX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68680" y="5824728"/>
            <a:ext cx="2286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>
                <a:solidFill>
                  <a:srgbClr val="475569"/>
                </a:solidFill>
                <a:latin typeface="Calibri"/>
              </a:rPr>
              <a:t>Activo polling 2 min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3246120" y="5532120"/>
            <a:ext cx="2743200" cy="594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Oval 42"/>
          <p:cNvSpPr/>
          <p:nvPr/>
        </p:nvSpPr>
        <p:spPr>
          <a:xfrm>
            <a:off x="3383279" y="5733288"/>
            <a:ext cx="164592" cy="16459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3657600" y="5577840"/>
            <a:ext cx="2286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0F172A"/>
                </a:solidFill>
                <a:latin typeface="Calibri"/>
              </a:rPr>
              <a:t>Agente LCV-Compras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657600" y="5824728"/>
            <a:ext cx="2286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>
                <a:solidFill>
                  <a:srgbClr val="475569"/>
                </a:solidFill>
                <a:latin typeface="Calibri"/>
              </a:rPr>
              <a:t>Daily email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035040" y="5532120"/>
            <a:ext cx="2743200" cy="594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Oval 46"/>
          <p:cNvSpPr/>
          <p:nvPr/>
        </p:nvSpPr>
        <p:spPr>
          <a:xfrm>
            <a:off x="6172200" y="5733288"/>
            <a:ext cx="164592" cy="164592"/>
          </a:xfrm>
          <a:prstGeom prst="ellipse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6446520" y="5577840"/>
            <a:ext cx="2286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0F172A"/>
                </a:solidFill>
                <a:latin typeface="Calibri"/>
              </a:rPr>
              <a:t>Agente Cobranza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446520" y="5824728"/>
            <a:ext cx="2286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>
                <a:solidFill>
                  <a:srgbClr val="475569"/>
                </a:solidFill>
                <a:latin typeface="Calibri"/>
              </a:rPr>
              <a:t>Pausado · incidente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8823959" y="5532120"/>
            <a:ext cx="2743200" cy="594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Oval 50"/>
          <p:cNvSpPr/>
          <p:nvPr/>
        </p:nvSpPr>
        <p:spPr>
          <a:xfrm>
            <a:off x="8961119" y="5733288"/>
            <a:ext cx="164592" cy="16459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9235439" y="5577840"/>
            <a:ext cx="2286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0F172A"/>
                </a:solidFill>
                <a:latin typeface="Calibri"/>
              </a:rPr>
              <a:t>Skills Claude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235439" y="5824728"/>
            <a:ext cx="2286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>
                <a:solidFill>
                  <a:srgbClr val="475569"/>
                </a:solidFill>
                <a:latin typeface="Calibri"/>
              </a:rPr>
              <a:t>On-demand</a:t>
            </a:r>
          </a:p>
        </p:txBody>
      </p:sp>
      <p:cxnSp>
        <p:nvCxnSpPr>
          <p:cNvPr id="54" name="Connector 53"/>
          <p:cNvCxnSpPr/>
          <p:nvPr/>
        </p:nvCxnSpPr>
        <p:spPr>
          <a:xfrm>
            <a:off x="457200" y="6537960"/>
            <a:ext cx="11277295" cy="0"/>
          </a:xfrm>
          <a:prstGeom prst="line">
            <a:avLst/>
          </a:prstGeom>
          <a:ln w="9525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TextBox 54"/>
          <p:cNvSpPr txBox="1"/>
          <p:nvPr/>
        </p:nvSpPr>
        <p:spPr>
          <a:xfrm>
            <a:off x="457200" y="658368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>
                <a:solidFill>
                  <a:srgbClr val="475569"/>
                </a:solidFill>
                <a:latin typeface="Calibri"/>
              </a:rPr>
              <a:t>Plan IA · Operaciones y Finanzas · Mayo 2026</a:t>
            </a:r>
          </a:p>
        </p:txBody>
      </p:sp>
      <p:pic>
        <p:nvPicPr>
          <p:cNvPr id="56" name="Picture 55" descr="unionx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6565392"/>
            <a:ext cx="464949" cy="228600"/>
          </a:xfrm>
          <a:prstGeom prst="rect">
            <a:avLst/>
          </a:prstGeom>
        </p:spPr>
      </p:pic>
      <p:sp>
        <p:nvSpPr>
          <p:cNvPr id="57" name="TextBox 56"/>
          <p:cNvSpPr txBox="1"/>
          <p:nvPr/>
        </p:nvSpPr>
        <p:spPr>
          <a:xfrm>
            <a:off x="10789920" y="658368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>
                <a:solidFill>
                  <a:srgbClr val="475569"/>
                </a:solidFill>
                <a:latin typeface="Calibri"/>
              </a:rPr>
              <a:t>3 / 27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115568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>
                <a:solidFill>
                  <a:srgbClr val="1E40AF"/>
                </a:solidFill>
                <a:latin typeface="Calibri"/>
              </a:rPr>
              <a:t>El Cerebro Union 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51560"/>
            <a:ext cx="111556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>
                <a:solidFill>
                  <a:srgbClr val="475569"/>
                </a:solidFill>
                <a:latin typeface="Calibri"/>
              </a:rPr>
              <a:t>Centralizar para tener data en vivo, capturar eficiencias y dejar el valor agregado dentro de la empresa.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45920"/>
            <a:ext cx="5486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>
                <a:solidFill>
                  <a:srgbClr val="DC2626"/>
                </a:solidFill>
                <a:latin typeface="Calibri"/>
              </a:rPr>
              <a:t>EL PROBLEMA HOY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011680"/>
            <a:ext cx="5486400" cy="393192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85800" y="2194560"/>
            <a:ext cx="457200" cy="45720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85800" y="219456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80160" y="2194560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>
                <a:solidFill>
                  <a:srgbClr val="0F172A"/>
                </a:solidFill>
                <a:latin typeface="Calibri"/>
              </a:rPr>
              <a:t>Odoo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2468879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475569"/>
                </a:solidFill>
                <a:latin typeface="Calibri"/>
              </a:rPr>
              <a:t>ERP potente, pero solo 1 de las fuentes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5800" y="3108960"/>
            <a:ext cx="457200" cy="45720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85800" y="310896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0160" y="3108960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>
                <a:solidFill>
                  <a:srgbClr val="0F172A"/>
                </a:solidFill>
                <a:latin typeface="Calibri"/>
              </a:rPr>
              <a:t>Drives por persona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3383279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475569"/>
                </a:solidFill>
                <a:latin typeface="Calibri"/>
              </a:rPr>
              <a:t>Formatos propios · archivos locales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85800" y="4023360"/>
            <a:ext cx="457200" cy="45720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85800" y="402336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80160" y="4023360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>
                <a:solidFill>
                  <a:srgbClr val="0F172A"/>
                </a:solidFill>
                <a:latin typeface="Calibri"/>
              </a:rPr>
              <a:t>Integraciones a medias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80160" y="4297680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475569"/>
                </a:solidFill>
                <a:latin typeface="Calibri"/>
              </a:rPr>
              <a:t>Cada área toma lo que necesita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85800" y="4937760"/>
            <a:ext cx="457200" cy="45720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85800" y="493776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80160" y="4937760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>
                <a:solidFill>
                  <a:srgbClr val="0F172A"/>
                </a:solidFill>
                <a:latin typeface="Calibri"/>
              </a:rPr>
              <a:t>Marketplaces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80160" y="5212080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475569"/>
                </a:solidFill>
                <a:latin typeface="Calibri"/>
              </a:rPr>
              <a:t>ML, Falabella, Paris, Ripley… separados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" y="5669280"/>
            <a:ext cx="5029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DC2626"/>
                </a:solidFill>
                <a:latin typeface="Calibri"/>
              </a:rPr>
              <a:t>→ Cada área arma su versión · valor a medias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17920" y="1645920"/>
            <a:ext cx="5486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>
                <a:solidFill>
                  <a:srgbClr val="10B981"/>
                </a:solidFill>
                <a:latin typeface="Calibri"/>
              </a:rPr>
              <a:t>LA RESPUESTA — 5 FASES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17920" y="2011680"/>
            <a:ext cx="5440680" cy="7132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4A90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6355080" y="2130552"/>
            <a:ext cx="502920" cy="457200"/>
          </a:xfrm>
          <a:prstGeom prst="rect">
            <a:avLst/>
          </a:prstGeom>
          <a:solidFill>
            <a:srgbClr val="4A90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355080" y="2130552"/>
            <a:ext cx="50292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F1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040880" y="2103120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>
                <a:solidFill>
                  <a:srgbClr val="1E40AF"/>
                </a:solidFill>
                <a:latin typeface="Calibri"/>
              </a:rPr>
              <a:t>Auditar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40880" y="2377440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475569"/>
                </a:solidFill>
                <a:latin typeface="Calibri"/>
              </a:rPr>
              <a:t>Mapear cómo trabaja cada área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217920" y="2788920"/>
            <a:ext cx="5440680" cy="7132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4A90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6355080" y="2907792"/>
            <a:ext cx="502920" cy="457200"/>
          </a:xfrm>
          <a:prstGeom prst="rect">
            <a:avLst/>
          </a:prstGeom>
          <a:solidFill>
            <a:srgbClr val="4A90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355080" y="2907792"/>
            <a:ext cx="50292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F2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040880" y="2880360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>
                <a:solidFill>
                  <a:srgbClr val="1E40AF"/>
                </a:solidFill>
                <a:latin typeface="Calibri"/>
              </a:rPr>
              <a:t>Integrar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040880" y="3154680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475569"/>
                </a:solidFill>
                <a:latin typeface="Calibri"/>
              </a:rPr>
              <a:t>Modelo único semi-automático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217920" y="3566160"/>
            <a:ext cx="5440680" cy="7132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4A90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6355080" y="3685032"/>
            <a:ext cx="502920" cy="457200"/>
          </a:xfrm>
          <a:prstGeom prst="rect">
            <a:avLst/>
          </a:prstGeom>
          <a:solidFill>
            <a:srgbClr val="4A90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355080" y="3685032"/>
            <a:ext cx="50292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F3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040880" y="3657600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>
                <a:solidFill>
                  <a:srgbClr val="1E40AF"/>
                </a:solidFill>
                <a:latin typeface="Calibri"/>
              </a:rPr>
              <a:t>Automatizar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040880" y="3931920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475569"/>
                </a:solidFill>
                <a:latin typeface="Calibri"/>
              </a:rPr>
              <a:t>Apagar Drives/Excel paralelos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217920" y="4343400"/>
            <a:ext cx="5440680" cy="7132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4A90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6355080" y="4462272"/>
            <a:ext cx="502920" cy="457200"/>
          </a:xfrm>
          <a:prstGeom prst="rect">
            <a:avLst/>
          </a:prstGeom>
          <a:solidFill>
            <a:srgbClr val="4A90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6355080" y="4462272"/>
            <a:ext cx="50292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F4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040880" y="4434840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>
                <a:solidFill>
                  <a:srgbClr val="1E40AF"/>
                </a:solidFill>
                <a:latin typeface="Calibri"/>
              </a:rPr>
              <a:t>Eficientar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040880" y="4709160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475569"/>
                </a:solidFill>
                <a:latin typeface="Calibri"/>
              </a:rPr>
              <a:t>Optimizar integraciones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217920" y="5120640"/>
            <a:ext cx="5440680" cy="7132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4A90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ectangle 45"/>
          <p:cNvSpPr/>
          <p:nvPr/>
        </p:nvSpPr>
        <p:spPr>
          <a:xfrm>
            <a:off x="6355080" y="5239512"/>
            <a:ext cx="502920" cy="457200"/>
          </a:xfrm>
          <a:prstGeom prst="rect">
            <a:avLst/>
          </a:prstGeom>
          <a:solidFill>
            <a:srgbClr val="4A90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6355080" y="5239512"/>
            <a:ext cx="50292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F5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040880" y="5212079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>
                <a:solidFill>
                  <a:srgbClr val="1E40AF"/>
                </a:solidFill>
                <a:latin typeface="Calibri"/>
              </a:rPr>
              <a:t>Agentes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040880" y="5486400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475569"/>
                </a:solidFill>
                <a:latin typeface="Calibri"/>
              </a:rPr>
              <a:t>IA replica los flujos del Cerebro</a:t>
            </a:r>
          </a:p>
        </p:txBody>
      </p:sp>
      <p:cxnSp>
        <p:nvCxnSpPr>
          <p:cNvPr id="50" name="Connector 49"/>
          <p:cNvCxnSpPr/>
          <p:nvPr/>
        </p:nvCxnSpPr>
        <p:spPr>
          <a:xfrm>
            <a:off x="457200" y="6537960"/>
            <a:ext cx="11277295" cy="0"/>
          </a:xfrm>
          <a:prstGeom prst="line">
            <a:avLst/>
          </a:prstGeom>
          <a:ln w="9525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TextBox 50"/>
          <p:cNvSpPr txBox="1"/>
          <p:nvPr/>
        </p:nvSpPr>
        <p:spPr>
          <a:xfrm>
            <a:off x="457200" y="658368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>
                <a:solidFill>
                  <a:srgbClr val="475569"/>
                </a:solidFill>
                <a:latin typeface="Calibri"/>
              </a:rPr>
              <a:t>Plan IA · Operaciones y Finanzas · Mayo 2026</a:t>
            </a:r>
          </a:p>
        </p:txBody>
      </p:sp>
      <p:pic>
        <p:nvPicPr>
          <p:cNvPr id="52" name="Picture 51" descr="unionx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6565392"/>
            <a:ext cx="464949" cy="228600"/>
          </a:xfrm>
          <a:prstGeom prst="rect">
            <a:avLst/>
          </a:prstGeom>
        </p:spPr>
      </p:pic>
      <p:sp>
        <p:nvSpPr>
          <p:cNvPr id="53" name="TextBox 52"/>
          <p:cNvSpPr txBox="1"/>
          <p:nvPr/>
        </p:nvSpPr>
        <p:spPr>
          <a:xfrm>
            <a:off x="10789920" y="658368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>
                <a:solidFill>
                  <a:srgbClr val="475569"/>
                </a:solidFill>
                <a:latin typeface="Calibri"/>
              </a:rPr>
              <a:t>4 / 27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115568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>
                <a:solidFill>
                  <a:srgbClr val="1E40AF"/>
                </a:solidFill>
                <a:latin typeface="Calibri"/>
              </a:rPr>
              <a:t>Caso paradigmático: RAW de Ventas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51560"/>
            <a:ext cx="111556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>
                <a:solidFill>
                  <a:srgbClr val="475569"/>
                </a:solidFill>
                <a:latin typeface="Calibri"/>
              </a:rPr>
              <a:t>Lo que logramos con Ventas (F1→F3 ya cerrado) lo replicamos en cada área.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737360"/>
            <a:ext cx="914400" cy="457200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1783080"/>
            <a:ext cx="9144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Fase</a:t>
            </a:r>
          </a:p>
        </p:txBody>
      </p:sp>
      <p:sp>
        <p:nvSpPr>
          <p:cNvPr id="7" name="Rectangle 6"/>
          <p:cNvSpPr/>
          <p:nvPr/>
        </p:nvSpPr>
        <p:spPr>
          <a:xfrm>
            <a:off x="1417320" y="1737360"/>
            <a:ext cx="4937760" cy="457200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508760" y="1783080"/>
            <a:ext cx="484632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ANTES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0" y="1737360"/>
            <a:ext cx="4937760" cy="457200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92240" y="1783080"/>
            <a:ext cx="484632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HOY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286000"/>
            <a:ext cx="914400" cy="7315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7200" y="237744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F1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2670048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  <a:latin typeface="Calibri"/>
              </a:rPr>
              <a:t>Auditar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417320" y="2286000"/>
            <a:ext cx="4937760" cy="73152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554480" y="2468880"/>
            <a:ext cx="475488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0">
                <a:solidFill>
                  <a:srgbClr val="0F172A"/>
                </a:solidFill>
                <a:latin typeface="Calibri"/>
              </a:rPr>
              <a:t>Construido por tercero, sin documentar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0" y="2286000"/>
            <a:ext cx="4937760" cy="73152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537960" y="2468880"/>
            <a:ext cx="475488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0">
                <a:solidFill>
                  <a:srgbClr val="0F172A"/>
                </a:solidFill>
                <a:latin typeface="Calibri"/>
              </a:rPr>
              <a:t>41 columnas mapeadas, fuente por fuente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3063240"/>
            <a:ext cx="914400" cy="7315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57200" y="315468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F2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3447288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  <a:latin typeface="Calibri"/>
              </a:rPr>
              <a:t>Integrar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417320" y="3063240"/>
            <a:ext cx="4937760" cy="73152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554480" y="3246120"/>
            <a:ext cx="475488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0">
                <a:solidFill>
                  <a:srgbClr val="0F172A"/>
                </a:solidFill>
                <a:latin typeface="Calibri"/>
              </a:rPr>
              <a:t>Info de Odoo + Excel + Drive + MP, manual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00800" y="3063240"/>
            <a:ext cx="4937760" cy="73152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537960" y="3246120"/>
            <a:ext cx="475488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0">
                <a:solidFill>
                  <a:srgbClr val="0F172A"/>
                </a:solidFill>
                <a:latin typeface="Calibri"/>
              </a:rPr>
              <a:t>Modelo unificado en Turso, semi-auto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3840480"/>
            <a:ext cx="914400" cy="7315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57200" y="393192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F3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4224528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  <a:latin typeface="Calibri"/>
              </a:rPr>
              <a:t>Automatizar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417320" y="3840480"/>
            <a:ext cx="4937760" cy="73152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1554480" y="4023360"/>
            <a:ext cx="475488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0">
                <a:solidFill>
                  <a:srgbClr val="0F172A"/>
                </a:solidFill>
                <a:latin typeface="Calibri"/>
              </a:rPr>
              <a:t>Cada área hacía SU versión del RAW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400800" y="3840480"/>
            <a:ext cx="4937760" cy="73152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537960" y="4023360"/>
            <a:ext cx="475488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0">
                <a:solidFill>
                  <a:srgbClr val="0F172A"/>
                </a:solidFill>
                <a:latin typeface="Calibri"/>
              </a:rPr>
              <a:t>RAW único en vivo · 17 vistas · 5 usuarios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57200" y="4617720"/>
            <a:ext cx="914400" cy="731520"/>
          </a:xfrm>
          <a:prstGeom prst="rect">
            <a:avLst/>
          </a:prstGeom>
          <a:solidFill>
            <a:srgbClr val="FACC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457200" y="4709159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F4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7200" y="5001768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  <a:latin typeface="Calibri"/>
              </a:rPr>
              <a:t>Eficientar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417320" y="4617720"/>
            <a:ext cx="4937760" cy="73152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1554480" y="4800600"/>
            <a:ext cx="475488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0">
                <a:solidFill>
                  <a:srgbClr val="0F172A"/>
                </a:solidFill>
                <a:latin typeface="Calibri"/>
              </a:rPr>
              <a:t>—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400800" y="4617720"/>
            <a:ext cx="4937760" cy="73152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6537960" y="4800600"/>
            <a:ext cx="475488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0">
                <a:solidFill>
                  <a:srgbClr val="0F172A"/>
                </a:solidFill>
                <a:latin typeface="Calibri"/>
              </a:rPr>
              <a:t>Pendiente: comisiones / logística / mkt por canal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57200" y="5394960"/>
            <a:ext cx="914400" cy="73152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457200" y="548640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F5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7200" y="5779008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  <a:latin typeface="Calibri"/>
              </a:rPr>
              <a:t>Agentes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417320" y="5394960"/>
            <a:ext cx="4937760" cy="73152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1554480" y="5577840"/>
            <a:ext cx="475488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0">
                <a:solidFill>
                  <a:srgbClr val="0F172A"/>
                </a:solidFill>
                <a:latin typeface="Calibri"/>
              </a:rPr>
              <a:t>—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400800" y="5394960"/>
            <a:ext cx="4937760" cy="73152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6537960" y="5577840"/>
            <a:ext cx="475488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0">
                <a:solidFill>
                  <a:srgbClr val="0F172A"/>
                </a:solidFill>
                <a:latin typeface="Calibri"/>
              </a:rPr>
              <a:t>Pendiente: agente auto-cura Matriz + Maestra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57200" y="6355080"/>
            <a:ext cx="11430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>
                <a:solidFill>
                  <a:srgbClr val="1E40AF"/>
                </a:solidFill>
                <a:latin typeface="Calibri"/>
              </a:rPr>
              <a:t>Mensaje a Gerencias: el patrón está validado. La pregunta no es "¿se puede?", sino "¿cuándo lo replicamos en cada área?".</a:t>
            </a:r>
          </a:p>
        </p:txBody>
      </p:sp>
      <p:cxnSp>
        <p:nvCxnSpPr>
          <p:cNvPr id="47" name="Connector 46"/>
          <p:cNvCxnSpPr/>
          <p:nvPr/>
        </p:nvCxnSpPr>
        <p:spPr>
          <a:xfrm>
            <a:off x="457200" y="6537960"/>
            <a:ext cx="11277295" cy="0"/>
          </a:xfrm>
          <a:prstGeom prst="line">
            <a:avLst/>
          </a:prstGeom>
          <a:ln w="9525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TextBox 47"/>
          <p:cNvSpPr txBox="1"/>
          <p:nvPr/>
        </p:nvSpPr>
        <p:spPr>
          <a:xfrm>
            <a:off x="457200" y="658368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>
                <a:solidFill>
                  <a:srgbClr val="475569"/>
                </a:solidFill>
                <a:latin typeface="Calibri"/>
              </a:rPr>
              <a:t>Plan IA · Operaciones y Finanzas · Mayo 2026</a:t>
            </a:r>
          </a:p>
        </p:txBody>
      </p:sp>
      <p:pic>
        <p:nvPicPr>
          <p:cNvPr id="49" name="Picture 48" descr="unionx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6565392"/>
            <a:ext cx="464949" cy="228600"/>
          </a:xfrm>
          <a:prstGeom prst="rect">
            <a:avLst/>
          </a:prstGeom>
        </p:spPr>
      </p:pic>
      <p:sp>
        <p:nvSpPr>
          <p:cNvPr id="50" name="TextBox 49"/>
          <p:cNvSpPr txBox="1"/>
          <p:nvPr/>
        </p:nvSpPr>
        <p:spPr>
          <a:xfrm>
            <a:off x="10789920" y="658368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>
                <a:solidFill>
                  <a:srgbClr val="475569"/>
                </a:solidFill>
                <a:latin typeface="Calibri"/>
              </a:rPr>
              <a:t>5 / 27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115568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>
                <a:solidFill>
                  <a:srgbClr val="1E40AF"/>
                </a:solidFill>
                <a:latin typeface="Calibri"/>
              </a:rPr>
              <a:t>Mirada Empresa — Avance por área en las 5 fases del Cerebro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51560"/>
            <a:ext cx="111556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>
                <a:solidFill>
                  <a:srgbClr val="475569"/>
                </a:solidFill>
                <a:latin typeface="Calibri"/>
              </a:rPr>
              <a:t>9 áreas mapeadas. Cada celda muestra el % de avance.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91640"/>
            <a:ext cx="25603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1E40AF"/>
                </a:solidFill>
                <a:latin typeface="Calibri"/>
              </a:rPr>
              <a:t>Área</a:t>
            </a:r>
          </a:p>
        </p:txBody>
      </p:sp>
      <p:sp>
        <p:nvSpPr>
          <p:cNvPr id="6" name="Rectangle 5"/>
          <p:cNvSpPr/>
          <p:nvPr/>
        </p:nvSpPr>
        <p:spPr>
          <a:xfrm>
            <a:off x="3108960" y="1691640"/>
            <a:ext cx="1600200" cy="457200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108960" y="1737360"/>
            <a:ext cx="16002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F1 Auditar</a:t>
            </a:r>
          </a:p>
        </p:txBody>
      </p:sp>
      <p:sp>
        <p:nvSpPr>
          <p:cNvPr id="8" name="Rectangle 7"/>
          <p:cNvSpPr/>
          <p:nvPr/>
        </p:nvSpPr>
        <p:spPr>
          <a:xfrm>
            <a:off x="4800600" y="1691640"/>
            <a:ext cx="1600200" cy="457200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800600" y="1737360"/>
            <a:ext cx="16002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F2 Integrar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92240" y="1691640"/>
            <a:ext cx="1600200" cy="457200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92240" y="1737360"/>
            <a:ext cx="16002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F3 Automatizar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183880" y="1691640"/>
            <a:ext cx="1600200" cy="457200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183880" y="1737360"/>
            <a:ext cx="16002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F4 Eficientar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875520" y="1691640"/>
            <a:ext cx="1600200" cy="457200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875520" y="1737360"/>
            <a:ext cx="16002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F5 Agentes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2331720"/>
            <a:ext cx="256032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>
                <a:solidFill>
                  <a:srgbClr val="0F172A"/>
                </a:solidFill>
                <a:latin typeface="Calibri"/>
              </a:rPr>
              <a:t>Ventas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108960" y="2286000"/>
            <a:ext cx="1600200" cy="3840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108960" y="2286000"/>
            <a:ext cx="160020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✓ 100%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800600" y="2286000"/>
            <a:ext cx="1600200" cy="3840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800600" y="2286000"/>
            <a:ext cx="160020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✓ 100%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92240" y="2286000"/>
            <a:ext cx="1600200" cy="3840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492240" y="2286000"/>
            <a:ext cx="160020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✓ 100%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183880" y="2286000"/>
            <a:ext cx="1600200" cy="384048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183880" y="2286000"/>
            <a:ext cx="160020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30%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875520" y="2286000"/>
            <a:ext cx="1600200" cy="384048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9875520" y="2286000"/>
            <a:ext cx="160020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0%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2761487"/>
            <a:ext cx="256032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>
                <a:solidFill>
                  <a:srgbClr val="0F172A"/>
                </a:solidFill>
                <a:latin typeface="Calibri"/>
              </a:rPr>
              <a:t>Finanzas + Ctrl Gest.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108960" y="2715768"/>
            <a:ext cx="1600200" cy="3840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3108960" y="2715768"/>
            <a:ext cx="160020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✓ 100%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800600" y="2715768"/>
            <a:ext cx="1600200" cy="3840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4800600" y="2715768"/>
            <a:ext cx="160020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✓ 100%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492240" y="2715768"/>
            <a:ext cx="1600200" cy="384048"/>
          </a:xfrm>
          <a:prstGeom prst="rect">
            <a:avLst/>
          </a:prstGeom>
          <a:solidFill>
            <a:srgbClr val="FACC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492240" y="2715768"/>
            <a:ext cx="160020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70%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183880" y="2715768"/>
            <a:ext cx="1600200" cy="384048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8183880" y="2715768"/>
            <a:ext cx="160020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10%</a:t>
            </a:r>
          </a:p>
        </p:txBody>
      </p:sp>
      <p:sp>
        <p:nvSpPr>
          <p:cNvPr id="36" name="Rectangle 35"/>
          <p:cNvSpPr/>
          <p:nvPr/>
        </p:nvSpPr>
        <p:spPr>
          <a:xfrm>
            <a:off x="9875520" y="2715768"/>
            <a:ext cx="1600200" cy="384048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9875520" y="2715768"/>
            <a:ext cx="160020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0%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" y="3191256"/>
            <a:ext cx="256032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>
                <a:solidFill>
                  <a:srgbClr val="0F172A"/>
                </a:solidFill>
                <a:latin typeface="Calibri"/>
              </a:rPr>
              <a:t>Operaciones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108960" y="3145536"/>
            <a:ext cx="1600200" cy="3840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3108960" y="3145536"/>
            <a:ext cx="160020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✓ 100%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800600" y="3145536"/>
            <a:ext cx="1600200" cy="3840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4800600" y="3145536"/>
            <a:ext cx="160020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✓ 100%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492240" y="3145536"/>
            <a:ext cx="1600200" cy="384048"/>
          </a:xfrm>
          <a:prstGeom prst="rect">
            <a:avLst/>
          </a:prstGeom>
          <a:solidFill>
            <a:srgbClr val="FACC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6492240" y="3145536"/>
            <a:ext cx="160020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60%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183880" y="3145536"/>
            <a:ext cx="1600200" cy="384048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8183880" y="3145536"/>
            <a:ext cx="160020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0%</a:t>
            </a:r>
          </a:p>
        </p:txBody>
      </p:sp>
      <p:sp>
        <p:nvSpPr>
          <p:cNvPr id="47" name="Rectangle 46"/>
          <p:cNvSpPr/>
          <p:nvPr/>
        </p:nvSpPr>
        <p:spPr>
          <a:xfrm>
            <a:off x="9875520" y="3145536"/>
            <a:ext cx="1600200" cy="384048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9875520" y="3145536"/>
            <a:ext cx="160020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30%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57200" y="3621024"/>
            <a:ext cx="256032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>
                <a:solidFill>
                  <a:srgbClr val="0F172A"/>
                </a:solidFill>
                <a:latin typeface="Calibri"/>
              </a:rPr>
              <a:t>Planificación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108960" y="3575304"/>
            <a:ext cx="1600200" cy="3840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3108960" y="3575304"/>
            <a:ext cx="160020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✓ 100%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800600" y="3575304"/>
            <a:ext cx="1600200" cy="3840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4800600" y="3575304"/>
            <a:ext cx="160020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✓ 100%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492240" y="3575304"/>
            <a:ext cx="1600200" cy="384048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6492240" y="3575304"/>
            <a:ext cx="160020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0%</a:t>
            </a:r>
          </a:p>
        </p:txBody>
      </p:sp>
      <p:sp>
        <p:nvSpPr>
          <p:cNvPr id="56" name="Rectangle 55"/>
          <p:cNvSpPr/>
          <p:nvPr/>
        </p:nvSpPr>
        <p:spPr>
          <a:xfrm>
            <a:off x="8183880" y="3575304"/>
            <a:ext cx="1600200" cy="384048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8183880" y="3575304"/>
            <a:ext cx="160020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0%</a:t>
            </a:r>
          </a:p>
        </p:txBody>
      </p:sp>
      <p:sp>
        <p:nvSpPr>
          <p:cNvPr id="58" name="Rectangle 57"/>
          <p:cNvSpPr/>
          <p:nvPr/>
        </p:nvSpPr>
        <p:spPr>
          <a:xfrm>
            <a:off x="9875520" y="3575304"/>
            <a:ext cx="1600200" cy="384048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9875520" y="3575304"/>
            <a:ext cx="160020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0%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57200" y="4050791"/>
            <a:ext cx="256032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>
                <a:solidFill>
                  <a:srgbClr val="0F172A"/>
                </a:solidFill>
                <a:latin typeface="Calibri"/>
              </a:rPr>
              <a:t>Contabilidad (LCV)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108960" y="4005072"/>
            <a:ext cx="1600200" cy="3840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3108960" y="4005072"/>
            <a:ext cx="160020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✓ 100%</a:t>
            </a:r>
          </a:p>
        </p:txBody>
      </p:sp>
      <p:sp>
        <p:nvSpPr>
          <p:cNvPr id="63" name="Rectangle 62"/>
          <p:cNvSpPr/>
          <p:nvPr/>
        </p:nvSpPr>
        <p:spPr>
          <a:xfrm>
            <a:off x="4800600" y="4005072"/>
            <a:ext cx="1600200" cy="384048"/>
          </a:xfrm>
          <a:prstGeom prst="rect">
            <a:avLst/>
          </a:prstGeom>
          <a:solidFill>
            <a:srgbClr val="FACC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4800600" y="4005072"/>
            <a:ext cx="160020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50%</a:t>
            </a:r>
          </a:p>
        </p:txBody>
      </p:sp>
      <p:sp>
        <p:nvSpPr>
          <p:cNvPr id="65" name="Rectangle 64"/>
          <p:cNvSpPr/>
          <p:nvPr/>
        </p:nvSpPr>
        <p:spPr>
          <a:xfrm>
            <a:off x="6492240" y="4005072"/>
            <a:ext cx="1600200" cy="384048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6492240" y="4005072"/>
            <a:ext cx="160020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30%</a:t>
            </a:r>
          </a:p>
        </p:txBody>
      </p:sp>
      <p:sp>
        <p:nvSpPr>
          <p:cNvPr id="67" name="Rectangle 66"/>
          <p:cNvSpPr/>
          <p:nvPr/>
        </p:nvSpPr>
        <p:spPr>
          <a:xfrm>
            <a:off x="8183880" y="4005072"/>
            <a:ext cx="1600200" cy="384048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8183880" y="4005072"/>
            <a:ext cx="160020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0%</a:t>
            </a:r>
          </a:p>
        </p:txBody>
      </p:sp>
      <p:sp>
        <p:nvSpPr>
          <p:cNvPr id="69" name="Rectangle 68"/>
          <p:cNvSpPr/>
          <p:nvPr/>
        </p:nvSpPr>
        <p:spPr>
          <a:xfrm>
            <a:off x="9875520" y="4005072"/>
            <a:ext cx="1600200" cy="384048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TextBox 69"/>
          <p:cNvSpPr txBox="1"/>
          <p:nvPr/>
        </p:nvSpPr>
        <p:spPr>
          <a:xfrm>
            <a:off x="9875520" y="4005072"/>
            <a:ext cx="160020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40%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457200" y="4480559"/>
            <a:ext cx="256032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>
                <a:solidFill>
                  <a:srgbClr val="0F172A"/>
                </a:solidFill>
                <a:latin typeface="Calibri"/>
              </a:rPr>
              <a:t>SAC / Log. Inv.</a:t>
            </a:r>
          </a:p>
        </p:txBody>
      </p:sp>
      <p:sp>
        <p:nvSpPr>
          <p:cNvPr id="72" name="Rectangle 71"/>
          <p:cNvSpPr/>
          <p:nvPr/>
        </p:nvSpPr>
        <p:spPr>
          <a:xfrm>
            <a:off x="3108960" y="4434840"/>
            <a:ext cx="1600200" cy="384048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TextBox 72"/>
          <p:cNvSpPr txBox="1"/>
          <p:nvPr/>
        </p:nvSpPr>
        <p:spPr>
          <a:xfrm>
            <a:off x="3108960" y="4434840"/>
            <a:ext cx="160020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30%</a:t>
            </a:r>
          </a:p>
        </p:txBody>
      </p:sp>
      <p:sp>
        <p:nvSpPr>
          <p:cNvPr id="74" name="Rectangle 73"/>
          <p:cNvSpPr/>
          <p:nvPr/>
        </p:nvSpPr>
        <p:spPr>
          <a:xfrm>
            <a:off x="4800600" y="4434840"/>
            <a:ext cx="1600200" cy="384048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TextBox 74"/>
          <p:cNvSpPr txBox="1"/>
          <p:nvPr/>
        </p:nvSpPr>
        <p:spPr>
          <a:xfrm>
            <a:off x="4800600" y="4434840"/>
            <a:ext cx="160020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0%</a:t>
            </a:r>
          </a:p>
        </p:txBody>
      </p:sp>
      <p:sp>
        <p:nvSpPr>
          <p:cNvPr id="76" name="Rectangle 75"/>
          <p:cNvSpPr/>
          <p:nvPr/>
        </p:nvSpPr>
        <p:spPr>
          <a:xfrm>
            <a:off x="6492240" y="4434840"/>
            <a:ext cx="1600200" cy="384048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TextBox 76"/>
          <p:cNvSpPr txBox="1"/>
          <p:nvPr/>
        </p:nvSpPr>
        <p:spPr>
          <a:xfrm>
            <a:off x="6492240" y="4434840"/>
            <a:ext cx="160020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0%</a:t>
            </a:r>
          </a:p>
        </p:txBody>
      </p:sp>
      <p:sp>
        <p:nvSpPr>
          <p:cNvPr id="78" name="Rectangle 77"/>
          <p:cNvSpPr/>
          <p:nvPr/>
        </p:nvSpPr>
        <p:spPr>
          <a:xfrm>
            <a:off x="8183880" y="4434840"/>
            <a:ext cx="1600200" cy="384048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TextBox 78"/>
          <p:cNvSpPr txBox="1"/>
          <p:nvPr/>
        </p:nvSpPr>
        <p:spPr>
          <a:xfrm>
            <a:off x="8183880" y="4434840"/>
            <a:ext cx="160020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0%</a:t>
            </a:r>
          </a:p>
        </p:txBody>
      </p:sp>
      <p:sp>
        <p:nvSpPr>
          <p:cNvPr id="80" name="Rectangle 79"/>
          <p:cNvSpPr/>
          <p:nvPr/>
        </p:nvSpPr>
        <p:spPr>
          <a:xfrm>
            <a:off x="9875520" y="4434840"/>
            <a:ext cx="1600200" cy="384048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TextBox 80"/>
          <p:cNvSpPr txBox="1"/>
          <p:nvPr/>
        </p:nvSpPr>
        <p:spPr>
          <a:xfrm>
            <a:off x="9875520" y="4434840"/>
            <a:ext cx="160020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0%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457200" y="4910328"/>
            <a:ext cx="256032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>
                <a:solidFill>
                  <a:srgbClr val="0F172A"/>
                </a:solidFill>
                <a:latin typeface="Calibri"/>
              </a:rPr>
              <a:t>Facturación</a:t>
            </a:r>
          </a:p>
        </p:txBody>
      </p:sp>
      <p:sp>
        <p:nvSpPr>
          <p:cNvPr id="83" name="Rectangle 82"/>
          <p:cNvSpPr/>
          <p:nvPr/>
        </p:nvSpPr>
        <p:spPr>
          <a:xfrm>
            <a:off x="3108960" y="4864608"/>
            <a:ext cx="1600200" cy="3840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4" name="TextBox 83"/>
          <p:cNvSpPr txBox="1"/>
          <p:nvPr/>
        </p:nvSpPr>
        <p:spPr>
          <a:xfrm>
            <a:off x="3108960" y="4864608"/>
            <a:ext cx="160020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✓ 100%</a:t>
            </a:r>
          </a:p>
        </p:txBody>
      </p:sp>
      <p:sp>
        <p:nvSpPr>
          <p:cNvPr id="85" name="Rectangle 84"/>
          <p:cNvSpPr/>
          <p:nvPr/>
        </p:nvSpPr>
        <p:spPr>
          <a:xfrm>
            <a:off x="4800600" y="4864608"/>
            <a:ext cx="1600200" cy="384048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6" name="TextBox 85"/>
          <p:cNvSpPr txBox="1"/>
          <p:nvPr/>
        </p:nvSpPr>
        <p:spPr>
          <a:xfrm>
            <a:off x="4800600" y="4864608"/>
            <a:ext cx="160020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0%</a:t>
            </a:r>
          </a:p>
        </p:txBody>
      </p:sp>
      <p:sp>
        <p:nvSpPr>
          <p:cNvPr id="87" name="Rectangle 86"/>
          <p:cNvSpPr/>
          <p:nvPr/>
        </p:nvSpPr>
        <p:spPr>
          <a:xfrm>
            <a:off x="6492240" y="4864608"/>
            <a:ext cx="1600200" cy="384048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8" name="TextBox 87"/>
          <p:cNvSpPr txBox="1"/>
          <p:nvPr/>
        </p:nvSpPr>
        <p:spPr>
          <a:xfrm>
            <a:off x="6492240" y="4864608"/>
            <a:ext cx="160020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10%</a:t>
            </a:r>
          </a:p>
        </p:txBody>
      </p:sp>
      <p:sp>
        <p:nvSpPr>
          <p:cNvPr id="89" name="Rectangle 88"/>
          <p:cNvSpPr/>
          <p:nvPr/>
        </p:nvSpPr>
        <p:spPr>
          <a:xfrm>
            <a:off x="8183880" y="4864608"/>
            <a:ext cx="1600200" cy="384048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" name="TextBox 89"/>
          <p:cNvSpPr txBox="1"/>
          <p:nvPr/>
        </p:nvSpPr>
        <p:spPr>
          <a:xfrm>
            <a:off x="8183880" y="4864608"/>
            <a:ext cx="160020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0%</a:t>
            </a:r>
          </a:p>
        </p:txBody>
      </p:sp>
      <p:sp>
        <p:nvSpPr>
          <p:cNvPr id="91" name="Rectangle 90"/>
          <p:cNvSpPr/>
          <p:nvPr/>
        </p:nvSpPr>
        <p:spPr>
          <a:xfrm>
            <a:off x="9875520" y="4864608"/>
            <a:ext cx="1600200" cy="384048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2" name="TextBox 91"/>
          <p:cNvSpPr txBox="1"/>
          <p:nvPr/>
        </p:nvSpPr>
        <p:spPr>
          <a:xfrm>
            <a:off x="9875520" y="4864608"/>
            <a:ext cx="160020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0%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457200" y="5340096"/>
            <a:ext cx="256032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>
                <a:solidFill>
                  <a:srgbClr val="0F172A"/>
                </a:solidFill>
                <a:latin typeface="Calibri"/>
              </a:rPr>
              <a:t>EEFF</a:t>
            </a:r>
          </a:p>
        </p:txBody>
      </p:sp>
      <p:sp>
        <p:nvSpPr>
          <p:cNvPr id="94" name="Rectangle 93"/>
          <p:cNvSpPr/>
          <p:nvPr/>
        </p:nvSpPr>
        <p:spPr>
          <a:xfrm>
            <a:off x="3108960" y="5294376"/>
            <a:ext cx="1600200" cy="384048"/>
          </a:xfrm>
          <a:prstGeom prst="rect">
            <a:avLst/>
          </a:prstGeom>
          <a:solidFill>
            <a:srgbClr val="FACC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5" name="TextBox 94"/>
          <p:cNvSpPr txBox="1"/>
          <p:nvPr/>
        </p:nvSpPr>
        <p:spPr>
          <a:xfrm>
            <a:off x="3108960" y="5294376"/>
            <a:ext cx="160020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50%</a:t>
            </a:r>
          </a:p>
        </p:txBody>
      </p:sp>
      <p:sp>
        <p:nvSpPr>
          <p:cNvPr id="96" name="Rectangle 95"/>
          <p:cNvSpPr/>
          <p:nvPr/>
        </p:nvSpPr>
        <p:spPr>
          <a:xfrm>
            <a:off x="4800600" y="5294376"/>
            <a:ext cx="1600200" cy="384048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7" name="TextBox 96"/>
          <p:cNvSpPr txBox="1"/>
          <p:nvPr/>
        </p:nvSpPr>
        <p:spPr>
          <a:xfrm>
            <a:off x="4800600" y="5294376"/>
            <a:ext cx="160020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0%</a:t>
            </a:r>
          </a:p>
        </p:txBody>
      </p:sp>
      <p:sp>
        <p:nvSpPr>
          <p:cNvPr id="98" name="Rectangle 97"/>
          <p:cNvSpPr/>
          <p:nvPr/>
        </p:nvSpPr>
        <p:spPr>
          <a:xfrm>
            <a:off x="6492240" y="5294376"/>
            <a:ext cx="1600200" cy="384048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9" name="TextBox 98"/>
          <p:cNvSpPr txBox="1"/>
          <p:nvPr/>
        </p:nvSpPr>
        <p:spPr>
          <a:xfrm>
            <a:off x="6492240" y="5294376"/>
            <a:ext cx="160020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0%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8183880" y="5294376"/>
            <a:ext cx="1600200" cy="384048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1" name="TextBox 100"/>
          <p:cNvSpPr txBox="1"/>
          <p:nvPr/>
        </p:nvSpPr>
        <p:spPr>
          <a:xfrm>
            <a:off x="8183880" y="5294376"/>
            <a:ext cx="160020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0%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9875520" y="5294376"/>
            <a:ext cx="1600200" cy="384048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3" name="TextBox 102"/>
          <p:cNvSpPr txBox="1"/>
          <p:nvPr/>
        </p:nvSpPr>
        <p:spPr>
          <a:xfrm>
            <a:off x="9875520" y="5294376"/>
            <a:ext cx="160020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0%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457200" y="5769864"/>
            <a:ext cx="256032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>
                <a:solidFill>
                  <a:srgbClr val="0F172A"/>
                </a:solidFill>
                <a:latin typeface="Calibri"/>
              </a:rPr>
              <a:t>Productos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3108960" y="5724144"/>
            <a:ext cx="1600200" cy="384048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6" name="TextBox 105"/>
          <p:cNvSpPr txBox="1"/>
          <p:nvPr/>
        </p:nvSpPr>
        <p:spPr>
          <a:xfrm>
            <a:off x="3108960" y="5724144"/>
            <a:ext cx="160020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0%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4800600" y="5724144"/>
            <a:ext cx="1600200" cy="384048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8" name="TextBox 107"/>
          <p:cNvSpPr txBox="1"/>
          <p:nvPr/>
        </p:nvSpPr>
        <p:spPr>
          <a:xfrm>
            <a:off x="4800600" y="5724144"/>
            <a:ext cx="160020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0%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6492240" y="5724144"/>
            <a:ext cx="1600200" cy="384048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0" name="TextBox 109"/>
          <p:cNvSpPr txBox="1"/>
          <p:nvPr/>
        </p:nvSpPr>
        <p:spPr>
          <a:xfrm>
            <a:off x="6492240" y="5724144"/>
            <a:ext cx="160020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0%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8183880" y="5724144"/>
            <a:ext cx="1600200" cy="384048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2" name="TextBox 111"/>
          <p:cNvSpPr txBox="1"/>
          <p:nvPr/>
        </p:nvSpPr>
        <p:spPr>
          <a:xfrm>
            <a:off x="8183880" y="5724144"/>
            <a:ext cx="160020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0%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9875520" y="5724144"/>
            <a:ext cx="1600200" cy="384048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4" name="TextBox 113"/>
          <p:cNvSpPr txBox="1"/>
          <p:nvPr/>
        </p:nvSpPr>
        <p:spPr>
          <a:xfrm>
            <a:off x="9875520" y="5724144"/>
            <a:ext cx="160020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0%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457200" y="6263640"/>
            <a:ext cx="11430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0">
                <a:solidFill>
                  <a:srgbClr val="475569"/>
                </a:solidFill>
                <a:latin typeface="Calibri"/>
              </a:rPr>
              <a:t>Verde: completo (100%)   ·   Amarillo: avanzado (50-99%)   ·   Naranja: en progreso (1-49%)   ·   Rojo: no iniciado</a:t>
            </a:r>
          </a:p>
        </p:txBody>
      </p:sp>
      <p:cxnSp>
        <p:nvCxnSpPr>
          <p:cNvPr id="116" name="Connector 115"/>
          <p:cNvCxnSpPr/>
          <p:nvPr/>
        </p:nvCxnSpPr>
        <p:spPr>
          <a:xfrm>
            <a:off x="457200" y="6537960"/>
            <a:ext cx="11277295" cy="0"/>
          </a:xfrm>
          <a:prstGeom prst="line">
            <a:avLst/>
          </a:prstGeom>
          <a:ln w="9525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7" name="TextBox 116"/>
          <p:cNvSpPr txBox="1"/>
          <p:nvPr/>
        </p:nvSpPr>
        <p:spPr>
          <a:xfrm>
            <a:off x="457200" y="658368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>
                <a:solidFill>
                  <a:srgbClr val="475569"/>
                </a:solidFill>
                <a:latin typeface="Calibri"/>
              </a:rPr>
              <a:t>Plan IA · Operaciones y Finanzas · Mayo 2026</a:t>
            </a:r>
          </a:p>
        </p:txBody>
      </p:sp>
      <p:pic>
        <p:nvPicPr>
          <p:cNvPr id="118" name="Picture 117" descr="unionx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6565392"/>
            <a:ext cx="464949" cy="228600"/>
          </a:xfrm>
          <a:prstGeom prst="rect">
            <a:avLst/>
          </a:prstGeom>
        </p:spPr>
      </p:pic>
      <p:sp>
        <p:nvSpPr>
          <p:cNvPr id="119" name="TextBox 118"/>
          <p:cNvSpPr txBox="1"/>
          <p:nvPr/>
        </p:nvSpPr>
        <p:spPr>
          <a:xfrm>
            <a:off x="10789920" y="658368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>
                <a:solidFill>
                  <a:srgbClr val="475569"/>
                </a:solidFill>
                <a:latin typeface="Calibri"/>
              </a:rPr>
              <a:t>6 / 27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115568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>
                <a:solidFill>
                  <a:srgbClr val="1E40AF"/>
                </a:solidFill>
                <a:latin typeface="Calibri"/>
              </a:rPr>
              <a:t>Ventas — Caso paradigmático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51560"/>
            <a:ext cx="111556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>
                <a:solidFill>
                  <a:srgbClr val="475569"/>
                </a:solidFill>
                <a:latin typeface="Calibri"/>
              </a:rPr>
              <a:t>El recorrido completo F1→F3 ya está logrado. Ahora F4 (margen real) y F5 (agente curador).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691640"/>
            <a:ext cx="2240280" cy="3840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457200" y="1691640"/>
            <a:ext cx="2240280" cy="64008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1737360"/>
            <a:ext cx="2057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F1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011680"/>
            <a:ext cx="2057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Auditar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468880"/>
            <a:ext cx="2057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600" b="1">
                <a:solidFill>
                  <a:srgbClr val="10B981"/>
                </a:solidFill>
                <a:latin typeface="Calibri"/>
              </a:rPr>
              <a:t>100%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971800"/>
            <a:ext cx="2057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0">
                <a:solidFill>
                  <a:srgbClr val="475569"/>
                </a:solidFill>
                <a:latin typeface="Calibri"/>
              </a:rPr>
              <a:t>completo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3291840"/>
            <a:ext cx="1965960" cy="2194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>
                <a:solidFill>
                  <a:srgbClr val="0F172A"/>
                </a:solidFill>
                <a:latin typeface="Calibri"/>
              </a:rPr>
              <a:t>41 columnas mapeadas, fuente por fuente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788920" y="1691640"/>
            <a:ext cx="2240280" cy="3840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2788920" y="1691640"/>
            <a:ext cx="2240280" cy="64008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2880360" y="1737360"/>
            <a:ext cx="2057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F2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80360" y="2011680"/>
            <a:ext cx="2057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Integrar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80360" y="2468880"/>
            <a:ext cx="2057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600" b="1">
                <a:solidFill>
                  <a:srgbClr val="10B981"/>
                </a:solidFill>
                <a:latin typeface="Calibri"/>
              </a:rPr>
              <a:t>100%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880360" y="2971800"/>
            <a:ext cx="2057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0">
                <a:solidFill>
                  <a:srgbClr val="475569"/>
                </a:solidFill>
                <a:latin typeface="Calibri"/>
              </a:rPr>
              <a:t>completo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26080" y="3291840"/>
            <a:ext cx="1965960" cy="2194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>
                <a:solidFill>
                  <a:srgbClr val="0F172A"/>
                </a:solidFill>
                <a:latin typeface="Calibri"/>
              </a:rPr>
              <a:t>Modelo unificado en Turso · sync 3×/día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120640" y="1691640"/>
            <a:ext cx="2240280" cy="3840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5120640" y="1691640"/>
            <a:ext cx="2240280" cy="64008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212080" y="1737360"/>
            <a:ext cx="2057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F3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12080" y="2011680"/>
            <a:ext cx="2057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Automatizar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12080" y="2468880"/>
            <a:ext cx="2057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600" b="1">
                <a:solidFill>
                  <a:srgbClr val="10B981"/>
                </a:solidFill>
                <a:latin typeface="Calibri"/>
              </a:rPr>
              <a:t>100%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212080" y="2971800"/>
            <a:ext cx="2057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0">
                <a:solidFill>
                  <a:srgbClr val="475569"/>
                </a:solidFill>
                <a:latin typeface="Calibri"/>
              </a:rPr>
              <a:t>completo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57800" y="3291840"/>
            <a:ext cx="1965960" cy="2194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>
                <a:solidFill>
                  <a:srgbClr val="0F172A"/>
                </a:solidFill>
                <a:latin typeface="Calibri"/>
              </a:rPr>
              <a:t>App Ventas única · 17 vistas · 5 usuarios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452360" y="1691640"/>
            <a:ext cx="2240280" cy="3840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7452360" y="1691640"/>
            <a:ext cx="2240280" cy="640080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7543800" y="1737360"/>
            <a:ext cx="2057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F4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543800" y="2011680"/>
            <a:ext cx="2057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Eficientar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543800" y="2468880"/>
            <a:ext cx="2057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600" b="1">
                <a:solidFill>
                  <a:srgbClr val="EA580C"/>
                </a:solidFill>
                <a:latin typeface="Calibri"/>
              </a:rPr>
              <a:t>30%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543800" y="2971800"/>
            <a:ext cx="2057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0">
                <a:solidFill>
                  <a:srgbClr val="475569"/>
                </a:solidFill>
                <a:latin typeface="Calibri"/>
              </a:rPr>
              <a:t>próximo paso: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589520" y="3291840"/>
            <a:ext cx="1965960" cy="2194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>
                <a:solidFill>
                  <a:srgbClr val="0F172A"/>
                </a:solidFill>
                <a:latin typeface="Calibri"/>
              </a:rPr>
              <a:t>Cargar comisiones / logística / mkt por canal. Contenido: Subgcia. Comercial. Arquitectura: Andrés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784080" y="1691640"/>
            <a:ext cx="2240280" cy="3840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9784080" y="1691640"/>
            <a:ext cx="2240280" cy="64008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9875520" y="1737360"/>
            <a:ext cx="2057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F5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875520" y="2011680"/>
            <a:ext cx="2057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Agentes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875520" y="2468880"/>
            <a:ext cx="2057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600" b="1">
                <a:solidFill>
                  <a:srgbClr val="DC2626"/>
                </a:solidFill>
                <a:latin typeface="Calibri"/>
              </a:rPr>
              <a:t>0%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875520" y="2971800"/>
            <a:ext cx="2057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0">
                <a:solidFill>
                  <a:srgbClr val="475569"/>
                </a:solidFill>
                <a:latin typeface="Calibri"/>
              </a:rPr>
              <a:t>próximo paso: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921240" y="3291840"/>
            <a:ext cx="1965960" cy="2194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>
                <a:solidFill>
                  <a:srgbClr val="0F172A"/>
                </a:solidFill>
                <a:latin typeface="Calibri"/>
              </a:rPr>
              <a:t>Agente auto-cura Matriz Productos y Maestra Canales · alerta SKUs nuevos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57200" y="5669280"/>
            <a:ext cx="11247120" cy="777240"/>
          </a:xfrm>
          <a:prstGeom prst="roundRect">
            <a:avLst>
              <a:gd name="adj" fmla="val 8000"/>
            </a:avLst>
          </a:prstGeom>
          <a:solidFill>
            <a:srgbClr val="1E40A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640080" y="5760720"/>
            <a:ext cx="1645920" cy="594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🎯 HITO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286000" y="5760720"/>
            <a:ext cx="36576" cy="5943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2468880" y="5760720"/>
            <a:ext cx="20116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JUNIO 2026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468880" y="6035040"/>
            <a:ext cx="90525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Cargar comisiones · logística · marketing por canal → margen final REAL. Subgcia. Comercial toma contenido; arquitectura sigue con Andrés.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457200" y="6537960"/>
            <a:ext cx="11277295" cy="0"/>
          </a:xfrm>
          <a:prstGeom prst="line">
            <a:avLst/>
          </a:prstGeom>
          <a:ln w="9525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457200" y="658368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>
                <a:solidFill>
                  <a:srgbClr val="475569"/>
                </a:solidFill>
                <a:latin typeface="Calibri"/>
              </a:rPr>
              <a:t>Plan IA · Operaciones y Finanzas · Mayo 2026</a:t>
            </a:r>
          </a:p>
        </p:txBody>
      </p:sp>
      <p:pic>
        <p:nvPicPr>
          <p:cNvPr id="47" name="Picture 46" descr="unionx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6565392"/>
            <a:ext cx="464949" cy="228600"/>
          </a:xfrm>
          <a:prstGeom prst="rect">
            <a:avLst/>
          </a:prstGeom>
        </p:spPr>
      </p:pic>
      <p:sp>
        <p:nvSpPr>
          <p:cNvPr id="48" name="TextBox 47"/>
          <p:cNvSpPr txBox="1"/>
          <p:nvPr/>
        </p:nvSpPr>
        <p:spPr>
          <a:xfrm>
            <a:off x="10789920" y="658368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>
                <a:solidFill>
                  <a:srgbClr val="475569"/>
                </a:solidFill>
                <a:latin typeface="Calibri"/>
              </a:rPr>
              <a:t>7 / 27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115568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>
                <a:solidFill>
                  <a:srgbClr val="1E40AF"/>
                </a:solidFill>
                <a:latin typeface="Calibri"/>
              </a:rPr>
              <a:t>Finanzas + Control de Gestión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51560"/>
            <a:ext cx="111556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>
                <a:solidFill>
                  <a:srgbClr val="475569"/>
                </a:solidFill>
                <a:latin typeface="Calibri"/>
              </a:rPr>
              <a:t>App ya integrada. Skills de contribución y P&amp;L se centralizan en junio.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691640"/>
            <a:ext cx="2240280" cy="3840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457200" y="1691640"/>
            <a:ext cx="2240280" cy="64008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1737360"/>
            <a:ext cx="2057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F1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011680"/>
            <a:ext cx="2057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Auditar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468880"/>
            <a:ext cx="2057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600" b="1">
                <a:solidFill>
                  <a:srgbClr val="10B981"/>
                </a:solidFill>
                <a:latin typeface="Calibri"/>
              </a:rPr>
              <a:t>100%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971800"/>
            <a:ext cx="2057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0">
                <a:solidFill>
                  <a:srgbClr val="475569"/>
                </a:solidFill>
                <a:latin typeface="Calibri"/>
              </a:rPr>
              <a:t>completo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3291840"/>
            <a:ext cx="1965960" cy="2194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>
                <a:solidFill>
                  <a:srgbClr val="0F172A"/>
                </a:solidFill>
                <a:latin typeface="Calibri"/>
              </a:rPr>
              <a:t>EERR clasificado · 88 reglas · mapeo cuentas analíticas. Control Gestión: scope definido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788920" y="1691640"/>
            <a:ext cx="2240280" cy="3840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2788920" y="1691640"/>
            <a:ext cx="2240280" cy="64008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2880360" y="1737360"/>
            <a:ext cx="2057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F2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80360" y="2011680"/>
            <a:ext cx="2057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Integrar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80360" y="2468880"/>
            <a:ext cx="2057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600" b="1">
                <a:solidFill>
                  <a:srgbClr val="10B981"/>
                </a:solidFill>
                <a:latin typeface="Calibri"/>
              </a:rPr>
              <a:t>100%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880360" y="2971800"/>
            <a:ext cx="2057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0">
                <a:solidFill>
                  <a:srgbClr val="475569"/>
                </a:solidFill>
                <a:latin typeface="Calibri"/>
              </a:rPr>
              <a:t>completo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26080" y="3291840"/>
            <a:ext cx="1965960" cy="2194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>
                <a:solidFill>
                  <a:srgbClr val="0F172A"/>
                </a:solidFill>
                <a:latin typeface="Calibri"/>
              </a:rPr>
              <a:t>App Finanzas: P&amp;L 7 líneas · EBIT consolidado · FCST Ene-Dic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120640" y="1691640"/>
            <a:ext cx="2240280" cy="3840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5120640" y="1691640"/>
            <a:ext cx="2240280" cy="640080"/>
          </a:xfrm>
          <a:prstGeom prst="rect">
            <a:avLst/>
          </a:prstGeom>
          <a:solidFill>
            <a:srgbClr val="FACC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212080" y="1737360"/>
            <a:ext cx="2057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F3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12080" y="2011680"/>
            <a:ext cx="2057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Automatizar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12080" y="2468880"/>
            <a:ext cx="2057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600" b="1">
                <a:solidFill>
                  <a:srgbClr val="FACC15"/>
                </a:solidFill>
                <a:latin typeface="Calibri"/>
              </a:rPr>
              <a:t>70%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212080" y="2971800"/>
            <a:ext cx="2057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0">
                <a:solidFill>
                  <a:srgbClr val="475569"/>
                </a:solidFill>
                <a:latin typeface="Calibri"/>
              </a:rPr>
              <a:t>próximo paso: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57800" y="3291840"/>
            <a:ext cx="1965960" cy="2194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>
                <a:solidFill>
                  <a:srgbClr val="0F172A"/>
                </a:solidFill>
                <a:latin typeface="Calibri"/>
              </a:rPr>
              <a:t>Sigue dependiendo del P&amp;L sheet + cálculos P&amp;L y contribución por Drive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452360" y="1691640"/>
            <a:ext cx="2240280" cy="3840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7452360" y="1691640"/>
            <a:ext cx="2240280" cy="64008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7543800" y="1737360"/>
            <a:ext cx="2057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F4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543800" y="2011680"/>
            <a:ext cx="2057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Eficientar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543800" y="2468880"/>
            <a:ext cx="2057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600" b="1">
                <a:solidFill>
                  <a:srgbClr val="DC2626"/>
                </a:solidFill>
                <a:latin typeface="Calibri"/>
              </a:rPr>
              <a:t>10%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543800" y="2971800"/>
            <a:ext cx="2057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0">
                <a:solidFill>
                  <a:srgbClr val="475569"/>
                </a:solidFill>
                <a:latin typeface="Calibri"/>
              </a:rPr>
              <a:t>próximo paso: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589520" y="3291840"/>
            <a:ext cx="1965960" cy="2194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>
                <a:solidFill>
                  <a:srgbClr val="0F172A"/>
                </a:solidFill>
                <a:latin typeface="Calibri"/>
              </a:rPr>
              <a:t>Incorporar archivos MD de contribución y P&amp;L al cerebro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784080" y="1691640"/>
            <a:ext cx="2240280" cy="3840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9784080" y="1691640"/>
            <a:ext cx="2240280" cy="64008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9875520" y="1737360"/>
            <a:ext cx="2057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F5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875520" y="2011680"/>
            <a:ext cx="2057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Agentes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875520" y="2468880"/>
            <a:ext cx="2057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600" b="1">
                <a:solidFill>
                  <a:srgbClr val="DC2626"/>
                </a:solidFill>
                <a:latin typeface="Calibri"/>
              </a:rPr>
              <a:t>0%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875520" y="2971800"/>
            <a:ext cx="2057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0">
                <a:solidFill>
                  <a:srgbClr val="475569"/>
                </a:solidFill>
                <a:latin typeface="Calibri"/>
              </a:rPr>
              <a:t>próximo paso: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921240" y="3291840"/>
            <a:ext cx="1965960" cy="2194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>
                <a:solidFill>
                  <a:srgbClr val="0F172A"/>
                </a:solidFill>
                <a:latin typeface="Calibri"/>
              </a:rPr>
              <a:t>Todo centralizado · EEFF desde Odoo en vivo · agente construye reportes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57200" y="5669280"/>
            <a:ext cx="11247120" cy="777240"/>
          </a:xfrm>
          <a:prstGeom prst="roundRect">
            <a:avLst>
              <a:gd name="adj" fmla="val 8000"/>
            </a:avLst>
          </a:prstGeom>
          <a:solidFill>
            <a:srgbClr val="1E40A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640080" y="5760720"/>
            <a:ext cx="1645920" cy="594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🎯 HITO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286000" y="5760720"/>
            <a:ext cx="36576" cy="5943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2468880" y="5760720"/>
            <a:ext cx="20116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JUNIO 2026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468880" y="6035040"/>
            <a:ext cx="90525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Skills de Contribución y P&amp;L quedan en el cerebro. Pendiente: EEFF integrado.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457200" y="6537960"/>
            <a:ext cx="11277295" cy="0"/>
          </a:xfrm>
          <a:prstGeom prst="line">
            <a:avLst/>
          </a:prstGeom>
          <a:ln w="9525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457200" y="658368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>
                <a:solidFill>
                  <a:srgbClr val="475569"/>
                </a:solidFill>
                <a:latin typeface="Calibri"/>
              </a:rPr>
              <a:t>Plan IA · Operaciones y Finanzas · Mayo 2026</a:t>
            </a:r>
          </a:p>
        </p:txBody>
      </p:sp>
      <p:pic>
        <p:nvPicPr>
          <p:cNvPr id="47" name="Picture 46" descr="unionx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6565392"/>
            <a:ext cx="464949" cy="228600"/>
          </a:xfrm>
          <a:prstGeom prst="rect">
            <a:avLst/>
          </a:prstGeom>
        </p:spPr>
      </p:pic>
      <p:sp>
        <p:nvSpPr>
          <p:cNvPr id="48" name="TextBox 47"/>
          <p:cNvSpPr txBox="1"/>
          <p:nvPr/>
        </p:nvSpPr>
        <p:spPr>
          <a:xfrm>
            <a:off x="10789920" y="658368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>
                <a:solidFill>
                  <a:srgbClr val="475569"/>
                </a:solidFill>
                <a:latin typeface="Calibri"/>
              </a:rPr>
              <a:t>8 / 27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115568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>
                <a:solidFill>
                  <a:srgbClr val="1E40AF"/>
                </a:solidFill>
                <a:latin typeface="Calibri"/>
              </a:rPr>
              <a:t>Operaciones — COMEX · Stock · Fulfillment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51560"/>
            <a:ext cx="111556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>
                <a:solidFill>
                  <a:srgbClr val="475569"/>
                </a:solidFill>
                <a:latin typeface="Calibri"/>
              </a:rPr>
              <a:t>Fulfillment 100% auto excepto costos operativos. COMEX tránsito ok · falta pre-embarque y producción.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691640"/>
            <a:ext cx="2240280" cy="3840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457200" y="1691640"/>
            <a:ext cx="2240280" cy="64008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1737360"/>
            <a:ext cx="2057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F1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011680"/>
            <a:ext cx="2057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Auditar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468880"/>
            <a:ext cx="2057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600" b="1">
                <a:solidFill>
                  <a:srgbClr val="10B981"/>
                </a:solidFill>
                <a:latin typeface="Calibri"/>
              </a:rPr>
              <a:t>100%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971800"/>
            <a:ext cx="2057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0">
                <a:solidFill>
                  <a:srgbClr val="475569"/>
                </a:solidFill>
                <a:latin typeface="Calibri"/>
              </a:rPr>
              <a:t>completo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3291840"/>
            <a:ext cx="1965960" cy="2194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>
                <a:solidFill>
                  <a:srgbClr val="0F172A"/>
                </a:solidFill>
                <a:latin typeface="Calibri"/>
              </a:rPr>
              <a:t>Flujos COMEX (PI→PL→OHNSO) · stock LIVE · capacidad WMS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788920" y="1691640"/>
            <a:ext cx="2240280" cy="3840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2788920" y="1691640"/>
            <a:ext cx="2240280" cy="64008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2880360" y="1737360"/>
            <a:ext cx="2057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F2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80360" y="2011680"/>
            <a:ext cx="2057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Integrar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80360" y="2468880"/>
            <a:ext cx="2057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600" b="1">
                <a:solidFill>
                  <a:srgbClr val="10B981"/>
                </a:solidFill>
                <a:latin typeface="Calibri"/>
              </a:rPr>
              <a:t>100%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880360" y="2971800"/>
            <a:ext cx="2057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0">
                <a:solidFill>
                  <a:srgbClr val="475569"/>
                </a:solidFill>
                <a:latin typeface="Calibri"/>
              </a:rPr>
              <a:t>completo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26080" y="3291840"/>
            <a:ext cx="1965960" cy="2194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>
                <a:solidFill>
                  <a:srgbClr val="0F172A"/>
                </a:solidFill>
                <a:latin typeface="Calibri"/>
              </a:rPr>
              <a:t>Apps integradas · Stock LIVE desde Odoo · Fulfillment 100% auto (todo Odoo)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120640" y="1691640"/>
            <a:ext cx="2240280" cy="3840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5120640" y="1691640"/>
            <a:ext cx="2240280" cy="640080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212080" y="1737360"/>
            <a:ext cx="2057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F3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12080" y="2011680"/>
            <a:ext cx="2057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Automatizar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12080" y="2468880"/>
            <a:ext cx="2057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600" b="1">
                <a:solidFill>
                  <a:srgbClr val="EA580C"/>
                </a:solidFill>
                <a:latin typeface="Calibri"/>
              </a:rPr>
              <a:t>60%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212080" y="2971800"/>
            <a:ext cx="2057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0">
                <a:solidFill>
                  <a:srgbClr val="475569"/>
                </a:solidFill>
                <a:latin typeface="Calibri"/>
              </a:rPr>
              <a:t>próximo paso: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57800" y="3291840"/>
            <a:ext cx="1965960" cy="2194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>
                <a:solidFill>
                  <a:srgbClr val="0F172A"/>
                </a:solidFill>
                <a:latin typeface="Calibri"/>
              </a:rPr>
              <a:t>Falta automatizar costos operativos · COMEX pre-embarque y producción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452360" y="1691640"/>
            <a:ext cx="2240280" cy="3840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7452360" y="1691640"/>
            <a:ext cx="2240280" cy="64008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7543800" y="1737360"/>
            <a:ext cx="2057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F4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543800" y="2011680"/>
            <a:ext cx="2057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Eficientar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543800" y="2468880"/>
            <a:ext cx="2057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600" b="1">
                <a:solidFill>
                  <a:srgbClr val="DC2626"/>
                </a:solidFill>
                <a:latin typeface="Calibri"/>
              </a:rPr>
              <a:t>0%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543800" y="2971800"/>
            <a:ext cx="2057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0">
                <a:solidFill>
                  <a:srgbClr val="475569"/>
                </a:solidFill>
                <a:latin typeface="Calibri"/>
              </a:rPr>
              <a:t>próximo paso: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589520" y="3291840"/>
            <a:ext cx="1965960" cy="2194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>
                <a:solidFill>
                  <a:srgbClr val="0F172A"/>
                </a:solidFill>
                <a:latin typeface="Calibri"/>
              </a:rPr>
              <a:t>Eficiencia: Slotting · rotación inventario · prever costos variables · punto equilibrio vs planificación venta · oportunidades anticipadas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784080" y="1691640"/>
            <a:ext cx="2240280" cy="3840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9784080" y="1691640"/>
            <a:ext cx="2240280" cy="640080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9875520" y="1737360"/>
            <a:ext cx="2057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F5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875520" y="2011680"/>
            <a:ext cx="2057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Agentes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875520" y="2468880"/>
            <a:ext cx="2057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600" b="1">
                <a:solidFill>
                  <a:srgbClr val="EA580C"/>
                </a:solidFill>
                <a:latin typeface="Calibri"/>
              </a:rPr>
              <a:t>30%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875520" y="2971800"/>
            <a:ext cx="2057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0">
                <a:solidFill>
                  <a:srgbClr val="475569"/>
                </a:solidFill>
                <a:latin typeface="Calibri"/>
              </a:rPr>
              <a:t>próximo paso: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921240" y="3291840"/>
            <a:ext cx="1965960" cy="2194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>
                <a:solidFill>
                  <a:srgbClr val="0F172A"/>
                </a:solidFill>
                <a:latin typeface="Calibri"/>
              </a:rPr>
              <a:t>COMEX activo polling 2 min. Próximo: COMEX v2 sin validación intermedia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57200" y="5669280"/>
            <a:ext cx="11247120" cy="777240"/>
          </a:xfrm>
          <a:prstGeom prst="roundRect">
            <a:avLst>
              <a:gd name="adj" fmla="val 8000"/>
            </a:avLst>
          </a:prstGeom>
          <a:solidFill>
            <a:srgbClr val="1E40A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640080" y="5760720"/>
            <a:ext cx="1645920" cy="594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🎯 HITO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286000" y="5760720"/>
            <a:ext cx="36576" cy="5943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2468880" y="5760720"/>
            <a:ext cx="20116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JUNIO 2026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468880" y="6035040"/>
            <a:ext cx="90525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Automatización COMEX pre-embarque + producción → conecta con Triada de Planificación.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457200" y="6537960"/>
            <a:ext cx="11277295" cy="0"/>
          </a:xfrm>
          <a:prstGeom prst="line">
            <a:avLst/>
          </a:prstGeom>
          <a:ln w="9525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457200" y="658368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>
                <a:solidFill>
                  <a:srgbClr val="475569"/>
                </a:solidFill>
                <a:latin typeface="Calibri"/>
              </a:rPr>
              <a:t>Plan IA · Operaciones y Finanzas · Mayo 2026</a:t>
            </a:r>
          </a:p>
        </p:txBody>
      </p:sp>
      <p:pic>
        <p:nvPicPr>
          <p:cNvPr id="47" name="Picture 46" descr="unionx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6565392"/>
            <a:ext cx="464949" cy="228600"/>
          </a:xfrm>
          <a:prstGeom prst="rect">
            <a:avLst/>
          </a:prstGeom>
        </p:spPr>
      </p:pic>
      <p:sp>
        <p:nvSpPr>
          <p:cNvPr id="48" name="TextBox 47"/>
          <p:cNvSpPr txBox="1"/>
          <p:nvPr/>
        </p:nvSpPr>
        <p:spPr>
          <a:xfrm>
            <a:off x="10789920" y="658368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>
                <a:solidFill>
                  <a:srgbClr val="475569"/>
                </a:solidFill>
                <a:latin typeface="Calibri"/>
              </a:rPr>
              <a:t>9 / 27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115568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>
                <a:solidFill>
                  <a:srgbClr val="1E40AF"/>
                </a:solidFill>
                <a:latin typeface="Calibri"/>
              </a:rPr>
              <a:t>Contabilidad — Libro de Compra y Venta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51560"/>
            <a:ext cx="111556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>
                <a:solidFill>
                  <a:srgbClr val="475569"/>
                </a:solidFill>
                <a:latin typeface="Calibri"/>
              </a:rPr>
              <a:t>Agente LCV-Compras en producción. Cobranza pausado por incidente — fix prioridad #1.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691640"/>
            <a:ext cx="2240280" cy="3840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457200" y="1691640"/>
            <a:ext cx="2240280" cy="64008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1737360"/>
            <a:ext cx="2057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F1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011680"/>
            <a:ext cx="2057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Auditar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468880"/>
            <a:ext cx="2057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600" b="1">
                <a:solidFill>
                  <a:srgbClr val="10B981"/>
                </a:solidFill>
                <a:latin typeface="Calibri"/>
              </a:rPr>
              <a:t>100%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971800"/>
            <a:ext cx="2057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0">
                <a:solidFill>
                  <a:srgbClr val="475569"/>
                </a:solidFill>
                <a:latin typeface="Calibri"/>
              </a:rPr>
              <a:t>completo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3291840"/>
            <a:ext cx="1965960" cy="2194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>
                <a:solidFill>
                  <a:srgbClr val="0F172A"/>
                </a:solidFill>
                <a:latin typeface="Calibri"/>
              </a:rPr>
              <a:t>Mapeo SII × Odoo × Drive completo (compra y venta)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788920" y="1691640"/>
            <a:ext cx="2240280" cy="3840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2788920" y="1691640"/>
            <a:ext cx="2240280" cy="640080"/>
          </a:xfrm>
          <a:prstGeom prst="rect">
            <a:avLst/>
          </a:prstGeom>
          <a:solidFill>
            <a:srgbClr val="FACC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2880360" y="1737360"/>
            <a:ext cx="2057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F2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80360" y="2011680"/>
            <a:ext cx="2057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Integrar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80360" y="2468880"/>
            <a:ext cx="2057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600" b="1">
                <a:solidFill>
                  <a:srgbClr val="FACC15"/>
                </a:solidFill>
                <a:latin typeface="Calibri"/>
              </a:rPr>
              <a:t>50%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880360" y="2971800"/>
            <a:ext cx="2057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0">
                <a:solidFill>
                  <a:srgbClr val="475569"/>
                </a:solidFill>
                <a:latin typeface="Calibri"/>
              </a:rPr>
              <a:t>próximo paso: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26080" y="3291840"/>
            <a:ext cx="1965960" cy="2194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>
                <a:solidFill>
                  <a:srgbClr val="0F172A"/>
                </a:solidFill>
                <a:latin typeface="Calibri"/>
              </a:rPr>
              <a:t>LCV-Compras: 3 fuentes cruzadas diario. Próximo: LCV-Venta + Cobranza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120640" y="1691640"/>
            <a:ext cx="2240280" cy="3840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5120640" y="1691640"/>
            <a:ext cx="2240280" cy="640080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212080" y="1737360"/>
            <a:ext cx="2057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F3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12080" y="2011680"/>
            <a:ext cx="2057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Automatizar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12080" y="2468880"/>
            <a:ext cx="2057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600" b="1">
                <a:solidFill>
                  <a:srgbClr val="EA580C"/>
                </a:solidFill>
                <a:latin typeface="Calibri"/>
              </a:rPr>
              <a:t>30%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212080" y="2971800"/>
            <a:ext cx="2057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0">
                <a:solidFill>
                  <a:srgbClr val="475569"/>
                </a:solidFill>
                <a:latin typeface="Calibri"/>
              </a:rPr>
              <a:t>próximo paso: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57800" y="3291840"/>
            <a:ext cx="1965960" cy="2194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>
                <a:solidFill>
                  <a:srgbClr val="0F172A"/>
                </a:solidFill>
                <a:latin typeface="Calibri"/>
              </a:rPr>
              <a:t>LCV-Compras: cuadre 3-vías + email 7 AM. Próximo: fix incidente Cobranza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452360" y="1691640"/>
            <a:ext cx="2240280" cy="3840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7452360" y="1691640"/>
            <a:ext cx="2240280" cy="64008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7543800" y="1737360"/>
            <a:ext cx="2057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F4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543800" y="2011680"/>
            <a:ext cx="2057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Eficientar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543800" y="2468880"/>
            <a:ext cx="2057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600" b="1">
                <a:solidFill>
                  <a:srgbClr val="DC2626"/>
                </a:solidFill>
                <a:latin typeface="Calibri"/>
              </a:rPr>
              <a:t>0%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543800" y="2971800"/>
            <a:ext cx="2057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0">
                <a:solidFill>
                  <a:srgbClr val="475569"/>
                </a:solidFill>
                <a:latin typeface="Calibri"/>
              </a:rPr>
              <a:t>próximo paso: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589520" y="3291840"/>
            <a:ext cx="1965960" cy="2194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>
                <a:solidFill>
                  <a:srgbClr val="0F172A"/>
                </a:solidFill>
                <a:latin typeface="Calibri"/>
              </a:rPr>
              <a:t>Validación cruzada con auditoría externa automatizada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784080" y="1691640"/>
            <a:ext cx="2240280" cy="3840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9784080" y="1691640"/>
            <a:ext cx="2240280" cy="640080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9875520" y="1737360"/>
            <a:ext cx="2057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F5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875520" y="2011680"/>
            <a:ext cx="2057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Agentes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875520" y="2468880"/>
            <a:ext cx="2057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600" b="1">
                <a:solidFill>
                  <a:srgbClr val="EA580C"/>
                </a:solidFill>
                <a:latin typeface="Calibri"/>
              </a:rPr>
              <a:t>40%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875520" y="2971800"/>
            <a:ext cx="2057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0">
                <a:solidFill>
                  <a:srgbClr val="475569"/>
                </a:solidFill>
                <a:latin typeface="Calibri"/>
              </a:rPr>
              <a:t>próximo paso: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921240" y="3291840"/>
            <a:ext cx="1965960" cy="2194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>
                <a:solidFill>
                  <a:srgbClr val="0F172A"/>
                </a:solidFill>
                <a:latin typeface="Calibri"/>
              </a:rPr>
              <a:t>Agente LCV-Compras en prod. Cobranza pausado. Próximo: fix + 2 ciclos validados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57200" y="5669280"/>
            <a:ext cx="11247120" cy="777240"/>
          </a:xfrm>
          <a:prstGeom prst="roundRect">
            <a:avLst>
              <a:gd name="adj" fmla="val 8000"/>
            </a:avLst>
          </a:prstGeom>
          <a:solidFill>
            <a:srgbClr val="DC2626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640080" y="5760720"/>
            <a:ext cx="1645920" cy="594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🎯 HITO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286000" y="5760720"/>
            <a:ext cx="36576" cy="5943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2468880" y="5760720"/>
            <a:ext cx="20116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31 JUL · OCT 2026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468880" y="6035040"/>
            <a:ext cx="90525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Salidas de Analista Contable #1 (31/07) y Analista Contable #2 (Oct) habilitadas por LCV + Cobranza estables.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457200" y="6537960"/>
            <a:ext cx="11277295" cy="0"/>
          </a:xfrm>
          <a:prstGeom prst="line">
            <a:avLst/>
          </a:prstGeom>
          <a:ln w="9525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457200" y="658368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>
                <a:solidFill>
                  <a:srgbClr val="475569"/>
                </a:solidFill>
                <a:latin typeface="Calibri"/>
              </a:rPr>
              <a:t>Plan IA · Operaciones y Finanzas · Mayo 2026</a:t>
            </a:r>
          </a:p>
        </p:txBody>
      </p:sp>
      <p:pic>
        <p:nvPicPr>
          <p:cNvPr id="47" name="Picture 46" descr="unionx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6565392"/>
            <a:ext cx="464949" cy="228600"/>
          </a:xfrm>
          <a:prstGeom prst="rect">
            <a:avLst/>
          </a:prstGeom>
        </p:spPr>
      </p:pic>
      <p:sp>
        <p:nvSpPr>
          <p:cNvPr id="48" name="TextBox 47"/>
          <p:cNvSpPr txBox="1"/>
          <p:nvPr/>
        </p:nvSpPr>
        <p:spPr>
          <a:xfrm>
            <a:off x="10789920" y="658368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>
                <a:solidFill>
                  <a:srgbClr val="475569"/>
                </a:solidFill>
                <a:latin typeface="Calibri"/>
              </a:rPr>
              <a:t>10 / 27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115568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>
                <a:solidFill>
                  <a:srgbClr val="1E40AF"/>
                </a:solidFill>
                <a:latin typeface="Calibri"/>
              </a:rPr>
              <a:t>SAC / Logística Inversa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51560"/>
            <a:ext cx="111556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>
                <a:solidFill>
                  <a:srgbClr val="475569"/>
                </a:solidFill>
                <a:latin typeface="Calibri"/>
              </a:rPr>
              <a:t>Solo F1 al 30%. Acelerar F1→F3 antes del 31-jul para liberar Analista Log. Inversa.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691640"/>
            <a:ext cx="2240280" cy="3840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457200" y="1691640"/>
            <a:ext cx="2240280" cy="640080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1737360"/>
            <a:ext cx="2057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F1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011680"/>
            <a:ext cx="2057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Auditar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468880"/>
            <a:ext cx="2057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600" b="1">
                <a:solidFill>
                  <a:srgbClr val="EA580C"/>
                </a:solidFill>
                <a:latin typeface="Calibri"/>
              </a:rPr>
              <a:t>30%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971800"/>
            <a:ext cx="2057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0">
                <a:solidFill>
                  <a:srgbClr val="475569"/>
                </a:solidFill>
                <a:latin typeface="Calibri"/>
              </a:rPr>
              <a:t>próximo paso: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3291840"/>
            <a:ext cx="1965960" cy="2194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>
                <a:solidFill>
                  <a:srgbClr val="0F172A"/>
                </a:solidFill>
                <a:latin typeface="Calibri"/>
              </a:rPr>
              <a:t>URGENTE: completar auditoría flujos NC + devoluciones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788920" y="1691640"/>
            <a:ext cx="2240280" cy="3840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2788920" y="1691640"/>
            <a:ext cx="2240280" cy="64008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2880360" y="1737360"/>
            <a:ext cx="2057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F2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80360" y="2011680"/>
            <a:ext cx="2057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Integrar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80360" y="2468880"/>
            <a:ext cx="2057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600" b="1">
                <a:solidFill>
                  <a:srgbClr val="DC2626"/>
                </a:solidFill>
                <a:latin typeface="Calibri"/>
              </a:rPr>
              <a:t>0%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880360" y="2971800"/>
            <a:ext cx="2057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0">
                <a:solidFill>
                  <a:srgbClr val="475569"/>
                </a:solidFill>
                <a:latin typeface="Calibri"/>
              </a:rPr>
              <a:t>próximo paso: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26080" y="3291840"/>
            <a:ext cx="1965960" cy="2194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>
                <a:solidFill>
                  <a:srgbClr val="0F172A"/>
                </a:solidFill>
                <a:latin typeface="Calibri"/>
              </a:rPr>
              <a:t>Modelo unificado NC en Turso · integración con WMS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120640" y="1691640"/>
            <a:ext cx="2240280" cy="3840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5120640" y="1691640"/>
            <a:ext cx="2240280" cy="64008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212080" y="1737360"/>
            <a:ext cx="2057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F3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12080" y="2011680"/>
            <a:ext cx="2057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Automatizar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12080" y="2468880"/>
            <a:ext cx="2057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600" b="1">
                <a:solidFill>
                  <a:srgbClr val="DC2626"/>
                </a:solidFill>
                <a:latin typeface="Calibri"/>
              </a:rPr>
              <a:t>0%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212080" y="2971800"/>
            <a:ext cx="2057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0">
                <a:solidFill>
                  <a:srgbClr val="475569"/>
                </a:solidFill>
                <a:latin typeface="Calibri"/>
              </a:rPr>
              <a:t>próximo paso: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57800" y="3291840"/>
            <a:ext cx="1965960" cy="2194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>
                <a:solidFill>
                  <a:srgbClr val="0F172A"/>
                </a:solidFill>
                <a:latin typeface="Calibri"/>
              </a:rPr>
              <a:t>Informe semanal 100% auto · email sin intervención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452360" y="1691640"/>
            <a:ext cx="2240280" cy="3840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7452360" y="1691640"/>
            <a:ext cx="2240280" cy="64008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7543800" y="1737360"/>
            <a:ext cx="2057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F4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543800" y="2011680"/>
            <a:ext cx="2057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Eficientar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543800" y="2468880"/>
            <a:ext cx="2057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600" b="1">
                <a:solidFill>
                  <a:srgbClr val="DC2626"/>
                </a:solidFill>
                <a:latin typeface="Calibri"/>
              </a:rPr>
              <a:t>0%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543800" y="2971800"/>
            <a:ext cx="2057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0">
                <a:solidFill>
                  <a:srgbClr val="475569"/>
                </a:solidFill>
                <a:latin typeface="Calibri"/>
              </a:rPr>
              <a:t>próximo paso: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589520" y="3291840"/>
            <a:ext cx="1965960" cy="2194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>
                <a:solidFill>
                  <a:srgbClr val="0F172A"/>
                </a:solidFill>
                <a:latin typeface="Calibri"/>
              </a:rPr>
              <a:t>Pendiente F1-F3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784080" y="1691640"/>
            <a:ext cx="2240280" cy="3840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9784080" y="1691640"/>
            <a:ext cx="2240280" cy="64008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9875520" y="1737360"/>
            <a:ext cx="2057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F5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875520" y="2011680"/>
            <a:ext cx="2057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Agentes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875520" y="2468880"/>
            <a:ext cx="2057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600" b="1">
                <a:solidFill>
                  <a:srgbClr val="DC2626"/>
                </a:solidFill>
                <a:latin typeface="Calibri"/>
              </a:rPr>
              <a:t>0%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875520" y="2971800"/>
            <a:ext cx="2057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0">
                <a:solidFill>
                  <a:srgbClr val="475569"/>
                </a:solidFill>
                <a:latin typeface="Calibri"/>
              </a:rPr>
              <a:t>próximo paso: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921240" y="3291840"/>
            <a:ext cx="1965960" cy="2194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>
                <a:solidFill>
                  <a:srgbClr val="0F172A"/>
                </a:solidFill>
                <a:latin typeface="Calibri"/>
              </a:rPr>
              <a:t>Pendiente F1-F3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57200" y="5669280"/>
            <a:ext cx="11247120" cy="777240"/>
          </a:xfrm>
          <a:prstGeom prst="roundRect">
            <a:avLst>
              <a:gd name="adj" fmla="val 8000"/>
            </a:avLst>
          </a:prstGeom>
          <a:solidFill>
            <a:srgbClr val="DC2626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640080" y="5760720"/>
            <a:ext cx="1645920" cy="594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🎯 HITO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286000" y="5760720"/>
            <a:ext cx="36576" cy="5943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2468880" y="5760720"/>
            <a:ext cx="20116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31 JULIO 2026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468880" y="6035040"/>
            <a:ext cx="90525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Salida de Analista Logística Inversa. El informe semanal queda 100% automatizado.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457200" y="6537960"/>
            <a:ext cx="11277295" cy="0"/>
          </a:xfrm>
          <a:prstGeom prst="line">
            <a:avLst/>
          </a:prstGeom>
          <a:ln w="9525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457200" y="658368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>
                <a:solidFill>
                  <a:srgbClr val="475569"/>
                </a:solidFill>
                <a:latin typeface="Calibri"/>
              </a:rPr>
              <a:t>Plan IA · Operaciones y Finanzas · Mayo 2026</a:t>
            </a:r>
          </a:p>
        </p:txBody>
      </p:sp>
      <p:pic>
        <p:nvPicPr>
          <p:cNvPr id="47" name="Picture 46" descr="unionx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6565392"/>
            <a:ext cx="464949" cy="228600"/>
          </a:xfrm>
          <a:prstGeom prst="rect">
            <a:avLst/>
          </a:prstGeom>
        </p:spPr>
      </p:pic>
      <p:sp>
        <p:nvSpPr>
          <p:cNvPr id="48" name="TextBox 47"/>
          <p:cNvSpPr txBox="1"/>
          <p:nvPr/>
        </p:nvSpPr>
        <p:spPr>
          <a:xfrm>
            <a:off x="10789920" y="658368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>
                <a:solidFill>
                  <a:srgbClr val="475569"/>
                </a:solidFill>
                <a:latin typeface="Calibri"/>
              </a:rPr>
              <a:t>11 / 27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115568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>
                <a:solidFill>
                  <a:srgbClr val="1E40AF"/>
                </a:solidFill>
                <a:latin typeface="Calibri"/>
              </a:rPr>
              <a:t>Facturación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51560"/>
            <a:ext cx="111556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>
                <a:solidFill>
                  <a:srgbClr val="475569"/>
                </a:solidFill>
                <a:latin typeface="Calibri"/>
              </a:rPr>
              <a:t>POC etiqueta + deadline activo. Cerrar F2-F3 antes de 15-ago y 15-sep.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691640"/>
            <a:ext cx="2240280" cy="3840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457200" y="1691640"/>
            <a:ext cx="2240280" cy="64008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1737360"/>
            <a:ext cx="2057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F1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011680"/>
            <a:ext cx="2057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Auditar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468880"/>
            <a:ext cx="2057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600" b="1">
                <a:solidFill>
                  <a:srgbClr val="10B981"/>
                </a:solidFill>
                <a:latin typeface="Calibri"/>
              </a:rPr>
              <a:t>100%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971800"/>
            <a:ext cx="2057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0">
                <a:solidFill>
                  <a:srgbClr val="475569"/>
                </a:solidFill>
                <a:latin typeface="Calibri"/>
              </a:rPr>
              <a:t>completo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3291840"/>
            <a:ext cx="1965960" cy="2194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>
                <a:solidFill>
                  <a:srgbClr val="0F172A"/>
                </a:solidFill>
                <a:latin typeface="Calibri"/>
              </a:rPr>
              <a:t>Flujos por canal mapeados · criterios facturación documentados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788920" y="1691640"/>
            <a:ext cx="2240280" cy="3840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2788920" y="1691640"/>
            <a:ext cx="2240280" cy="64008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2880360" y="1737360"/>
            <a:ext cx="2057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F2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80360" y="2011680"/>
            <a:ext cx="2057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Integrar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80360" y="2468880"/>
            <a:ext cx="2057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600" b="1">
                <a:solidFill>
                  <a:srgbClr val="DC2626"/>
                </a:solidFill>
                <a:latin typeface="Calibri"/>
              </a:rPr>
              <a:t>0%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880360" y="2971800"/>
            <a:ext cx="2057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0">
                <a:solidFill>
                  <a:srgbClr val="475569"/>
                </a:solidFill>
                <a:latin typeface="Calibri"/>
              </a:rPr>
              <a:t>próximo paso: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26080" y="3291840"/>
            <a:ext cx="1965960" cy="2194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>
                <a:solidFill>
                  <a:srgbClr val="0F172A"/>
                </a:solidFill>
                <a:latin typeface="Calibri"/>
              </a:rPr>
              <a:t>Centralizar criterio facturación por canal en tabla única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120640" y="1691640"/>
            <a:ext cx="2240280" cy="3840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5120640" y="1691640"/>
            <a:ext cx="2240280" cy="64008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212080" y="1737360"/>
            <a:ext cx="2057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F3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12080" y="2011680"/>
            <a:ext cx="2057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Automatizar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12080" y="2468880"/>
            <a:ext cx="2057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600" b="1">
                <a:solidFill>
                  <a:srgbClr val="DC2626"/>
                </a:solidFill>
                <a:latin typeface="Calibri"/>
              </a:rPr>
              <a:t>10%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212080" y="2971800"/>
            <a:ext cx="2057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0">
                <a:solidFill>
                  <a:srgbClr val="475569"/>
                </a:solidFill>
                <a:latin typeface="Calibri"/>
              </a:rPr>
              <a:t>próximo paso: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57800" y="3291840"/>
            <a:ext cx="1965960" cy="2194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>
                <a:solidFill>
                  <a:srgbClr val="0F172A"/>
                </a:solidFill>
                <a:latin typeface="Calibri"/>
              </a:rPr>
              <a:t>POC etiqueta + deadline activo. Próximo: producción + 2 ciclos validados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452360" y="1691640"/>
            <a:ext cx="2240280" cy="3840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7452360" y="1691640"/>
            <a:ext cx="2240280" cy="64008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7543800" y="1737360"/>
            <a:ext cx="2057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F4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543800" y="2011680"/>
            <a:ext cx="2057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Eficientar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543800" y="2468880"/>
            <a:ext cx="2057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600" b="1">
                <a:solidFill>
                  <a:srgbClr val="DC2626"/>
                </a:solidFill>
                <a:latin typeface="Calibri"/>
              </a:rPr>
              <a:t>0%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543800" y="2971800"/>
            <a:ext cx="2057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0">
                <a:solidFill>
                  <a:srgbClr val="475569"/>
                </a:solidFill>
                <a:latin typeface="Calibri"/>
              </a:rPr>
              <a:t>próximo paso: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589520" y="3291840"/>
            <a:ext cx="1965960" cy="2194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>
                <a:solidFill>
                  <a:srgbClr val="0F172A"/>
                </a:solidFill>
                <a:latin typeface="Calibri"/>
              </a:rPr>
              <a:t>Pendiente F2-F3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784080" y="1691640"/>
            <a:ext cx="2240280" cy="3840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9784080" y="1691640"/>
            <a:ext cx="2240280" cy="64008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9875520" y="1737360"/>
            <a:ext cx="2057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F5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875520" y="2011680"/>
            <a:ext cx="2057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Agentes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875520" y="2468880"/>
            <a:ext cx="2057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600" b="1">
                <a:solidFill>
                  <a:srgbClr val="DC2626"/>
                </a:solidFill>
                <a:latin typeface="Calibri"/>
              </a:rPr>
              <a:t>0%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875520" y="2971800"/>
            <a:ext cx="2057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0">
                <a:solidFill>
                  <a:srgbClr val="475569"/>
                </a:solidFill>
                <a:latin typeface="Calibri"/>
              </a:rPr>
              <a:t>próximo paso: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921240" y="3291840"/>
            <a:ext cx="1965960" cy="2194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>
                <a:solidFill>
                  <a:srgbClr val="0F172A"/>
                </a:solidFill>
                <a:latin typeface="Calibri"/>
              </a:rPr>
              <a:t>Pendiente F2-F3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57200" y="5669280"/>
            <a:ext cx="11247120" cy="777240"/>
          </a:xfrm>
          <a:prstGeom prst="roundRect">
            <a:avLst>
              <a:gd name="adj" fmla="val 8000"/>
            </a:avLst>
          </a:prstGeom>
          <a:solidFill>
            <a:srgbClr val="DC2626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640080" y="5760720"/>
            <a:ext cx="1645920" cy="594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🎯 HITO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286000" y="5760720"/>
            <a:ext cx="36576" cy="5943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2468880" y="5760720"/>
            <a:ext cx="20116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15 AGO · 15 SEP 2026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468880" y="6035040"/>
            <a:ext cx="90525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Salida de Facturadora #1 (15/08) y Facturadora #2 (15/09). POC etiqueta+deadline las reemplaza.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457200" y="6537960"/>
            <a:ext cx="11277295" cy="0"/>
          </a:xfrm>
          <a:prstGeom prst="line">
            <a:avLst/>
          </a:prstGeom>
          <a:ln w="9525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457200" y="658368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>
                <a:solidFill>
                  <a:srgbClr val="475569"/>
                </a:solidFill>
                <a:latin typeface="Calibri"/>
              </a:rPr>
              <a:t>Plan IA · Operaciones y Finanzas · Mayo 2026</a:t>
            </a:r>
          </a:p>
        </p:txBody>
      </p:sp>
      <p:pic>
        <p:nvPicPr>
          <p:cNvPr id="47" name="Picture 46" descr="unionx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6565392"/>
            <a:ext cx="464949" cy="228600"/>
          </a:xfrm>
          <a:prstGeom prst="rect">
            <a:avLst/>
          </a:prstGeom>
        </p:spPr>
      </p:pic>
      <p:sp>
        <p:nvSpPr>
          <p:cNvPr id="48" name="TextBox 47"/>
          <p:cNvSpPr txBox="1"/>
          <p:nvPr/>
        </p:nvSpPr>
        <p:spPr>
          <a:xfrm>
            <a:off x="10789920" y="658368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>
                <a:solidFill>
                  <a:srgbClr val="475569"/>
                </a:solidFill>
                <a:latin typeface="Calibri"/>
              </a:rPr>
              <a:t>12 / 27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115568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>
                <a:solidFill>
                  <a:srgbClr val="1E40AF"/>
                </a:solidFill>
                <a:latin typeface="Calibri"/>
              </a:rPr>
              <a:t>EEFF — Estados Financieros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51560"/>
            <a:ext cx="111556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>
                <a:solidFill>
                  <a:srgbClr val="475569"/>
                </a:solidFill>
                <a:latin typeface="Calibri"/>
              </a:rPr>
              <a:t>EEFF en vivo desde Odoo con reglas contables, integrados a la planilla de planificación financiera.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691640"/>
            <a:ext cx="2240280" cy="3840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457200" y="1691640"/>
            <a:ext cx="2240280" cy="640080"/>
          </a:xfrm>
          <a:prstGeom prst="rect">
            <a:avLst/>
          </a:prstGeom>
          <a:solidFill>
            <a:srgbClr val="FACC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1737360"/>
            <a:ext cx="2057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F1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011680"/>
            <a:ext cx="2057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Auditar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468880"/>
            <a:ext cx="2057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600" b="1">
                <a:solidFill>
                  <a:srgbClr val="FACC15"/>
                </a:solidFill>
                <a:latin typeface="Calibri"/>
              </a:rPr>
              <a:t>50%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971800"/>
            <a:ext cx="2057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0">
                <a:solidFill>
                  <a:srgbClr val="475569"/>
                </a:solidFill>
                <a:latin typeface="Calibri"/>
              </a:rPr>
              <a:t>próximo paso: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3291840"/>
            <a:ext cx="1965960" cy="2194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>
                <a:solidFill>
                  <a:srgbClr val="0F172A"/>
                </a:solidFill>
                <a:latin typeface="Calibri"/>
              </a:rPr>
              <a:t>Próximo: completar mapeo cuentas faltantes · reglas contables documentadas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788920" y="1691640"/>
            <a:ext cx="2240280" cy="3840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2788920" y="1691640"/>
            <a:ext cx="2240280" cy="64008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2880360" y="1737360"/>
            <a:ext cx="2057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F2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80360" y="2011680"/>
            <a:ext cx="2057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Integrar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80360" y="2468880"/>
            <a:ext cx="2057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600" b="1">
                <a:solidFill>
                  <a:srgbClr val="DC2626"/>
                </a:solidFill>
                <a:latin typeface="Calibri"/>
              </a:rPr>
              <a:t>0%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880360" y="2971800"/>
            <a:ext cx="2057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0">
                <a:solidFill>
                  <a:srgbClr val="475569"/>
                </a:solidFill>
                <a:latin typeface="Calibri"/>
              </a:rPr>
              <a:t>próximo paso: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26080" y="3291840"/>
            <a:ext cx="1965960" cy="2194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>
                <a:solidFill>
                  <a:srgbClr val="0F172A"/>
                </a:solidFill>
                <a:latin typeface="Calibri"/>
              </a:rPr>
              <a:t>Conectar Odoo → modelo EEFF en vivo aplicando reglas contables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120640" y="1691640"/>
            <a:ext cx="2240280" cy="3840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5120640" y="1691640"/>
            <a:ext cx="2240280" cy="64008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212080" y="1737360"/>
            <a:ext cx="2057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F3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12080" y="2011680"/>
            <a:ext cx="2057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Automatizar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12080" y="2468880"/>
            <a:ext cx="2057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600" b="1">
                <a:solidFill>
                  <a:srgbClr val="DC2626"/>
                </a:solidFill>
                <a:latin typeface="Calibri"/>
              </a:rPr>
              <a:t>0%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212080" y="2971800"/>
            <a:ext cx="2057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0">
                <a:solidFill>
                  <a:srgbClr val="475569"/>
                </a:solidFill>
                <a:latin typeface="Calibri"/>
              </a:rPr>
              <a:t>próximo paso: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57800" y="3291840"/>
            <a:ext cx="1965960" cy="2194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>
                <a:solidFill>
                  <a:srgbClr val="0F172A"/>
                </a:solidFill>
                <a:latin typeface="Calibri"/>
              </a:rPr>
              <a:t>EEFF en vivo en planilla planif. financiera · idealmente automatizada en la app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452360" y="1691640"/>
            <a:ext cx="2240280" cy="3840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7452360" y="1691640"/>
            <a:ext cx="2240280" cy="64008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7543800" y="1737360"/>
            <a:ext cx="2057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F4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543800" y="2011680"/>
            <a:ext cx="2057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Eficientar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543800" y="2468880"/>
            <a:ext cx="2057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600" b="1">
                <a:solidFill>
                  <a:srgbClr val="DC2626"/>
                </a:solidFill>
                <a:latin typeface="Calibri"/>
              </a:rPr>
              <a:t>0%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543800" y="2971800"/>
            <a:ext cx="2057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0">
                <a:solidFill>
                  <a:srgbClr val="475569"/>
                </a:solidFill>
                <a:latin typeface="Calibri"/>
              </a:rPr>
              <a:t>próximo paso: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589520" y="3291840"/>
            <a:ext cx="1965960" cy="2194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>
                <a:solidFill>
                  <a:srgbClr val="0F172A"/>
                </a:solidFill>
                <a:latin typeface="Calibri"/>
              </a:rPr>
              <a:t>Pendiente F2-F3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784080" y="1691640"/>
            <a:ext cx="2240280" cy="3840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9784080" y="1691640"/>
            <a:ext cx="2240280" cy="64008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9875520" y="1737360"/>
            <a:ext cx="2057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F5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875520" y="2011680"/>
            <a:ext cx="2057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Agentes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875520" y="2468880"/>
            <a:ext cx="2057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600" b="1">
                <a:solidFill>
                  <a:srgbClr val="DC2626"/>
                </a:solidFill>
                <a:latin typeface="Calibri"/>
              </a:rPr>
              <a:t>0%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875520" y="2971800"/>
            <a:ext cx="2057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0">
                <a:solidFill>
                  <a:srgbClr val="475569"/>
                </a:solidFill>
                <a:latin typeface="Calibri"/>
              </a:rPr>
              <a:t>próximo paso: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921240" y="3291840"/>
            <a:ext cx="1965960" cy="2194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>
                <a:solidFill>
                  <a:srgbClr val="0F172A"/>
                </a:solidFill>
                <a:latin typeface="Calibri"/>
              </a:rPr>
              <a:t>Pendiente F2-F3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57200" y="5669280"/>
            <a:ext cx="11247120" cy="777240"/>
          </a:xfrm>
          <a:prstGeom prst="roundRect">
            <a:avLst>
              <a:gd name="adj" fmla="val 8000"/>
            </a:avLst>
          </a:prstGeom>
          <a:solidFill>
            <a:srgbClr val="DC2626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640080" y="5760720"/>
            <a:ext cx="1645920" cy="594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🎯 HITO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286000" y="5760720"/>
            <a:ext cx="36576" cy="5943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2468880" y="5760720"/>
            <a:ext cx="20116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30 SEPTIEMBRE 2026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468880" y="6035040"/>
            <a:ext cx="90525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Salida de Control de Gestión (Gabriela). EEFF en vivo en planilla planif. financiera.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457200" y="6537960"/>
            <a:ext cx="11277295" cy="0"/>
          </a:xfrm>
          <a:prstGeom prst="line">
            <a:avLst/>
          </a:prstGeom>
          <a:ln w="9525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457200" y="658368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>
                <a:solidFill>
                  <a:srgbClr val="475569"/>
                </a:solidFill>
                <a:latin typeface="Calibri"/>
              </a:rPr>
              <a:t>Plan IA · Operaciones y Finanzas · Mayo 2026</a:t>
            </a:r>
          </a:p>
        </p:txBody>
      </p:sp>
      <p:pic>
        <p:nvPicPr>
          <p:cNvPr id="47" name="Picture 46" descr="unionx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6565392"/>
            <a:ext cx="464949" cy="228600"/>
          </a:xfrm>
          <a:prstGeom prst="rect">
            <a:avLst/>
          </a:prstGeom>
        </p:spPr>
      </p:pic>
      <p:sp>
        <p:nvSpPr>
          <p:cNvPr id="48" name="TextBox 47"/>
          <p:cNvSpPr txBox="1"/>
          <p:nvPr/>
        </p:nvSpPr>
        <p:spPr>
          <a:xfrm>
            <a:off x="10789920" y="658368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>
                <a:solidFill>
                  <a:srgbClr val="475569"/>
                </a:solidFill>
                <a:latin typeface="Calibri"/>
              </a:rPr>
              <a:t>13 / 27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115568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>
                <a:solidFill>
                  <a:srgbClr val="1E40AF"/>
                </a:solidFill>
                <a:latin typeface="Calibri"/>
              </a:rPr>
              <a:t>Planificación — Triada (stock + llegadas + demanda)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51560"/>
            <a:ext cx="111556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>
                <a:solidFill>
                  <a:srgbClr val="475569"/>
                </a:solidFill>
                <a:latin typeface="Calibri"/>
              </a:rPr>
              <a:t>App ya en producción F2. En junio el equipo de Planificación toma 100% el control del contenido.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691640"/>
            <a:ext cx="2240280" cy="3840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457200" y="1691640"/>
            <a:ext cx="2240280" cy="64008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1737360"/>
            <a:ext cx="2057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F1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011680"/>
            <a:ext cx="2057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Auditar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468880"/>
            <a:ext cx="2057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600" b="1">
                <a:solidFill>
                  <a:srgbClr val="10B981"/>
                </a:solidFill>
                <a:latin typeface="Calibri"/>
              </a:rPr>
              <a:t>100%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971800"/>
            <a:ext cx="2057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0">
                <a:solidFill>
                  <a:srgbClr val="475569"/>
                </a:solidFill>
                <a:latin typeface="Calibri"/>
              </a:rPr>
              <a:t>completo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3291840"/>
            <a:ext cx="1965960" cy="2194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>
                <a:solidFill>
                  <a:srgbClr val="0F172A"/>
                </a:solidFill>
                <a:latin typeface="Calibri"/>
              </a:rPr>
              <a:t>Flujos planificación auditados · Triada definida: stock + llegadas + demanda → cobertura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788920" y="1691640"/>
            <a:ext cx="2240280" cy="3840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2788920" y="1691640"/>
            <a:ext cx="2240280" cy="64008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2880360" y="1737360"/>
            <a:ext cx="2057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F2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80360" y="2011680"/>
            <a:ext cx="2057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Integrar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80360" y="2468880"/>
            <a:ext cx="2057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600" b="1">
                <a:solidFill>
                  <a:srgbClr val="10B981"/>
                </a:solidFill>
                <a:latin typeface="Calibri"/>
              </a:rPr>
              <a:t>100%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880360" y="2971800"/>
            <a:ext cx="2057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0">
                <a:solidFill>
                  <a:srgbClr val="475569"/>
                </a:solidFill>
                <a:latin typeface="Calibri"/>
              </a:rPr>
              <a:t>completo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26080" y="3291840"/>
            <a:ext cx="1965960" cy="2194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>
                <a:solidFill>
                  <a:srgbClr val="0F172A"/>
                </a:solidFill>
                <a:latin typeface="Calibri"/>
              </a:rPr>
              <a:t>App Planificación en producción · Triada Proyectada (baseline + live)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120640" y="1691640"/>
            <a:ext cx="2240280" cy="3840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5120640" y="1691640"/>
            <a:ext cx="2240280" cy="64008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212080" y="1737360"/>
            <a:ext cx="2057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F3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12080" y="2011680"/>
            <a:ext cx="2057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Automatizar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12080" y="2468880"/>
            <a:ext cx="2057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600" b="1">
                <a:solidFill>
                  <a:srgbClr val="DC2626"/>
                </a:solidFill>
                <a:latin typeface="Calibri"/>
              </a:rPr>
              <a:t>0%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212080" y="2971800"/>
            <a:ext cx="2057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0">
                <a:solidFill>
                  <a:srgbClr val="475569"/>
                </a:solidFill>
                <a:latin typeface="Calibri"/>
              </a:rPr>
              <a:t>próximo paso: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57800" y="3291840"/>
            <a:ext cx="1965960" cy="2194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>
                <a:solidFill>
                  <a:srgbClr val="0F172A"/>
                </a:solidFill>
                <a:latin typeface="Calibri"/>
              </a:rPr>
              <a:t>Equipo Planificación toma control del contenido · feed COMEX pre-embarque y producción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452360" y="1691640"/>
            <a:ext cx="2240280" cy="3840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7452360" y="1691640"/>
            <a:ext cx="2240280" cy="64008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7543800" y="1737360"/>
            <a:ext cx="2057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F4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543800" y="2011680"/>
            <a:ext cx="2057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Eficientar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543800" y="2468880"/>
            <a:ext cx="2057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600" b="1">
                <a:solidFill>
                  <a:srgbClr val="DC2626"/>
                </a:solidFill>
                <a:latin typeface="Calibri"/>
              </a:rPr>
              <a:t>0%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543800" y="2971800"/>
            <a:ext cx="2057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0">
                <a:solidFill>
                  <a:srgbClr val="475569"/>
                </a:solidFill>
                <a:latin typeface="Calibri"/>
              </a:rPr>
              <a:t>próximo paso: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589520" y="3291840"/>
            <a:ext cx="1965960" cy="2194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>
                <a:solidFill>
                  <a:srgbClr val="0F172A"/>
                </a:solidFill>
                <a:latin typeface="Calibri"/>
              </a:rPr>
              <a:t>Pendiente F3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784080" y="1691640"/>
            <a:ext cx="2240280" cy="3840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9784080" y="1691640"/>
            <a:ext cx="2240280" cy="64008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9875520" y="1737360"/>
            <a:ext cx="2057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F5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875520" y="2011680"/>
            <a:ext cx="2057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Agentes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875520" y="2468880"/>
            <a:ext cx="2057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600" b="1">
                <a:solidFill>
                  <a:srgbClr val="DC2626"/>
                </a:solidFill>
                <a:latin typeface="Calibri"/>
              </a:rPr>
              <a:t>0%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875520" y="2971800"/>
            <a:ext cx="2057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0">
                <a:solidFill>
                  <a:srgbClr val="475569"/>
                </a:solidFill>
                <a:latin typeface="Calibri"/>
              </a:rPr>
              <a:t>próximo paso: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921240" y="3291840"/>
            <a:ext cx="1965960" cy="2194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>
                <a:solidFill>
                  <a:srgbClr val="0F172A"/>
                </a:solidFill>
                <a:latin typeface="Calibri"/>
              </a:rPr>
              <a:t>Agente sugiere ajustes a planificación según señales de demanda real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57200" y="5669280"/>
            <a:ext cx="11247120" cy="777240"/>
          </a:xfrm>
          <a:prstGeom prst="roundRect">
            <a:avLst>
              <a:gd name="adj" fmla="val 8000"/>
            </a:avLst>
          </a:prstGeom>
          <a:solidFill>
            <a:srgbClr val="1E40A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640080" y="5760720"/>
            <a:ext cx="1645920" cy="594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🎯 HITO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286000" y="5760720"/>
            <a:ext cx="36576" cy="5943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2468880" y="5760720"/>
            <a:ext cx="20116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JUNIO 2026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468880" y="6035040"/>
            <a:ext cx="90525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Equipo Planificación toma 100% el control del contenido. La Triada se alimenta de COMEX pre-embarque + producción.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457200" y="6537960"/>
            <a:ext cx="11277295" cy="0"/>
          </a:xfrm>
          <a:prstGeom prst="line">
            <a:avLst/>
          </a:prstGeom>
          <a:ln w="9525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457200" y="658368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>
                <a:solidFill>
                  <a:srgbClr val="475569"/>
                </a:solidFill>
                <a:latin typeface="Calibri"/>
              </a:rPr>
              <a:t>Plan IA · Operaciones y Finanzas · Mayo 2026</a:t>
            </a:r>
          </a:p>
        </p:txBody>
      </p:sp>
      <p:pic>
        <p:nvPicPr>
          <p:cNvPr id="47" name="Picture 46" descr="unionx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6565392"/>
            <a:ext cx="464949" cy="228600"/>
          </a:xfrm>
          <a:prstGeom prst="rect">
            <a:avLst/>
          </a:prstGeom>
        </p:spPr>
      </p:pic>
      <p:sp>
        <p:nvSpPr>
          <p:cNvPr id="48" name="TextBox 47"/>
          <p:cNvSpPr txBox="1"/>
          <p:nvPr/>
        </p:nvSpPr>
        <p:spPr>
          <a:xfrm>
            <a:off x="10789920" y="658368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>
                <a:solidFill>
                  <a:srgbClr val="475569"/>
                </a:solidFill>
                <a:latin typeface="Calibri"/>
              </a:rPr>
              <a:t>14 / 27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115568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>
                <a:solidFill>
                  <a:srgbClr val="1E40AF"/>
                </a:solidFill>
                <a:latin typeface="Calibri"/>
              </a:rPr>
              <a:t>Eficiencias directas identificadas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51560"/>
            <a:ext cx="111556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>
                <a:solidFill>
                  <a:srgbClr val="475569"/>
                </a:solidFill>
                <a:latin typeface="Calibri"/>
              </a:rPr>
              <a:t>Ahorros calculados con cifras del P&amp;L. Eficiencia en GAV operacional para 2027.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691640"/>
            <a:ext cx="5577840" cy="1828800"/>
          </a:xfrm>
          <a:prstGeom prst="roundRect">
            <a:avLst>
              <a:gd name="adj" fmla="val 8000"/>
            </a:avLst>
          </a:prstGeom>
          <a:solidFill>
            <a:srgbClr val="4A90E2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1828800"/>
            <a:ext cx="53035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AHORRO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194560"/>
            <a:ext cx="530352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5800" b="1">
                <a:solidFill>
                  <a:srgbClr val="FFFFFF"/>
                </a:solidFill>
                <a:latin typeface="Calibri"/>
              </a:rPr>
              <a:t>$32,85 MM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108960"/>
            <a:ext cx="53035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junio-diciembre 2026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1691640"/>
            <a:ext cx="5577840" cy="1828800"/>
          </a:xfrm>
          <a:prstGeom prst="roundRect">
            <a:avLst>
              <a:gd name="adj" fmla="val 8000"/>
            </a:avLst>
          </a:prstGeom>
          <a:solidFill>
            <a:srgbClr val="10B981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309360" y="1828800"/>
            <a:ext cx="53035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EFICIENCIA GAV OPERACIONAL 2027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9360" y="2194560"/>
            <a:ext cx="530352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5800" b="1">
                <a:solidFill>
                  <a:srgbClr val="FFFFFF"/>
                </a:solidFill>
                <a:latin typeface="Calibri"/>
              </a:rPr>
              <a:t>$99,7 MM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09360" y="3108960"/>
            <a:ext cx="53035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run-rate anualizado · solo costos directos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749039"/>
            <a:ext cx="11430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>
                <a:solidFill>
                  <a:srgbClr val="475569"/>
                </a:solidFill>
                <a:latin typeface="Calibri"/>
              </a:rPr>
              <a:t>DESGLOSE POR CATEGORÍA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4206240"/>
            <a:ext cx="5943600" cy="457200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0080" y="4251960"/>
            <a:ext cx="576072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Categoría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46520" y="4206240"/>
            <a:ext cx="1828800" cy="457200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46520" y="4251960"/>
            <a:ext cx="18288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2026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321040" y="4206240"/>
            <a:ext cx="1828800" cy="457200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321040" y="4251960"/>
            <a:ext cx="18288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Run-rate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0195560" y="4206240"/>
            <a:ext cx="1508760" cy="457200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0195560" y="4251960"/>
            <a:ext cx="150876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% del total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4709160"/>
            <a:ext cx="5943600" cy="41148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40080" y="4709160"/>
            <a:ext cx="576072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0">
                <a:solidFill>
                  <a:srgbClr val="0F172A"/>
                </a:solidFill>
                <a:latin typeface="Calibri"/>
              </a:rPr>
              <a:t>Personal (6 cargos + cargas)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46520" y="4709160"/>
            <a:ext cx="1828800" cy="41148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446520" y="4709160"/>
            <a:ext cx="182880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>
                <a:solidFill>
                  <a:srgbClr val="1E40AF"/>
                </a:solidFill>
                <a:latin typeface="Calibri"/>
              </a:rPr>
              <a:t>$28,4 MM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321040" y="4709160"/>
            <a:ext cx="1828800" cy="41148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321040" y="4709160"/>
            <a:ext cx="182880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>
                <a:solidFill>
                  <a:srgbClr val="10B981"/>
                </a:solidFill>
                <a:latin typeface="Calibri"/>
              </a:rPr>
              <a:t>$91,0 MM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0195560" y="4709160"/>
            <a:ext cx="1508760" cy="41148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10195560" y="4709160"/>
            <a:ext cx="150876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0">
                <a:solidFill>
                  <a:srgbClr val="475569"/>
                </a:solidFill>
                <a:latin typeface="Calibri"/>
              </a:rPr>
              <a:t>91%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7200" y="5166360"/>
            <a:ext cx="594360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40080" y="5166360"/>
            <a:ext cx="576072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0">
                <a:solidFill>
                  <a:srgbClr val="0F172A"/>
                </a:solidFill>
                <a:latin typeface="Calibri"/>
              </a:rPr>
              <a:t>Reducción usuarios Odoo (35 → 15)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446520" y="5166360"/>
            <a:ext cx="182880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446520" y="5166360"/>
            <a:ext cx="182880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>
                <a:solidFill>
                  <a:srgbClr val="4A90E2"/>
                </a:solidFill>
                <a:latin typeface="Calibri"/>
              </a:rPr>
              <a:t>$2,7 MM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321040" y="5166360"/>
            <a:ext cx="182880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8321040" y="5166360"/>
            <a:ext cx="182880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>
                <a:solidFill>
                  <a:srgbClr val="10B981"/>
                </a:solidFill>
                <a:latin typeface="Calibri"/>
              </a:rPr>
              <a:t>$5,47 MM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0195560" y="5166360"/>
            <a:ext cx="150876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10195560" y="5166360"/>
            <a:ext cx="150876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0">
                <a:solidFill>
                  <a:srgbClr val="475569"/>
                </a:solidFill>
                <a:latin typeface="Calibri"/>
              </a:rPr>
              <a:t>5%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57200" y="5623560"/>
            <a:ext cx="5943600" cy="41148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640080" y="5623560"/>
            <a:ext cx="576072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0">
                <a:solidFill>
                  <a:srgbClr val="0F172A"/>
                </a:solidFill>
                <a:latin typeface="Calibri"/>
              </a:rPr>
              <a:t>Eliminación Multivende (desde jun)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446520" y="5623560"/>
            <a:ext cx="1828800" cy="41148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6446520" y="5623560"/>
            <a:ext cx="182880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>
                <a:solidFill>
                  <a:srgbClr val="4A90E2"/>
                </a:solidFill>
                <a:latin typeface="Calibri"/>
              </a:rPr>
              <a:t>$1,15 MM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321040" y="5623560"/>
            <a:ext cx="1828800" cy="41148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8321040" y="5623560"/>
            <a:ext cx="182880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>
                <a:solidFill>
                  <a:srgbClr val="10B981"/>
                </a:solidFill>
                <a:latin typeface="Calibri"/>
              </a:rPr>
              <a:t>$1,98 MM</a:t>
            </a:r>
          </a:p>
        </p:txBody>
      </p:sp>
      <p:sp>
        <p:nvSpPr>
          <p:cNvPr id="44" name="Rectangle 43"/>
          <p:cNvSpPr/>
          <p:nvPr/>
        </p:nvSpPr>
        <p:spPr>
          <a:xfrm>
            <a:off x="10195560" y="5623560"/>
            <a:ext cx="1508760" cy="41148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10195560" y="5623560"/>
            <a:ext cx="150876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0">
                <a:solidFill>
                  <a:srgbClr val="475569"/>
                </a:solidFill>
                <a:latin typeface="Calibri"/>
              </a:rPr>
              <a:t>2%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57200" y="6080760"/>
            <a:ext cx="594360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640080" y="6080760"/>
            <a:ext cx="576072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0">
                <a:solidFill>
                  <a:srgbClr val="0F172A"/>
                </a:solidFill>
                <a:latin typeface="Calibri"/>
              </a:rPr>
              <a:t>Fulfillment Falabella +10%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446520" y="6080760"/>
            <a:ext cx="182880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6446520" y="6080760"/>
            <a:ext cx="182880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>
                <a:solidFill>
                  <a:srgbClr val="4A90E2"/>
                </a:solidFill>
                <a:latin typeface="Calibri"/>
              </a:rPr>
              <a:t>$0,6 MM</a:t>
            </a:r>
          </a:p>
        </p:txBody>
      </p:sp>
      <p:sp>
        <p:nvSpPr>
          <p:cNvPr id="50" name="Rectangle 49"/>
          <p:cNvSpPr/>
          <p:nvPr/>
        </p:nvSpPr>
        <p:spPr>
          <a:xfrm>
            <a:off x="8321040" y="6080760"/>
            <a:ext cx="182880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8321040" y="6080760"/>
            <a:ext cx="182880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>
                <a:solidFill>
                  <a:srgbClr val="10B981"/>
                </a:solidFill>
                <a:latin typeface="Calibri"/>
              </a:rPr>
              <a:t>$1,28 MM</a:t>
            </a:r>
          </a:p>
        </p:txBody>
      </p:sp>
      <p:sp>
        <p:nvSpPr>
          <p:cNvPr id="52" name="Rectangle 51"/>
          <p:cNvSpPr/>
          <p:nvPr/>
        </p:nvSpPr>
        <p:spPr>
          <a:xfrm>
            <a:off x="10195560" y="6080760"/>
            <a:ext cx="150876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10195560" y="6080760"/>
            <a:ext cx="150876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0">
                <a:solidFill>
                  <a:srgbClr val="475569"/>
                </a:solidFill>
                <a:latin typeface="Calibri"/>
              </a:rPr>
              <a:t>1%</a:t>
            </a:r>
          </a:p>
        </p:txBody>
      </p:sp>
      <p:cxnSp>
        <p:nvCxnSpPr>
          <p:cNvPr id="54" name="Connector 53"/>
          <p:cNvCxnSpPr/>
          <p:nvPr/>
        </p:nvCxnSpPr>
        <p:spPr>
          <a:xfrm>
            <a:off x="457200" y="6537960"/>
            <a:ext cx="11277295" cy="0"/>
          </a:xfrm>
          <a:prstGeom prst="line">
            <a:avLst/>
          </a:prstGeom>
          <a:ln w="9525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TextBox 54"/>
          <p:cNvSpPr txBox="1"/>
          <p:nvPr/>
        </p:nvSpPr>
        <p:spPr>
          <a:xfrm>
            <a:off x="457200" y="658368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>
                <a:solidFill>
                  <a:srgbClr val="475569"/>
                </a:solidFill>
                <a:latin typeface="Calibri"/>
              </a:rPr>
              <a:t>Plan IA · Operaciones y Finanzas · Mayo 2026</a:t>
            </a:r>
          </a:p>
        </p:txBody>
      </p:sp>
      <p:pic>
        <p:nvPicPr>
          <p:cNvPr id="56" name="Picture 55" descr="unionx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6565392"/>
            <a:ext cx="464949" cy="228600"/>
          </a:xfrm>
          <a:prstGeom prst="rect">
            <a:avLst/>
          </a:prstGeom>
        </p:spPr>
      </p:pic>
      <p:sp>
        <p:nvSpPr>
          <p:cNvPr id="57" name="TextBox 56"/>
          <p:cNvSpPr txBox="1"/>
          <p:nvPr/>
        </p:nvSpPr>
        <p:spPr>
          <a:xfrm>
            <a:off x="10789920" y="658368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>
                <a:solidFill>
                  <a:srgbClr val="475569"/>
                </a:solidFill>
                <a:latin typeface="Calibri"/>
              </a:rPr>
              <a:t>15 / 27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115568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>
                <a:solidFill>
                  <a:srgbClr val="1E40AF"/>
                </a:solidFill>
                <a:latin typeface="Calibri"/>
              </a:rPr>
              <a:t>Reducción de plantilla por automatización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51560"/>
            <a:ext cx="111556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>
                <a:solidFill>
                  <a:srgbClr val="475569"/>
                </a:solidFill>
                <a:latin typeface="Calibri"/>
              </a:rPr>
              <a:t>6 cargos liberados entre julio y octubre 2026. Transición planificada con IA en producción.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691640"/>
            <a:ext cx="3566160" cy="457200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1737360"/>
            <a:ext cx="338328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Cargo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0" y="1691640"/>
            <a:ext cx="1280160" cy="457200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206240" y="1737360"/>
            <a:ext cx="109728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Sale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0" y="1691640"/>
            <a:ext cx="1325880" cy="457200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577840" y="1737360"/>
            <a:ext cx="11430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Bruto/mes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903720" y="1691640"/>
            <a:ext cx="1051560" cy="457200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995159" y="1737360"/>
            <a:ext cx="86868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Meses 2026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046720" y="1691640"/>
            <a:ext cx="1508760" cy="457200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138160" y="1737360"/>
            <a:ext cx="132588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Ahorro 2026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646920" y="1691640"/>
            <a:ext cx="2011680" cy="457200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738360" y="1737360"/>
            <a:ext cx="18288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Anualizado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2194560"/>
            <a:ext cx="3566160" cy="41148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48640" y="2194560"/>
            <a:ext cx="338328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0F172A"/>
                </a:solidFill>
                <a:latin typeface="Calibri"/>
              </a:rPr>
              <a:t>Analista Logística Inversa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114800" y="2194560"/>
            <a:ext cx="1280160" cy="41148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206240" y="2194560"/>
            <a:ext cx="109728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50" b="0">
                <a:solidFill>
                  <a:srgbClr val="0F172A"/>
                </a:solidFill>
                <a:latin typeface="Calibri"/>
              </a:rPr>
              <a:t>31/07/2026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0" y="2194560"/>
            <a:ext cx="1325880" cy="41148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577840" y="2194560"/>
            <a:ext cx="114300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50" b="0">
                <a:solidFill>
                  <a:srgbClr val="0F172A"/>
                </a:solidFill>
                <a:latin typeface="Calibri"/>
              </a:rPr>
              <a:t>$1.004.852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903720" y="2194560"/>
            <a:ext cx="1051560" cy="41148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995159" y="2194560"/>
            <a:ext cx="86868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50" b="0">
                <a:solidFill>
                  <a:srgbClr val="0F172A"/>
                </a:solidFill>
                <a:latin typeface="Calibri"/>
              </a:rPr>
              <a:t>5 m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046720" y="2194560"/>
            <a:ext cx="1508760" cy="41148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138160" y="2194560"/>
            <a:ext cx="132588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50" b="1">
                <a:solidFill>
                  <a:srgbClr val="1E40AF"/>
                </a:solidFill>
                <a:latin typeface="Calibri"/>
              </a:rPr>
              <a:t>$5,02 MM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646920" y="2194560"/>
            <a:ext cx="2011680" cy="41148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9738360" y="2194560"/>
            <a:ext cx="182880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50" b="1">
                <a:solidFill>
                  <a:srgbClr val="10B981"/>
                </a:solidFill>
                <a:latin typeface="Calibri"/>
              </a:rPr>
              <a:t>$12,06 MM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7200" y="2651760"/>
            <a:ext cx="356616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548640" y="2651760"/>
            <a:ext cx="338328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0F172A"/>
                </a:solidFill>
                <a:latin typeface="Calibri"/>
              </a:rPr>
              <a:t>Analista Contable #1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114800" y="2651760"/>
            <a:ext cx="128016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4206240" y="2651760"/>
            <a:ext cx="109728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50" b="0">
                <a:solidFill>
                  <a:srgbClr val="0F172A"/>
                </a:solidFill>
                <a:latin typeface="Calibri"/>
              </a:rPr>
              <a:t>31/07/2026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486400" y="2651760"/>
            <a:ext cx="132588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5577840" y="2651760"/>
            <a:ext cx="114300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50" b="0">
                <a:solidFill>
                  <a:srgbClr val="0F172A"/>
                </a:solidFill>
                <a:latin typeface="Calibri"/>
              </a:rPr>
              <a:t>$1.015.754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903720" y="2651760"/>
            <a:ext cx="105156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995159" y="2651760"/>
            <a:ext cx="86868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50" b="0">
                <a:solidFill>
                  <a:srgbClr val="0F172A"/>
                </a:solidFill>
                <a:latin typeface="Calibri"/>
              </a:rPr>
              <a:t>5 m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046720" y="2651760"/>
            <a:ext cx="150876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8138160" y="2651760"/>
            <a:ext cx="132588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50" b="1">
                <a:solidFill>
                  <a:srgbClr val="1E40AF"/>
                </a:solidFill>
                <a:latin typeface="Calibri"/>
              </a:rPr>
              <a:t>$5,08 MM</a:t>
            </a:r>
          </a:p>
        </p:txBody>
      </p:sp>
      <p:sp>
        <p:nvSpPr>
          <p:cNvPr id="39" name="Rectangle 38"/>
          <p:cNvSpPr/>
          <p:nvPr/>
        </p:nvSpPr>
        <p:spPr>
          <a:xfrm>
            <a:off x="9646920" y="2651760"/>
            <a:ext cx="201168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9738360" y="2651760"/>
            <a:ext cx="182880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50" b="1">
                <a:solidFill>
                  <a:srgbClr val="10B981"/>
                </a:solidFill>
                <a:latin typeface="Calibri"/>
              </a:rPr>
              <a:t>$12,19 MM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57200" y="3108960"/>
            <a:ext cx="3566160" cy="41148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548640" y="3108960"/>
            <a:ext cx="338328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0F172A"/>
                </a:solidFill>
                <a:latin typeface="Calibri"/>
              </a:rPr>
              <a:t>Facturadora #1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114800" y="3108960"/>
            <a:ext cx="1280160" cy="41148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4206240" y="3108960"/>
            <a:ext cx="109728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50" b="0">
                <a:solidFill>
                  <a:srgbClr val="0F172A"/>
                </a:solidFill>
                <a:latin typeface="Calibri"/>
              </a:rPr>
              <a:t>15/08/2026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486400" y="3108960"/>
            <a:ext cx="1325880" cy="41148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5577840" y="3108960"/>
            <a:ext cx="114300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50" b="0">
                <a:solidFill>
                  <a:srgbClr val="0F172A"/>
                </a:solidFill>
                <a:latin typeface="Calibri"/>
              </a:rPr>
              <a:t>$895.815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903720" y="3108960"/>
            <a:ext cx="1051560" cy="41148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6995159" y="3108960"/>
            <a:ext cx="86868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50" b="0">
                <a:solidFill>
                  <a:srgbClr val="0F172A"/>
                </a:solidFill>
                <a:latin typeface="Calibri"/>
              </a:rPr>
              <a:t>4,5 m</a:t>
            </a:r>
          </a:p>
        </p:txBody>
      </p:sp>
      <p:sp>
        <p:nvSpPr>
          <p:cNvPr id="49" name="Rectangle 48"/>
          <p:cNvSpPr/>
          <p:nvPr/>
        </p:nvSpPr>
        <p:spPr>
          <a:xfrm>
            <a:off x="8046720" y="3108960"/>
            <a:ext cx="1508760" cy="41148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8138160" y="3108960"/>
            <a:ext cx="132588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50" b="1">
                <a:solidFill>
                  <a:srgbClr val="1E40AF"/>
                </a:solidFill>
                <a:latin typeface="Calibri"/>
              </a:rPr>
              <a:t>$4,03 MM</a:t>
            </a:r>
          </a:p>
        </p:txBody>
      </p:sp>
      <p:sp>
        <p:nvSpPr>
          <p:cNvPr id="51" name="Rectangle 50"/>
          <p:cNvSpPr/>
          <p:nvPr/>
        </p:nvSpPr>
        <p:spPr>
          <a:xfrm>
            <a:off x="9646920" y="3108960"/>
            <a:ext cx="2011680" cy="41148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9738360" y="3108960"/>
            <a:ext cx="182880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50" b="1">
                <a:solidFill>
                  <a:srgbClr val="10B981"/>
                </a:solidFill>
                <a:latin typeface="Calibri"/>
              </a:rPr>
              <a:t>$10,75 MM</a:t>
            </a:r>
          </a:p>
        </p:txBody>
      </p:sp>
      <p:sp>
        <p:nvSpPr>
          <p:cNvPr id="53" name="Rectangle 52"/>
          <p:cNvSpPr/>
          <p:nvPr/>
        </p:nvSpPr>
        <p:spPr>
          <a:xfrm>
            <a:off x="457200" y="3566160"/>
            <a:ext cx="356616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548640" y="3566160"/>
            <a:ext cx="338328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0F172A"/>
                </a:solidFill>
                <a:latin typeface="Calibri"/>
              </a:rPr>
              <a:t>Facturadora #2</a:t>
            </a:r>
          </a:p>
        </p:txBody>
      </p:sp>
      <p:sp>
        <p:nvSpPr>
          <p:cNvPr id="55" name="Rectangle 54"/>
          <p:cNvSpPr/>
          <p:nvPr/>
        </p:nvSpPr>
        <p:spPr>
          <a:xfrm>
            <a:off x="4114800" y="3566160"/>
            <a:ext cx="128016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4206240" y="3566160"/>
            <a:ext cx="109728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50" b="0">
                <a:solidFill>
                  <a:srgbClr val="0F172A"/>
                </a:solidFill>
                <a:latin typeface="Calibri"/>
              </a:rPr>
              <a:t>15/09/2026</a:t>
            </a:r>
          </a:p>
        </p:txBody>
      </p:sp>
      <p:sp>
        <p:nvSpPr>
          <p:cNvPr id="57" name="Rectangle 56"/>
          <p:cNvSpPr/>
          <p:nvPr/>
        </p:nvSpPr>
        <p:spPr>
          <a:xfrm>
            <a:off x="5486400" y="3566160"/>
            <a:ext cx="132588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5577840" y="3566160"/>
            <a:ext cx="114300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50" b="0">
                <a:solidFill>
                  <a:srgbClr val="0F172A"/>
                </a:solidFill>
                <a:latin typeface="Calibri"/>
              </a:rPr>
              <a:t>$822.212</a:t>
            </a:r>
          </a:p>
        </p:txBody>
      </p:sp>
      <p:sp>
        <p:nvSpPr>
          <p:cNvPr id="59" name="Rectangle 58"/>
          <p:cNvSpPr/>
          <p:nvPr/>
        </p:nvSpPr>
        <p:spPr>
          <a:xfrm>
            <a:off x="6903720" y="3566160"/>
            <a:ext cx="105156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6995159" y="3566160"/>
            <a:ext cx="86868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50" b="0">
                <a:solidFill>
                  <a:srgbClr val="0F172A"/>
                </a:solidFill>
                <a:latin typeface="Calibri"/>
              </a:rPr>
              <a:t>3,5 m</a:t>
            </a:r>
          </a:p>
        </p:txBody>
      </p:sp>
      <p:sp>
        <p:nvSpPr>
          <p:cNvPr id="61" name="Rectangle 60"/>
          <p:cNvSpPr/>
          <p:nvPr/>
        </p:nvSpPr>
        <p:spPr>
          <a:xfrm>
            <a:off x="8046720" y="3566160"/>
            <a:ext cx="150876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8138160" y="3566160"/>
            <a:ext cx="132588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50" b="1">
                <a:solidFill>
                  <a:srgbClr val="1E40AF"/>
                </a:solidFill>
                <a:latin typeface="Calibri"/>
              </a:rPr>
              <a:t>$2,88 MM</a:t>
            </a:r>
          </a:p>
        </p:txBody>
      </p:sp>
      <p:sp>
        <p:nvSpPr>
          <p:cNvPr id="63" name="Rectangle 62"/>
          <p:cNvSpPr/>
          <p:nvPr/>
        </p:nvSpPr>
        <p:spPr>
          <a:xfrm>
            <a:off x="9646920" y="3566160"/>
            <a:ext cx="201168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9738360" y="3566160"/>
            <a:ext cx="182880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50" b="1">
                <a:solidFill>
                  <a:srgbClr val="10B981"/>
                </a:solidFill>
                <a:latin typeface="Calibri"/>
              </a:rPr>
              <a:t>$9,87 MM</a:t>
            </a:r>
          </a:p>
        </p:txBody>
      </p:sp>
      <p:sp>
        <p:nvSpPr>
          <p:cNvPr id="65" name="Rectangle 64"/>
          <p:cNvSpPr/>
          <p:nvPr/>
        </p:nvSpPr>
        <p:spPr>
          <a:xfrm>
            <a:off x="457200" y="4023360"/>
            <a:ext cx="3566160" cy="41148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548640" y="4023360"/>
            <a:ext cx="338328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0F172A"/>
                </a:solidFill>
                <a:latin typeface="Calibri"/>
              </a:rPr>
              <a:t>Control de Gestión</a:t>
            </a:r>
          </a:p>
        </p:txBody>
      </p:sp>
      <p:sp>
        <p:nvSpPr>
          <p:cNvPr id="67" name="Rectangle 66"/>
          <p:cNvSpPr/>
          <p:nvPr/>
        </p:nvSpPr>
        <p:spPr>
          <a:xfrm>
            <a:off x="4114800" y="4023360"/>
            <a:ext cx="1280160" cy="41148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4206240" y="4023360"/>
            <a:ext cx="109728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50" b="0">
                <a:solidFill>
                  <a:srgbClr val="0F172A"/>
                </a:solidFill>
                <a:latin typeface="Calibri"/>
              </a:rPr>
              <a:t>30/09/2026</a:t>
            </a:r>
          </a:p>
        </p:txBody>
      </p:sp>
      <p:sp>
        <p:nvSpPr>
          <p:cNvPr id="69" name="Rectangle 68"/>
          <p:cNvSpPr/>
          <p:nvPr/>
        </p:nvSpPr>
        <p:spPr>
          <a:xfrm>
            <a:off x="5486400" y="4023360"/>
            <a:ext cx="1325880" cy="41148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TextBox 69"/>
          <p:cNvSpPr txBox="1"/>
          <p:nvPr/>
        </p:nvSpPr>
        <p:spPr>
          <a:xfrm>
            <a:off x="5577840" y="4023360"/>
            <a:ext cx="114300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50" b="0">
                <a:solidFill>
                  <a:srgbClr val="0F172A"/>
                </a:solidFill>
                <a:latin typeface="Calibri"/>
              </a:rPr>
              <a:t>$2.258.096</a:t>
            </a:r>
          </a:p>
        </p:txBody>
      </p:sp>
      <p:sp>
        <p:nvSpPr>
          <p:cNvPr id="71" name="Rectangle 70"/>
          <p:cNvSpPr/>
          <p:nvPr/>
        </p:nvSpPr>
        <p:spPr>
          <a:xfrm>
            <a:off x="6903720" y="4023360"/>
            <a:ext cx="1051560" cy="41148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TextBox 71"/>
          <p:cNvSpPr txBox="1"/>
          <p:nvPr/>
        </p:nvSpPr>
        <p:spPr>
          <a:xfrm>
            <a:off x="6995159" y="4023360"/>
            <a:ext cx="86868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50" b="0">
                <a:solidFill>
                  <a:srgbClr val="0F172A"/>
                </a:solidFill>
                <a:latin typeface="Calibri"/>
              </a:rPr>
              <a:t>3 m</a:t>
            </a:r>
          </a:p>
        </p:txBody>
      </p:sp>
      <p:sp>
        <p:nvSpPr>
          <p:cNvPr id="73" name="Rectangle 72"/>
          <p:cNvSpPr/>
          <p:nvPr/>
        </p:nvSpPr>
        <p:spPr>
          <a:xfrm>
            <a:off x="8046720" y="4023360"/>
            <a:ext cx="1508760" cy="41148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TextBox 73"/>
          <p:cNvSpPr txBox="1"/>
          <p:nvPr/>
        </p:nvSpPr>
        <p:spPr>
          <a:xfrm>
            <a:off x="8138160" y="4023360"/>
            <a:ext cx="132588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50" b="1">
                <a:solidFill>
                  <a:srgbClr val="1E40AF"/>
                </a:solidFill>
                <a:latin typeface="Calibri"/>
              </a:rPr>
              <a:t>$6,77 MM</a:t>
            </a:r>
          </a:p>
        </p:txBody>
      </p:sp>
      <p:sp>
        <p:nvSpPr>
          <p:cNvPr id="75" name="Rectangle 74"/>
          <p:cNvSpPr/>
          <p:nvPr/>
        </p:nvSpPr>
        <p:spPr>
          <a:xfrm>
            <a:off x="9646920" y="4023360"/>
            <a:ext cx="2011680" cy="41148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TextBox 75"/>
          <p:cNvSpPr txBox="1"/>
          <p:nvPr/>
        </p:nvSpPr>
        <p:spPr>
          <a:xfrm>
            <a:off x="9738360" y="4023360"/>
            <a:ext cx="182880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50" b="1">
                <a:solidFill>
                  <a:srgbClr val="10B981"/>
                </a:solidFill>
                <a:latin typeface="Calibri"/>
              </a:rPr>
              <a:t>$27,10 MM</a:t>
            </a:r>
          </a:p>
        </p:txBody>
      </p:sp>
      <p:sp>
        <p:nvSpPr>
          <p:cNvPr id="77" name="Rectangle 76"/>
          <p:cNvSpPr/>
          <p:nvPr/>
        </p:nvSpPr>
        <p:spPr>
          <a:xfrm>
            <a:off x="457200" y="4480560"/>
            <a:ext cx="356616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TextBox 77"/>
          <p:cNvSpPr txBox="1"/>
          <p:nvPr/>
        </p:nvSpPr>
        <p:spPr>
          <a:xfrm>
            <a:off x="548640" y="4480560"/>
            <a:ext cx="338328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0F172A"/>
                </a:solidFill>
                <a:latin typeface="Calibri"/>
              </a:rPr>
              <a:t>Analista Contable #2</a:t>
            </a:r>
          </a:p>
        </p:txBody>
      </p:sp>
      <p:sp>
        <p:nvSpPr>
          <p:cNvPr id="79" name="Rectangle 78"/>
          <p:cNvSpPr/>
          <p:nvPr/>
        </p:nvSpPr>
        <p:spPr>
          <a:xfrm>
            <a:off x="4114800" y="4480560"/>
            <a:ext cx="128016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TextBox 79"/>
          <p:cNvSpPr txBox="1"/>
          <p:nvPr/>
        </p:nvSpPr>
        <p:spPr>
          <a:xfrm>
            <a:off x="4206240" y="4480560"/>
            <a:ext cx="109728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50" b="0">
                <a:solidFill>
                  <a:srgbClr val="0F172A"/>
                </a:solidFill>
                <a:latin typeface="Calibri"/>
              </a:rPr>
              <a:t>Oct 2026</a:t>
            </a:r>
          </a:p>
        </p:txBody>
      </p:sp>
      <p:sp>
        <p:nvSpPr>
          <p:cNvPr id="81" name="Rectangle 80"/>
          <p:cNvSpPr/>
          <p:nvPr/>
        </p:nvSpPr>
        <p:spPr>
          <a:xfrm>
            <a:off x="5486400" y="4480560"/>
            <a:ext cx="132588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TextBox 81"/>
          <p:cNvSpPr txBox="1"/>
          <p:nvPr/>
        </p:nvSpPr>
        <p:spPr>
          <a:xfrm>
            <a:off x="5577840" y="4480560"/>
            <a:ext cx="114300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50" b="0">
                <a:solidFill>
                  <a:srgbClr val="0F172A"/>
                </a:solidFill>
                <a:latin typeface="Calibri"/>
              </a:rPr>
              <a:t>$770.000</a:t>
            </a:r>
          </a:p>
        </p:txBody>
      </p:sp>
      <p:sp>
        <p:nvSpPr>
          <p:cNvPr id="83" name="Rectangle 82"/>
          <p:cNvSpPr/>
          <p:nvPr/>
        </p:nvSpPr>
        <p:spPr>
          <a:xfrm>
            <a:off x="6903720" y="4480560"/>
            <a:ext cx="105156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4" name="TextBox 83"/>
          <p:cNvSpPr txBox="1"/>
          <p:nvPr/>
        </p:nvSpPr>
        <p:spPr>
          <a:xfrm>
            <a:off x="6995159" y="4480560"/>
            <a:ext cx="86868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50" b="0">
                <a:solidFill>
                  <a:srgbClr val="0F172A"/>
                </a:solidFill>
                <a:latin typeface="Calibri"/>
              </a:rPr>
              <a:t>2 m</a:t>
            </a:r>
          </a:p>
        </p:txBody>
      </p:sp>
      <p:sp>
        <p:nvSpPr>
          <p:cNvPr id="85" name="Rectangle 84"/>
          <p:cNvSpPr/>
          <p:nvPr/>
        </p:nvSpPr>
        <p:spPr>
          <a:xfrm>
            <a:off x="8046720" y="4480560"/>
            <a:ext cx="150876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6" name="TextBox 85"/>
          <p:cNvSpPr txBox="1"/>
          <p:nvPr/>
        </p:nvSpPr>
        <p:spPr>
          <a:xfrm>
            <a:off x="8138160" y="4480560"/>
            <a:ext cx="132588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50" b="1">
                <a:solidFill>
                  <a:srgbClr val="1E40AF"/>
                </a:solidFill>
                <a:latin typeface="Calibri"/>
              </a:rPr>
              <a:t>$1,54 MM</a:t>
            </a:r>
          </a:p>
        </p:txBody>
      </p:sp>
      <p:sp>
        <p:nvSpPr>
          <p:cNvPr id="87" name="Rectangle 86"/>
          <p:cNvSpPr/>
          <p:nvPr/>
        </p:nvSpPr>
        <p:spPr>
          <a:xfrm>
            <a:off x="9646920" y="4480560"/>
            <a:ext cx="201168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8" name="TextBox 87"/>
          <p:cNvSpPr txBox="1"/>
          <p:nvPr/>
        </p:nvSpPr>
        <p:spPr>
          <a:xfrm>
            <a:off x="9738360" y="4480560"/>
            <a:ext cx="182880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50" b="1">
                <a:solidFill>
                  <a:srgbClr val="10B981"/>
                </a:solidFill>
                <a:latin typeface="Calibri"/>
              </a:rPr>
              <a:t>$9,24 MM</a:t>
            </a:r>
          </a:p>
        </p:txBody>
      </p:sp>
      <p:sp>
        <p:nvSpPr>
          <p:cNvPr id="89" name="Rectangle 88"/>
          <p:cNvSpPr/>
          <p:nvPr/>
        </p:nvSpPr>
        <p:spPr>
          <a:xfrm>
            <a:off x="457200" y="4937760"/>
            <a:ext cx="6903720" cy="457200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" name="TextBox 89"/>
          <p:cNvSpPr txBox="1"/>
          <p:nvPr/>
        </p:nvSpPr>
        <p:spPr>
          <a:xfrm>
            <a:off x="640080" y="4937760"/>
            <a:ext cx="667512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TOTAL (con cargas patronales 12%)</a:t>
            </a:r>
          </a:p>
        </p:txBody>
      </p:sp>
      <p:sp>
        <p:nvSpPr>
          <p:cNvPr id="91" name="Rectangle 90"/>
          <p:cNvSpPr/>
          <p:nvPr/>
        </p:nvSpPr>
        <p:spPr>
          <a:xfrm>
            <a:off x="7360920" y="4937760"/>
            <a:ext cx="2240280" cy="457200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2" name="TextBox 91"/>
          <p:cNvSpPr txBox="1"/>
          <p:nvPr/>
        </p:nvSpPr>
        <p:spPr>
          <a:xfrm>
            <a:off x="7360920" y="4937760"/>
            <a:ext cx="224028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~$28,4 MM</a:t>
            </a:r>
          </a:p>
        </p:txBody>
      </p:sp>
      <p:sp>
        <p:nvSpPr>
          <p:cNvPr id="93" name="Rectangle 92"/>
          <p:cNvSpPr/>
          <p:nvPr/>
        </p:nvSpPr>
        <p:spPr>
          <a:xfrm>
            <a:off x="9646920" y="4937760"/>
            <a:ext cx="205740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4" name="TextBox 93"/>
          <p:cNvSpPr txBox="1"/>
          <p:nvPr/>
        </p:nvSpPr>
        <p:spPr>
          <a:xfrm>
            <a:off x="9646920" y="4937760"/>
            <a:ext cx="20574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~$91,0 MM/año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457200" y="5486400"/>
            <a:ext cx="11430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475569"/>
                </a:solidFill>
                <a:latin typeface="Calibri"/>
              </a:rPr>
              <a:t>LÍNEA DE TIEMPO DE SALIDAS</a:t>
            </a:r>
          </a:p>
        </p:txBody>
      </p:sp>
      <p:cxnSp>
        <p:nvCxnSpPr>
          <p:cNvPr id="96" name="Connector 95"/>
          <p:cNvCxnSpPr/>
          <p:nvPr/>
        </p:nvCxnSpPr>
        <p:spPr>
          <a:xfrm>
            <a:off x="914400" y="6263640"/>
            <a:ext cx="10515600" cy="0"/>
          </a:xfrm>
          <a:prstGeom prst="line">
            <a:avLst/>
          </a:prstGeom>
          <a:ln w="25400">
            <a:solidFill>
              <a:srgbClr val="4A90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7" name="Oval 96"/>
          <p:cNvSpPr/>
          <p:nvPr/>
        </p:nvSpPr>
        <p:spPr>
          <a:xfrm>
            <a:off x="1188720" y="6080760"/>
            <a:ext cx="365760" cy="365760"/>
          </a:xfrm>
          <a:prstGeom prst="ellipse">
            <a:avLst/>
          </a:prstGeom>
          <a:solidFill>
            <a:srgbClr val="4A90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8" name="TextBox 97"/>
          <p:cNvSpPr txBox="1"/>
          <p:nvPr/>
        </p:nvSpPr>
        <p:spPr>
          <a:xfrm>
            <a:off x="914400" y="6080760"/>
            <a:ext cx="9144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JUL</a:t>
            </a:r>
          </a:p>
        </p:txBody>
      </p:sp>
      <p:sp>
        <p:nvSpPr>
          <p:cNvPr id="99" name="Oval 98"/>
          <p:cNvSpPr/>
          <p:nvPr/>
        </p:nvSpPr>
        <p:spPr>
          <a:xfrm>
            <a:off x="3794759" y="6080760"/>
            <a:ext cx="365760" cy="365760"/>
          </a:xfrm>
          <a:prstGeom prst="ellipse">
            <a:avLst/>
          </a:prstGeom>
          <a:solidFill>
            <a:srgbClr val="4A90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0" name="TextBox 99"/>
          <p:cNvSpPr txBox="1"/>
          <p:nvPr/>
        </p:nvSpPr>
        <p:spPr>
          <a:xfrm>
            <a:off x="3520439" y="6080760"/>
            <a:ext cx="9144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AGO</a:t>
            </a:r>
          </a:p>
        </p:txBody>
      </p:sp>
      <p:sp>
        <p:nvSpPr>
          <p:cNvPr id="101" name="Oval 100"/>
          <p:cNvSpPr/>
          <p:nvPr/>
        </p:nvSpPr>
        <p:spPr>
          <a:xfrm>
            <a:off x="6400800" y="6080760"/>
            <a:ext cx="365760" cy="365760"/>
          </a:xfrm>
          <a:prstGeom prst="ellipse">
            <a:avLst/>
          </a:prstGeom>
          <a:solidFill>
            <a:srgbClr val="4A90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2" name="TextBox 101"/>
          <p:cNvSpPr txBox="1"/>
          <p:nvPr/>
        </p:nvSpPr>
        <p:spPr>
          <a:xfrm>
            <a:off x="6126480" y="6080760"/>
            <a:ext cx="9144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SEP</a:t>
            </a:r>
          </a:p>
        </p:txBody>
      </p:sp>
      <p:sp>
        <p:nvSpPr>
          <p:cNvPr id="103" name="Oval 102"/>
          <p:cNvSpPr/>
          <p:nvPr/>
        </p:nvSpPr>
        <p:spPr>
          <a:xfrm>
            <a:off x="9006840" y="6080760"/>
            <a:ext cx="365760" cy="365760"/>
          </a:xfrm>
          <a:prstGeom prst="ellipse">
            <a:avLst/>
          </a:prstGeom>
          <a:solidFill>
            <a:srgbClr val="4A90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" name="TextBox 103"/>
          <p:cNvSpPr txBox="1"/>
          <p:nvPr/>
        </p:nvSpPr>
        <p:spPr>
          <a:xfrm>
            <a:off x="8732520" y="6080760"/>
            <a:ext cx="9144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OCT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914400" y="5760720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>
                <a:solidFill>
                  <a:srgbClr val="DC2626"/>
                </a:solidFill>
                <a:latin typeface="Calibri"/>
              </a:rPr>
              <a:t>31 Jul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914400" y="6492240"/>
            <a:ext cx="16459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>
                <a:solidFill>
                  <a:srgbClr val="0F172A"/>
                </a:solidFill>
                <a:latin typeface="Calibri"/>
              </a:rPr>
              <a:t>Anal.LI + AC#1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3520440" y="5760720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>
                <a:solidFill>
                  <a:srgbClr val="EA580C"/>
                </a:solidFill>
                <a:latin typeface="Calibri"/>
              </a:rPr>
              <a:t>15 Ago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3520440" y="6492240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>
                <a:solidFill>
                  <a:srgbClr val="0F172A"/>
                </a:solidFill>
                <a:latin typeface="Calibri"/>
              </a:rPr>
              <a:t>Facturadora 1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6126480" y="5760720"/>
            <a:ext cx="2286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>
                <a:solidFill>
                  <a:srgbClr val="EA580C"/>
                </a:solidFill>
                <a:latin typeface="Calibri"/>
              </a:rPr>
              <a:t>15 Sep · 30 Sep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6126480" y="6492240"/>
            <a:ext cx="2286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>
                <a:solidFill>
                  <a:srgbClr val="0F172A"/>
                </a:solidFill>
                <a:latin typeface="Calibri"/>
              </a:rPr>
              <a:t>Facturadora 2 + Ctrl Gestión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8732520" y="5760720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>
                <a:solidFill>
                  <a:srgbClr val="EA580C"/>
                </a:solidFill>
                <a:latin typeface="Calibri"/>
              </a:rPr>
              <a:t>Oct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8732520" y="6492240"/>
            <a:ext cx="16459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>
                <a:solidFill>
                  <a:srgbClr val="0F172A"/>
                </a:solidFill>
                <a:latin typeface="Calibri"/>
              </a:rPr>
              <a:t>Anal. Contable #2</a:t>
            </a:r>
          </a:p>
        </p:txBody>
      </p:sp>
      <p:cxnSp>
        <p:nvCxnSpPr>
          <p:cNvPr id="113" name="Connector 112"/>
          <p:cNvCxnSpPr/>
          <p:nvPr/>
        </p:nvCxnSpPr>
        <p:spPr>
          <a:xfrm>
            <a:off x="457200" y="6537960"/>
            <a:ext cx="11277295" cy="0"/>
          </a:xfrm>
          <a:prstGeom prst="line">
            <a:avLst/>
          </a:prstGeom>
          <a:ln w="9525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4" name="TextBox 113"/>
          <p:cNvSpPr txBox="1"/>
          <p:nvPr/>
        </p:nvSpPr>
        <p:spPr>
          <a:xfrm>
            <a:off x="457200" y="658368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>
                <a:solidFill>
                  <a:srgbClr val="475569"/>
                </a:solidFill>
                <a:latin typeface="Calibri"/>
              </a:rPr>
              <a:t>Plan IA · Operaciones y Finanzas · Mayo 2026</a:t>
            </a:r>
          </a:p>
        </p:txBody>
      </p:sp>
      <p:pic>
        <p:nvPicPr>
          <p:cNvPr id="115" name="Picture 114" descr="unionx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6565392"/>
            <a:ext cx="464949" cy="228600"/>
          </a:xfrm>
          <a:prstGeom prst="rect">
            <a:avLst/>
          </a:prstGeom>
        </p:spPr>
      </p:pic>
      <p:sp>
        <p:nvSpPr>
          <p:cNvPr id="116" name="TextBox 115"/>
          <p:cNvSpPr txBox="1"/>
          <p:nvPr/>
        </p:nvSpPr>
        <p:spPr>
          <a:xfrm>
            <a:off x="10789920" y="658368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>
                <a:solidFill>
                  <a:srgbClr val="475569"/>
                </a:solidFill>
                <a:latin typeface="Calibri"/>
              </a:rPr>
              <a:t>16 / 27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115568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>
                <a:solidFill>
                  <a:srgbClr val="1E40AF"/>
                </a:solidFill>
                <a:latin typeface="Calibri"/>
              </a:rPr>
              <a:t>Paso a paso para la reducción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51560"/>
            <a:ext cx="111556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>
                <a:solidFill>
                  <a:srgbClr val="475569"/>
                </a:solidFill>
                <a:latin typeface="Calibri"/>
              </a:rPr>
              <a:t>Cada salida requiere IA en producción y validada 2 meses antes. Transición planificada.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691640"/>
            <a:ext cx="2240280" cy="457200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30352" y="1737360"/>
            <a:ext cx="210312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Cargo</a:t>
            </a:r>
          </a:p>
        </p:txBody>
      </p:sp>
      <p:sp>
        <p:nvSpPr>
          <p:cNvPr id="7" name="Rectangle 6"/>
          <p:cNvSpPr/>
          <p:nvPr/>
        </p:nvSpPr>
        <p:spPr>
          <a:xfrm>
            <a:off x="2788920" y="1691640"/>
            <a:ext cx="2240280" cy="457200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862072" y="1737360"/>
            <a:ext cx="210312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IA que reemplaza</a:t>
            </a:r>
          </a:p>
        </p:txBody>
      </p:sp>
      <p:sp>
        <p:nvSpPr>
          <p:cNvPr id="9" name="Rectangle 8"/>
          <p:cNvSpPr/>
          <p:nvPr/>
        </p:nvSpPr>
        <p:spPr>
          <a:xfrm>
            <a:off x="5120640" y="1691640"/>
            <a:ext cx="1234439" cy="457200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193792" y="1737360"/>
            <a:ext cx="109728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Estado IA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46520" y="1691640"/>
            <a:ext cx="4114800" cy="457200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519672" y="1737360"/>
            <a:ext cx="3977639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Prerrequisito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652760" y="1691640"/>
            <a:ext cx="1005839" cy="457200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0725912" y="1737360"/>
            <a:ext cx="86868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Fecha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2194560"/>
            <a:ext cx="2240280" cy="59436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48640" y="2194560"/>
            <a:ext cx="2057400" cy="594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1">
                <a:solidFill>
                  <a:srgbClr val="0F172A"/>
                </a:solidFill>
                <a:latin typeface="Calibri"/>
              </a:rPr>
              <a:t>Analista Log. Inv.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88920" y="2194560"/>
            <a:ext cx="2240280" cy="59436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2880360" y="2194560"/>
            <a:ext cx="2057400" cy="594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0F172A"/>
                </a:solidFill>
                <a:latin typeface="Calibri"/>
              </a:rPr>
              <a:t>Agente SAC / Log. Inversa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120640" y="2194560"/>
            <a:ext cx="1234439" cy="59436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5212079" y="2395728"/>
            <a:ext cx="164592" cy="164592"/>
          </a:xfrm>
          <a:prstGeom prst="ellipse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440679" y="2194560"/>
            <a:ext cx="914399" cy="594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DC2626"/>
                </a:solidFill>
                <a:latin typeface="Calibri"/>
              </a:rPr>
              <a:t>F1 30%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46520" y="2194560"/>
            <a:ext cx="4114800" cy="59436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537959" y="2194560"/>
            <a:ext cx="3931920" cy="594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0F172A"/>
                </a:solidFill>
                <a:latin typeface="Calibri"/>
              </a:rPr>
              <a:t>Auditar flujos NC · automatizar informe semanal · 2 ciclos validados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0652760" y="2194560"/>
            <a:ext cx="1005839" cy="59436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0744200" y="2194560"/>
            <a:ext cx="822959" cy="594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>
                <a:solidFill>
                  <a:srgbClr val="1E40AF"/>
                </a:solidFill>
                <a:latin typeface="Calibri"/>
              </a:rPr>
              <a:t>31/07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" y="2834639"/>
            <a:ext cx="224028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48640" y="2834639"/>
            <a:ext cx="2057400" cy="594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1">
                <a:solidFill>
                  <a:srgbClr val="0F172A"/>
                </a:solidFill>
                <a:latin typeface="Calibri"/>
              </a:rPr>
              <a:t>Analista Contable #1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788920" y="2834639"/>
            <a:ext cx="224028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2880360" y="2834639"/>
            <a:ext cx="2057400" cy="594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0F172A"/>
                </a:solidFill>
                <a:latin typeface="Calibri"/>
              </a:rPr>
              <a:t>Agente LCV-Compras (activo)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120640" y="2834639"/>
            <a:ext cx="1234439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Oval 30"/>
          <p:cNvSpPr/>
          <p:nvPr/>
        </p:nvSpPr>
        <p:spPr>
          <a:xfrm>
            <a:off x="5212079" y="3035808"/>
            <a:ext cx="164592" cy="16459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5440679" y="2834639"/>
            <a:ext cx="914399" cy="594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10B981"/>
                </a:solidFill>
                <a:latin typeface="Calibri"/>
              </a:rPr>
              <a:t>F5 50%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446520" y="2834639"/>
            <a:ext cx="411480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537959" y="2834639"/>
            <a:ext cx="3931920" cy="594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0F172A"/>
                </a:solidFill>
                <a:latin typeface="Calibri"/>
              </a:rPr>
              <a:t>Onboarding Camila/Víctor · agente estable 2 meses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0652760" y="2834639"/>
            <a:ext cx="1005839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10744200" y="2834639"/>
            <a:ext cx="822959" cy="594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>
                <a:solidFill>
                  <a:srgbClr val="1E40AF"/>
                </a:solidFill>
                <a:latin typeface="Calibri"/>
              </a:rPr>
              <a:t>31/07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57200" y="3474720"/>
            <a:ext cx="2240280" cy="59436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548640" y="3474720"/>
            <a:ext cx="2057400" cy="594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1">
                <a:solidFill>
                  <a:srgbClr val="0F172A"/>
                </a:solidFill>
                <a:latin typeface="Calibri"/>
              </a:rPr>
              <a:t>Analista Contable #2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788920" y="3474720"/>
            <a:ext cx="2240280" cy="59436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2880360" y="3474720"/>
            <a:ext cx="2057400" cy="594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0F172A"/>
                </a:solidFill>
                <a:latin typeface="Calibri"/>
              </a:rPr>
              <a:t>Agente Cobranza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120640" y="3474720"/>
            <a:ext cx="1234439" cy="59436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Oval 41"/>
          <p:cNvSpPr/>
          <p:nvPr/>
        </p:nvSpPr>
        <p:spPr>
          <a:xfrm>
            <a:off x="5212079" y="3675887"/>
            <a:ext cx="164592" cy="164592"/>
          </a:xfrm>
          <a:prstGeom prst="ellipse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5440679" y="3474720"/>
            <a:ext cx="914399" cy="594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DC2626"/>
                </a:solidFill>
                <a:latin typeface="Calibri"/>
              </a:rPr>
              <a:t>F3 0%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446520" y="3474720"/>
            <a:ext cx="4114800" cy="59436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6537959" y="3474720"/>
            <a:ext cx="3931920" cy="594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0F172A"/>
                </a:solidFill>
                <a:latin typeface="Calibri"/>
              </a:rPr>
              <a:t>Fix root cause incidente · 2 ciclos validados · Camila absorbe carga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0652760" y="3474720"/>
            <a:ext cx="1005839" cy="59436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10744200" y="3474720"/>
            <a:ext cx="822959" cy="594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>
                <a:solidFill>
                  <a:srgbClr val="1E40AF"/>
                </a:solidFill>
                <a:latin typeface="Calibri"/>
              </a:rPr>
              <a:t>Oct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57200" y="4114800"/>
            <a:ext cx="224028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548640" y="4114800"/>
            <a:ext cx="2057400" cy="594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1">
                <a:solidFill>
                  <a:srgbClr val="0F172A"/>
                </a:solidFill>
                <a:latin typeface="Calibri"/>
              </a:rPr>
              <a:t>Facturadora #1</a:t>
            </a:r>
          </a:p>
        </p:txBody>
      </p:sp>
      <p:sp>
        <p:nvSpPr>
          <p:cNvPr id="50" name="Rectangle 49"/>
          <p:cNvSpPr/>
          <p:nvPr/>
        </p:nvSpPr>
        <p:spPr>
          <a:xfrm>
            <a:off x="2788920" y="4114800"/>
            <a:ext cx="224028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2880360" y="4114800"/>
            <a:ext cx="2057400" cy="594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0F172A"/>
                </a:solidFill>
                <a:latin typeface="Calibri"/>
              </a:rPr>
              <a:t>POC etiqueta + deadline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120640" y="4114800"/>
            <a:ext cx="1234439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Oval 52"/>
          <p:cNvSpPr/>
          <p:nvPr/>
        </p:nvSpPr>
        <p:spPr>
          <a:xfrm>
            <a:off x="5212079" y="4315968"/>
            <a:ext cx="164592" cy="164592"/>
          </a:xfrm>
          <a:prstGeom prst="ellipse">
            <a:avLst/>
          </a:prstGeom>
          <a:solidFill>
            <a:srgbClr val="FACC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5440679" y="4114800"/>
            <a:ext cx="914399" cy="594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FACC15"/>
                </a:solidFill>
                <a:latin typeface="Calibri"/>
              </a:rPr>
              <a:t>F3 10%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446520" y="4114800"/>
            <a:ext cx="411480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6537959" y="4114800"/>
            <a:ext cx="3931920" cy="594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0F172A"/>
                </a:solidFill>
                <a:latin typeface="Calibri"/>
              </a:rPr>
              <a:t>POC a producción · 2 ciclos sin error · validación Yohana</a:t>
            </a:r>
          </a:p>
        </p:txBody>
      </p:sp>
      <p:sp>
        <p:nvSpPr>
          <p:cNvPr id="57" name="Rectangle 56"/>
          <p:cNvSpPr/>
          <p:nvPr/>
        </p:nvSpPr>
        <p:spPr>
          <a:xfrm>
            <a:off x="10652760" y="4114800"/>
            <a:ext cx="1005839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10744200" y="4114800"/>
            <a:ext cx="822959" cy="594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>
                <a:solidFill>
                  <a:srgbClr val="1E40AF"/>
                </a:solidFill>
                <a:latin typeface="Calibri"/>
              </a:rPr>
              <a:t>15/08</a:t>
            </a:r>
          </a:p>
        </p:txBody>
      </p:sp>
      <p:sp>
        <p:nvSpPr>
          <p:cNvPr id="59" name="Rectangle 58"/>
          <p:cNvSpPr/>
          <p:nvPr/>
        </p:nvSpPr>
        <p:spPr>
          <a:xfrm>
            <a:off x="457200" y="4754879"/>
            <a:ext cx="2240280" cy="59436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548640" y="4754879"/>
            <a:ext cx="2057400" cy="594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1">
                <a:solidFill>
                  <a:srgbClr val="0F172A"/>
                </a:solidFill>
                <a:latin typeface="Calibri"/>
              </a:rPr>
              <a:t>Facturadora #2</a:t>
            </a:r>
          </a:p>
        </p:txBody>
      </p:sp>
      <p:sp>
        <p:nvSpPr>
          <p:cNvPr id="61" name="Rectangle 60"/>
          <p:cNvSpPr/>
          <p:nvPr/>
        </p:nvSpPr>
        <p:spPr>
          <a:xfrm>
            <a:off x="2788920" y="4754879"/>
            <a:ext cx="2240280" cy="59436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2880360" y="4754879"/>
            <a:ext cx="2057400" cy="594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0F172A"/>
                </a:solidFill>
                <a:latin typeface="Calibri"/>
              </a:rPr>
              <a:t>POC + flujo #1 validado</a:t>
            </a:r>
          </a:p>
        </p:txBody>
      </p:sp>
      <p:sp>
        <p:nvSpPr>
          <p:cNvPr id="63" name="Rectangle 62"/>
          <p:cNvSpPr/>
          <p:nvPr/>
        </p:nvSpPr>
        <p:spPr>
          <a:xfrm>
            <a:off x="5120640" y="4754879"/>
            <a:ext cx="1234439" cy="59436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Oval 63"/>
          <p:cNvSpPr/>
          <p:nvPr/>
        </p:nvSpPr>
        <p:spPr>
          <a:xfrm>
            <a:off x="5212079" y="4956047"/>
            <a:ext cx="164592" cy="164592"/>
          </a:xfrm>
          <a:prstGeom prst="ellipse">
            <a:avLst/>
          </a:prstGeom>
          <a:solidFill>
            <a:srgbClr val="FACC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5440679" y="4754879"/>
            <a:ext cx="914399" cy="594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FACC15"/>
                </a:solidFill>
                <a:latin typeface="Calibri"/>
              </a:rPr>
              <a:t>Sigue #1</a:t>
            </a:r>
          </a:p>
        </p:txBody>
      </p:sp>
      <p:sp>
        <p:nvSpPr>
          <p:cNvPr id="66" name="Rectangle 65"/>
          <p:cNvSpPr/>
          <p:nvPr/>
        </p:nvSpPr>
        <p:spPr>
          <a:xfrm>
            <a:off x="6446520" y="4754879"/>
            <a:ext cx="4114800" cy="59436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6537959" y="4754879"/>
            <a:ext cx="3931920" cy="594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0F172A"/>
                </a:solidFill>
                <a:latin typeface="Calibri"/>
              </a:rPr>
              <a:t>Flujo #1 estable post-15-ago · Yohana redistribuye carga</a:t>
            </a:r>
          </a:p>
        </p:txBody>
      </p:sp>
      <p:sp>
        <p:nvSpPr>
          <p:cNvPr id="68" name="Rectangle 67"/>
          <p:cNvSpPr/>
          <p:nvPr/>
        </p:nvSpPr>
        <p:spPr>
          <a:xfrm>
            <a:off x="10652760" y="4754879"/>
            <a:ext cx="1005839" cy="59436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TextBox 68"/>
          <p:cNvSpPr txBox="1"/>
          <p:nvPr/>
        </p:nvSpPr>
        <p:spPr>
          <a:xfrm>
            <a:off x="10744200" y="4754879"/>
            <a:ext cx="822959" cy="594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>
                <a:solidFill>
                  <a:srgbClr val="1E40AF"/>
                </a:solidFill>
                <a:latin typeface="Calibri"/>
              </a:rPr>
              <a:t>15/09</a:t>
            </a:r>
          </a:p>
        </p:txBody>
      </p:sp>
      <p:sp>
        <p:nvSpPr>
          <p:cNvPr id="70" name="Rectangle 69"/>
          <p:cNvSpPr/>
          <p:nvPr/>
        </p:nvSpPr>
        <p:spPr>
          <a:xfrm>
            <a:off x="457200" y="5394960"/>
            <a:ext cx="224028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TextBox 70"/>
          <p:cNvSpPr txBox="1"/>
          <p:nvPr/>
        </p:nvSpPr>
        <p:spPr>
          <a:xfrm>
            <a:off x="548640" y="5394960"/>
            <a:ext cx="2057400" cy="594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1">
                <a:solidFill>
                  <a:srgbClr val="0F172A"/>
                </a:solidFill>
                <a:latin typeface="Calibri"/>
              </a:rPr>
              <a:t>Control de Gestión</a:t>
            </a:r>
          </a:p>
        </p:txBody>
      </p:sp>
      <p:sp>
        <p:nvSpPr>
          <p:cNvPr id="72" name="Rectangle 71"/>
          <p:cNvSpPr/>
          <p:nvPr/>
        </p:nvSpPr>
        <p:spPr>
          <a:xfrm>
            <a:off x="2788920" y="5394960"/>
            <a:ext cx="224028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TextBox 72"/>
          <p:cNvSpPr txBox="1"/>
          <p:nvPr/>
        </p:nvSpPr>
        <p:spPr>
          <a:xfrm>
            <a:off x="2880360" y="5394960"/>
            <a:ext cx="2057400" cy="594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0F172A"/>
                </a:solidFill>
                <a:latin typeface="Calibri"/>
              </a:rPr>
              <a:t>Cerebro + EEFF en vivo + Chat ejec.</a:t>
            </a:r>
          </a:p>
        </p:txBody>
      </p:sp>
      <p:sp>
        <p:nvSpPr>
          <p:cNvPr id="74" name="Rectangle 73"/>
          <p:cNvSpPr/>
          <p:nvPr/>
        </p:nvSpPr>
        <p:spPr>
          <a:xfrm>
            <a:off x="5120640" y="5394960"/>
            <a:ext cx="1234439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Oval 74"/>
          <p:cNvSpPr/>
          <p:nvPr/>
        </p:nvSpPr>
        <p:spPr>
          <a:xfrm>
            <a:off x="5212079" y="5596128"/>
            <a:ext cx="164592" cy="164592"/>
          </a:xfrm>
          <a:prstGeom prst="ellipse">
            <a:avLst/>
          </a:prstGeom>
          <a:solidFill>
            <a:srgbClr val="FACC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TextBox 75"/>
          <p:cNvSpPr txBox="1"/>
          <p:nvPr/>
        </p:nvSpPr>
        <p:spPr>
          <a:xfrm>
            <a:off x="5440679" y="5394960"/>
            <a:ext cx="914399" cy="594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FACC15"/>
                </a:solidFill>
                <a:latin typeface="Calibri"/>
              </a:rPr>
              <a:t>F4 10%</a:t>
            </a:r>
          </a:p>
        </p:txBody>
      </p:sp>
      <p:sp>
        <p:nvSpPr>
          <p:cNvPr id="77" name="Rectangle 76"/>
          <p:cNvSpPr/>
          <p:nvPr/>
        </p:nvSpPr>
        <p:spPr>
          <a:xfrm>
            <a:off x="6446520" y="5394960"/>
            <a:ext cx="411480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TextBox 77"/>
          <p:cNvSpPr txBox="1"/>
          <p:nvPr/>
        </p:nvSpPr>
        <p:spPr>
          <a:xfrm>
            <a:off x="6537959" y="5394960"/>
            <a:ext cx="3931920" cy="594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0F172A"/>
                </a:solidFill>
                <a:latin typeface="Calibri"/>
              </a:rPr>
              <a:t>EEFF en vivo desde Odoo · planilla planif. financiera automatizada · chat ejec. POC</a:t>
            </a:r>
          </a:p>
        </p:txBody>
      </p:sp>
      <p:sp>
        <p:nvSpPr>
          <p:cNvPr id="79" name="Rectangle 78"/>
          <p:cNvSpPr/>
          <p:nvPr/>
        </p:nvSpPr>
        <p:spPr>
          <a:xfrm>
            <a:off x="10652760" y="5394960"/>
            <a:ext cx="1005839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TextBox 79"/>
          <p:cNvSpPr txBox="1"/>
          <p:nvPr/>
        </p:nvSpPr>
        <p:spPr>
          <a:xfrm>
            <a:off x="10744200" y="5394960"/>
            <a:ext cx="822959" cy="594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>
                <a:solidFill>
                  <a:srgbClr val="1E40AF"/>
                </a:solidFill>
                <a:latin typeface="Calibri"/>
              </a:rPr>
              <a:t>30/09</a:t>
            </a:r>
          </a:p>
        </p:txBody>
      </p:sp>
      <p:sp>
        <p:nvSpPr>
          <p:cNvPr id="81" name="Rounded Rectangle 80"/>
          <p:cNvSpPr/>
          <p:nvPr/>
        </p:nvSpPr>
        <p:spPr>
          <a:xfrm>
            <a:off x="457200" y="6080760"/>
            <a:ext cx="11247120" cy="411480"/>
          </a:xfrm>
          <a:prstGeom prst="roundRect">
            <a:avLst>
              <a:gd name="adj" fmla="val 8000"/>
            </a:avLst>
          </a:prstGeom>
          <a:solidFill>
            <a:srgbClr val="4A90E2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TextBox 81"/>
          <p:cNvSpPr txBox="1"/>
          <p:nvPr/>
        </p:nvSpPr>
        <p:spPr>
          <a:xfrm>
            <a:off x="640080" y="6126480"/>
            <a:ext cx="1088136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💡 Cada salida requiere IA en producción 2 meses antes con validación humana cruzada · Transición planificada.</a:t>
            </a:r>
          </a:p>
        </p:txBody>
      </p:sp>
      <p:cxnSp>
        <p:nvCxnSpPr>
          <p:cNvPr id="83" name="Connector 82"/>
          <p:cNvCxnSpPr/>
          <p:nvPr/>
        </p:nvCxnSpPr>
        <p:spPr>
          <a:xfrm>
            <a:off x="457200" y="6537960"/>
            <a:ext cx="11277295" cy="0"/>
          </a:xfrm>
          <a:prstGeom prst="line">
            <a:avLst/>
          </a:prstGeom>
          <a:ln w="9525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4" name="TextBox 83"/>
          <p:cNvSpPr txBox="1"/>
          <p:nvPr/>
        </p:nvSpPr>
        <p:spPr>
          <a:xfrm>
            <a:off x="457200" y="658368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>
                <a:solidFill>
                  <a:srgbClr val="475569"/>
                </a:solidFill>
                <a:latin typeface="Calibri"/>
              </a:rPr>
              <a:t>Plan IA · Operaciones y Finanzas · Mayo 2026</a:t>
            </a:r>
          </a:p>
        </p:txBody>
      </p:sp>
      <p:pic>
        <p:nvPicPr>
          <p:cNvPr id="85" name="Picture 84" descr="unionx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6565392"/>
            <a:ext cx="464949" cy="228600"/>
          </a:xfrm>
          <a:prstGeom prst="rect">
            <a:avLst/>
          </a:prstGeom>
        </p:spPr>
      </p:pic>
      <p:sp>
        <p:nvSpPr>
          <p:cNvPr id="86" name="TextBox 85"/>
          <p:cNvSpPr txBox="1"/>
          <p:nvPr/>
        </p:nvSpPr>
        <p:spPr>
          <a:xfrm>
            <a:off x="10789920" y="658368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>
                <a:solidFill>
                  <a:srgbClr val="475569"/>
                </a:solidFill>
                <a:latin typeface="Calibri"/>
              </a:rPr>
              <a:t>17 / 27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115568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>
                <a:solidFill>
                  <a:srgbClr val="1E40AF"/>
                </a:solidFill>
                <a:latin typeface="Calibri"/>
              </a:rPr>
              <a:t>Otras eficiencias directas habilitadas por 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51560"/>
            <a:ext cx="111556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>
                <a:solidFill>
                  <a:srgbClr val="475569"/>
                </a:solidFill>
                <a:latin typeface="Calibri"/>
              </a:rPr>
              <a:t>3 palancas adicionales que la centralización del Cerebro destraba.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691640"/>
            <a:ext cx="3703320" cy="4754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457200" y="1691640"/>
            <a:ext cx="3703320" cy="685800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1783080"/>
            <a:ext cx="333756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Reducción usuarios Odoo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606040"/>
            <a:ext cx="33375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800" b="1">
                <a:solidFill>
                  <a:srgbClr val="1E40AF"/>
                </a:solidFill>
                <a:latin typeface="Calibri"/>
              </a:rPr>
              <a:t>35 → 15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154680"/>
            <a:ext cx="33375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200" b="1">
                <a:solidFill>
                  <a:srgbClr val="10B981"/>
                </a:solidFill>
                <a:latin typeface="Calibri"/>
              </a:rPr>
              <a:t>$5,47 MM/año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3749039"/>
            <a:ext cx="3246120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0F172A"/>
                </a:solidFill>
                <a:latin typeface="Calibri"/>
              </a:rPr>
              <a:t>Apps centralizadas (Ventas + Finanzas + Ops + Planificación) reemplazan acceso directo de 20 personas.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5800" y="5074920"/>
            <a:ext cx="3246120" cy="45720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85800" y="5166360"/>
            <a:ext cx="32461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>
                <a:solidFill>
                  <a:srgbClr val="475569"/>
                </a:solidFill>
                <a:latin typeface="Calibri"/>
              </a:rPr>
              <a:t>PRERREQUISITO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5440680"/>
            <a:ext cx="324612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>
                <a:solidFill>
                  <a:srgbClr val="0F172A"/>
                </a:solidFill>
                <a:latin typeface="Calibri"/>
              </a:rPr>
              <a:t>Audit usos 90d · capacitación · apps cubren flujos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97680" y="1691640"/>
            <a:ext cx="3703320" cy="4754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4297680" y="1691640"/>
            <a:ext cx="3703320" cy="685800"/>
          </a:xfrm>
          <a:prstGeom prst="rect">
            <a:avLst/>
          </a:prstGeom>
          <a:solidFill>
            <a:srgbClr val="4A90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480560" y="1783080"/>
            <a:ext cx="333756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Eliminación Multivende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80560" y="2606040"/>
            <a:ext cx="33375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800" b="1">
                <a:solidFill>
                  <a:srgbClr val="4A90E2"/>
                </a:solidFill>
                <a:latin typeface="Calibri"/>
              </a:rPr>
              <a:t>DESDE JUNIO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80560" y="3154680"/>
            <a:ext cx="33375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200" b="1">
                <a:solidFill>
                  <a:srgbClr val="10B981"/>
                </a:solidFill>
                <a:latin typeface="Calibri"/>
              </a:rPr>
              <a:t>$1,98 MM/año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26280" y="3749039"/>
            <a:ext cx="3246120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0F172A"/>
                </a:solidFill>
                <a:latin typeface="Calibri"/>
              </a:rPr>
              <a:t>Integraciones directas Odoo ↔ marketplaces vía Agente COMEX reemplazan Multivende.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26280" y="5074920"/>
            <a:ext cx="3246120" cy="45720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526280" y="5166360"/>
            <a:ext cx="32461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>
                <a:solidFill>
                  <a:srgbClr val="475569"/>
                </a:solidFill>
                <a:latin typeface="Calibri"/>
              </a:rPr>
              <a:t>PRERREQUISITO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26280" y="5440680"/>
            <a:ext cx="324612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>
                <a:solidFill>
                  <a:srgbClr val="0F172A"/>
                </a:solidFill>
                <a:latin typeface="Calibri"/>
              </a:rPr>
              <a:t>Definir integración alternativa · 1 ciclo validado · rollback plan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138160" y="1691640"/>
            <a:ext cx="3703320" cy="4754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8138160" y="1691640"/>
            <a:ext cx="3703320" cy="6858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321040" y="1783080"/>
            <a:ext cx="333756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Fulfillment Falabella +10%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21040" y="2606040"/>
            <a:ext cx="33375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800" b="1">
                <a:solidFill>
                  <a:srgbClr val="10B981"/>
                </a:solidFill>
                <a:latin typeface="Calibri"/>
              </a:rPr>
              <a:t>+10% share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21040" y="3154680"/>
            <a:ext cx="33375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200" b="1">
                <a:solidFill>
                  <a:srgbClr val="10B981"/>
                </a:solidFill>
                <a:latin typeface="Calibri"/>
              </a:rPr>
              <a:t>$1,28 MM/año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66760" y="3749039"/>
            <a:ext cx="3246120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0F172A"/>
                </a:solidFill>
                <a:latin typeface="Calibri"/>
              </a:rPr>
              <a:t>Tarifa fulfillment Fala ($2.490/ped) &lt; costo bodega allocated ($2.887/ped) · +$397/ped a favor.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366760" y="5074920"/>
            <a:ext cx="3246120" cy="45720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366760" y="5166360"/>
            <a:ext cx="32461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>
                <a:solidFill>
                  <a:srgbClr val="475569"/>
                </a:solidFill>
                <a:latin typeface="Calibri"/>
              </a:rPr>
              <a:t>PRERREQUISITO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66760" y="5440680"/>
            <a:ext cx="324612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>
                <a:solidFill>
                  <a:srgbClr val="0F172A"/>
                </a:solidFill>
                <a:latin typeface="Calibri"/>
              </a:rPr>
              <a:t>Costo variable real · plan migración SKUs · decisión Comité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457200" y="6537960"/>
            <a:ext cx="11277295" cy="0"/>
          </a:xfrm>
          <a:prstGeom prst="line">
            <a:avLst/>
          </a:prstGeom>
          <a:ln w="9525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457200" y="658368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>
                <a:solidFill>
                  <a:srgbClr val="475569"/>
                </a:solidFill>
                <a:latin typeface="Calibri"/>
              </a:rPr>
              <a:t>Plan IA · Operaciones y Finanzas · Mayo 2026</a:t>
            </a:r>
          </a:p>
        </p:txBody>
      </p:sp>
      <p:pic>
        <p:nvPicPr>
          <p:cNvPr id="34" name="Picture 33" descr="unionx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6565392"/>
            <a:ext cx="464949" cy="228600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10789920" y="658368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>
                <a:solidFill>
                  <a:srgbClr val="475569"/>
                </a:solidFill>
                <a:latin typeface="Calibri"/>
              </a:rPr>
              <a:t>18 / 27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115568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>
                <a:solidFill>
                  <a:srgbClr val="1E40AF"/>
                </a:solidFill>
                <a:latin typeface="Calibri"/>
              </a:rPr>
              <a:t>Ahorros POTENCIALES — escenario conservador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51560"/>
            <a:ext cx="111556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>
                <a:solidFill>
                  <a:srgbClr val="475569"/>
                </a:solidFill>
                <a:latin typeface="Calibri"/>
              </a:rPr>
              <a:t>Más allá de los costos directos: lo que la IA habilita en eficiencia operativa y comercial.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691640"/>
            <a:ext cx="11247120" cy="1463040"/>
          </a:xfrm>
          <a:prstGeom prst="roundRect">
            <a:avLst>
              <a:gd name="adj" fmla="val 8000"/>
            </a:avLst>
          </a:prstGeom>
          <a:solidFill>
            <a:srgbClr val="059669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1828800"/>
            <a:ext cx="108813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POTENCIAL ADICIONAL · RUN-RATE ANUAL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194560"/>
            <a:ext cx="1088136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5800" b="1">
                <a:solidFill>
                  <a:srgbClr val="FFFFFF"/>
                </a:solidFill>
                <a:latin typeface="Calibri"/>
              </a:rPr>
              <a:t>+$58 MM/año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880360"/>
            <a:ext cx="108813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>ESCENARIO CONSERVADOR — depende de implementación correcta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337560"/>
            <a:ext cx="3703320" cy="3063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57200" y="3337560"/>
            <a:ext cx="3703320" cy="7772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94360" y="3383280"/>
            <a:ext cx="3429000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📊 FORECASTING
Reducir quiebres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4251960"/>
            <a:ext cx="34290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400" b="1">
                <a:solidFill>
                  <a:srgbClr val="10B981"/>
                </a:solidFill>
                <a:latin typeface="Calibri"/>
              </a:rPr>
              <a:t>$28 MM/año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4800600"/>
            <a:ext cx="3246120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>
                <a:solidFill>
                  <a:srgbClr val="0F172A"/>
                </a:solidFill>
                <a:latin typeface="Calibri"/>
              </a:rPr>
              <a:t>Tasa quiebres actual estimada: ~5% demanda perdida (multi-canal)</a:t>
            </a:r>
          </a:p>
          <a:p>
            <a:pPr algn="l"/>
            <a:r>
              <a:rPr sz="1000" b="0">
                <a:solidFill>
                  <a:srgbClr val="0F172A"/>
                </a:solidFill>
                <a:latin typeface="Calibri"/>
              </a:rPr>
              <a:t>Mejor forecasting → reducir a 3% (-2 pp)</a:t>
            </a:r>
          </a:p>
          <a:p>
            <a:pPr algn="l"/>
            <a:r>
              <a:rPr sz="1000" b="0">
                <a:solidFill>
                  <a:srgbClr val="0F172A"/>
                </a:solidFill>
                <a:latin typeface="Calibri"/>
              </a:rPr>
              <a:t>Recupero 2% × $5.000 MM venta = $100 MM en ventas</a:t>
            </a:r>
          </a:p>
          <a:p>
            <a:pPr algn="l"/>
            <a:r>
              <a:rPr sz="1000" b="0">
                <a:solidFill>
                  <a:srgbClr val="0F172A"/>
                </a:solidFill>
                <a:latin typeface="Calibri"/>
              </a:rPr>
              <a:t>Margen 56% = $56 MM · Conservador 50% = $28 MM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97680" y="3337560"/>
            <a:ext cx="3703320" cy="3063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4297680" y="3337560"/>
            <a:ext cx="3703320" cy="7772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434840" y="3383280"/>
            <a:ext cx="3429000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📦 INVENTARIO
-0,5 mes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34840" y="4251960"/>
            <a:ext cx="34290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400" b="1">
                <a:solidFill>
                  <a:srgbClr val="10B981"/>
                </a:solidFill>
                <a:latin typeface="Calibri"/>
              </a:rPr>
              <a:t>$15 MM/año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26280" y="4800600"/>
            <a:ext cx="3246120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>
                <a:solidFill>
                  <a:srgbClr val="0F172A"/>
                </a:solidFill>
                <a:latin typeface="Calibri"/>
              </a:rPr>
              <a:t>Inventario promedio estimado: ~$250 MM</a:t>
            </a:r>
          </a:p>
          <a:p>
            <a:pPr algn="l"/>
            <a:r>
              <a:rPr sz="1000" b="0">
                <a:solidFill>
                  <a:srgbClr val="0F172A"/>
                </a:solidFill>
                <a:latin typeface="Calibri"/>
              </a:rPr>
              <a:t>Reducir 0,5 mes = $125 MM capital trabajo liberado</a:t>
            </a:r>
          </a:p>
          <a:p>
            <a:pPr algn="l"/>
            <a:r>
              <a:rPr sz="1000" b="0">
                <a:solidFill>
                  <a:srgbClr val="0F172A"/>
                </a:solidFill>
                <a:latin typeface="Calibri"/>
              </a:rPr>
              <a:t>Costo financiero (12% anual) = $15 MM/año</a:t>
            </a:r>
          </a:p>
          <a:p>
            <a:pPr algn="l"/>
            <a:r>
              <a:rPr sz="1000" b="0">
                <a:solidFill>
                  <a:srgbClr val="0F172A"/>
                </a:solidFill>
                <a:latin typeface="Calibri"/>
              </a:rPr>
              <a:t>+ Costo operativo evitado ~$3 MM/año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38160" y="3337560"/>
            <a:ext cx="3703320" cy="3063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8138160" y="3337560"/>
            <a:ext cx="3703320" cy="7772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275320" y="3383280"/>
            <a:ext cx="3429000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🎯 MARGEN FINAL
Mix óptimo canales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75320" y="4251960"/>
            <a:ext cx="34290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400" b="1">
                <a:solidFill>
                  <a:srgbClr val="10B981"/>
                </a:solidFill>
                <a:latin typeface="Calibri"/>
              </a:rPr>
              <a:t>$15 MM/año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66760" y="4800600"/>
            <a:ext cx="3246120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>
                <a:solidFill>
                  <a:srgbClr val="0F172A"/>
                </a:solidFill>
                <a:latin typeface="Calibri"/>
              </a:rPr>
              <a:t>Hoy margen_final = margen_front (sin comisión/log/mkt)</a:t>
            </a:r>
          </a:p>
          <a:p>
            <a:pPr algn="l"/>
            <a:r>
              <a:rPr sz="1000" b="0">
                <a:solidFill>
                  <a:srgbClr val="0F172A"/>
                </a:solidFill>
                <a:latin typeface="Calibri"/>
              </a:rPr>
              <a:t>Con margen real → cortar canales tóxicos</a:t>
            </a:r>
          </a:p>
          <a:p>
            <a:pPr algn="l"/>
            <a:r>
              <a:rPr sz="1000" b="0">
                <a:solidFill>
                  <a:srgbClr val="0F172A"/>
                </a:solidFill>
                <a:latin typeface="Calibri"/>
              </a:rPr>
              <a:t>Mejora margen +1 pp sobre $5.000 MM = $50 MM</a:t>
            </a:r>
          </a:p>
          <a:p>
            <a:pPr algn="l"/>
            <a:r>
              <a:rPr sz="1000" b="0">
                <a:solidFill>
                  <a:srgbClr val="0F172A"/>
                </a:solidFill>
                <a:latin typeface="Calibri"/>
              </a:rPr>
              <a:t>Conservador 30% = $15 MM/año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457200" y="6537960"/>
            <a:ext cx="11277295" cy="0"/>
          </a:xfrm>
          <a:prstGeom prst="line">
            <a:avLst/>
          </a:prstGeom>
          <a:ln w="9525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457200" y="658368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>
                <a:solidFill>
                  <a:srgbClr val="475569"/>
                </a:solidFill>
                <a:latin typeface="Calibri"/>
              </a:rPr>
              <a:t>Plan IA · Operaciones y Finanzas · Mayo 2026</a:t>
            </a:r>
          </a:p>
        </p:txBody>
      </p:sp>
      <p:pic>
        <p:nvPicPr>
          <p:cNvPr id="26" name="Picture 25" descr="unionx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6565392"/>
            <a:ext cx="464949" cy="228600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10789920" y="658368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>
                <a:solidFill>
                  <a:srgbClr val="475569"/>
                </a:solidFill>
                <a:latin typeface="Calibri"/>
              </a:rPr>
              <a:t>19 / 27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115568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>
                <a:solidFill>
                  <a:srgbClr val="1E40AF"/>
                </a:solidFill>
                <a:latin typeface="Calibri"/>
              </a:rPr>
              <a:t>Qué necesitamos para lograr las otras eficiencias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51560"/>
            <a:ext cx="111556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>
                <a:solidFill>
                  <a:srgbClr val="475569"/>
                </a:solidFill>
                <a:latin typeface="Calibri"/>
              </a:rPr>
              <a:t>Prerrequisitos técnicos + organizacionales con owner y deadline.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691640"/>
            <a:ext cx="2194560" cy="457200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1737360"/>
            <a:ext cx="20574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Eficiencia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0" y="1691640"/>
            <a:ext cx="3108960" cy="457200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834640" y="1737360"/>
            <a:ext cx="29718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Prerrequisito técnico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0" y="1691640"/>
            <a:ext cx="3154680" cy="457200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035040" y="1737360"/>
            <a:ext cx="301752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Prerrequisito organizacional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189720" y="1691640"/>
            <a:ext cx="1463039" cy="457200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281160" y="1737360"/>
            <a:ext cx="132588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Owner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744200" y="1691640"/>
            <a:ext cx="960120" cy="457200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0835640" y="1737360"/>
            <a:ext cx="82296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Deadline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2194560"/>
            <a:ext cx="2194560" cy="123444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48640" y="2240279"/>
            <a:ext cx="2011680" cy="1143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1">
                <a:solidFill>
                  <a:srgbClr val="1E40AF"/>
                </a:solidFill>
                <a:latin typeface="Calibri"/>
              </a:rPr>
              <a:t>Eliminación Multivende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0" y="2194560"/>
            <a:ext cx="3108960" cy="123444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2834640" y="2240279"/>
            <a:ext cx="2926080" cy="1143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0F172A"/>
                </a:solidFill>
                <a:latin typeface="Calibri"/>
              </a:rPr>
              <a:t>Integración directa Odoo ↔ MP via Agente COMEX · 1 ciclo validado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943600" y="2194560"/>
            <a:ext cx="3154680" cy="123444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035040" y="2240279"/>
            <a:ext cx="2971800" cy="1143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0F172A"/>
                </a:solidFill>
                <a:latin typeface="Calibri"/>
              </a:rPr>
              <a:t>Validación Felipe · plan rollback si falla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189720" y="2194560"/>
            <a:ext cx="1463039" cy="123444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281160" y="2240279"/>
            <a:ext cx="1280160" cy="1143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0F172A"/>
                </a:solidFill>
                <a:latin typeface="Calibri"/>
              </a:rPr>
              <a:t>Andrés + Felipe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0744200" y="2194560"/>
            <a:ext cx="960120" cy="123444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10835640" y="2240279"/>
            <a:ext cx="777240" cy="1143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50" b="1">
                <a:solidFill>
                  <a:srgbClr val="0F172A"/>
                </a:solidFill>
                <a:latin typeface="Calibri"/>
              </a:rPr>
              <a:t>JUN 2026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3474720"/>
            <a:ext cx="2194560" cy="123444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48640" y="3520439"/>
            <a:ext cx="2011680" cy="1143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1">
                <a:solidFill>
                  <a:srgbClr val="1E40AF"/>
                </a:solidFill>
                <a:latin typeface="Calibri"/>
              </a:rPr>
              <a:t>Fulfillment +10% Fala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743200" y="3474720"/>
            <a:ext cx="3108960" cy="123444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2834640" y="3520439"/>
            <a:ext cx="2926080" cy="1143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0F172A"/>
                </a:solidFill>
                <a:latin typeface="Calibri"/>
              </a:rPr>
              <a:t>Costo variable evitable real · plan migración SKUs · stock fulfillment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943600" y="3474720"/>
            <a:ext cx="3154680" cy="123444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035040" y="3520439"/>
            <a:ext cx="2971800" cy="1143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0F172A"/>
                </a:solidFill>
                <a:latin typeface="Calibri"/>
              </a:rPr>
              <a:t>Decisión Comité Comercial · política inventario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189720" y="3474720"/>
            <a:ext cx="1463039" cy="123444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9281160" y="3520439"/>
            <a:ext cx="1280160" cy="1143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0F172A"/>
                </a:solidFill>
                <a:latin typeface="Calibri"/>
              </a:rPr>
              <a:t>Andrés + Comité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0744200" y="3474720"/>
            <a:ext cx="960120" cy="123444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10835640" y="3520439"/>
            <a:ext cx="777240" cy="1143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50" b="1">
                <a:solidFill>
                  <a:srgbClr val="0F172A"/>
                </a:solidFill>
                <a:latin typeface="Calibri"/>
              </a:rPr>
              <a:t>Q4 2026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57200" y="4754879"/>
            <a:ext cx="2194560" cy="123444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548640" y="4800599"/>
            <a:ext cx="2011680" cy="1143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1">
                <a:solidFill>
                  <a:srgbClr val="1E40AF"/>
                </a:solidFill>
                <a:latin typeface="Calibri"/>
              </a:rPr>
              <a:t>Odoo 35 → 15 usuarios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743200" y="4754879"/>
            <a:ext cx="3108960" cy="123444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2834640" y="4800599"/>
            <a:ext cx="2926080" cy="1143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0F172A"/>
                </a:solidFill>
                <a:latin typeface="Calibri"/>
              </a:rPr>
              <a:t>Apps cubren flujos de 20 usuarios · capacitación 2 sesiones · audit 90d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943600" y="4754879"/>
            <a:ext cx="3154680" cy="123444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6035040" y="4800599"/>
            <a:ext cx="2971800" cy="1143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0F172A"/>
                </a:solidFill>
                <a:latin typeface="Calibri"/>
              </a:rPr>
              <a:t>Comunicación al equipo · acuerdos por área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189720" y="4754879"/>
            <a:ext cx="1463039" cy="123444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9281160" y="4800599"/>
            <a:ext cx="1280160" cy="1143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0F172A"/>
                </a:solidFill>
                <a:latin typeface="Calibri"/>
              </a:rPr>
              <a:t>Andrés + IT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0744200" y="4754879"/>
            <a:ext cx="960120" cy="123444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10835640" y="4800599"/>
            <a:ext cx="777240" cy="1143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50" b="1">
                <a:solidFill>
                  <a:srgbClr val="0F172A"/>
                </a:solidFill>
                <a:latin typeface="Calibri"/>
              </a:rPr>
              <a:t>Q3 2026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457200" y="6080760"/>
            <a:ext cx="11247120" cy="411480"/>
          </a:xfrm>
          <a:prstGeom prst="roundRect">
            <a:avLst>
              <a:gd name="adj" fmla="val 8000"/>
            </a:avLst>
          </a:prstGeom>
          <a:solidFill>
            <a:srgbClr val="EA580C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640080" y="6126480"/>
            <a:ext cx="1088136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⚠️ Esta tabla es el insumo principal de la Carta Gantt del siguiente bloque.</a:t>
            </a:r>
          </a:p>
        </p:txBody>
      </p:sp>
      <p:cxnSp>
        <p:nvCxnSpPr>
          <p:cNvPr id="47" name="Connector 46"/>
          <p:cNvCxnSpPr/>
          <p:nvPr/>
        </p:nvCxnSpPr>
        <p:spPr>
          <a:xfrm>
            <a:off x="457200" y="6537960"/>
            <a:ext cx="11277295" cy="0"/>
          </a:xfrm>
          <a:prstGeom prst="line">
            <a:avLst/>
          </a:prstGeom>
          <a:ln w="9525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TextBox 47"/>
          <p:cNvSpPr txBox="1"/>
          <p:nvPr/>
        </p:nvSpPr>
        <p:spPr>
          <a:xfrm>
            <a:off x="457200" y="658368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>
                <a:solidFill>
                  <a:srgbClr val="475569"/>
                </a:solidFill>
                <a:latin typeface="Calibri"/>
              </a:rPr>
              <a:t>Plan IA · Operaciones y Finanzas · Mayo 2026</a:t>
            </a:r>
          </a:p>
        </p:txBody>
      </p:sp>
      <p:pic>
        <p:nvPicPr>
          <p:cNvPr id="49" name="Picture 48" descr="unionx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6565392"/>
            <a:ext cx="464949" cy="228600"/>
          </a:xfrm>
          <a:prstGeom prst="rect">
            <a:avLst/>
          </a:prstGeom>
        </p:spPr>
      </p:pic>
      <p:sp>
        <p:nvSpPr>
          <p:cNvPr id="50" name="TextBox 49"/>
          <p:cNvSpPr txBox="1"/>
          <p:nvPr/>
        </p:nvSpPr>
        <p:spPr>
          <a:xfrm>
            <a:off x="10789920" y="658368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>
                <a:solidFill>
                  <a:srgbClr val="475569"/>
                </a:solidFill>
                <a:latin typeface="Calibri"/>
              </a:rPr>
              <a:t>20 / 27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115568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>
                <a:solidFill>
                  <a:srgbClr val="1E40AF"/>
                </a:solidFill>
                <a:latin typeface="Calibri"/>
              </a:rPr>
              <a:t>Carta Gantt — Vista macro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51560"/>
            <a:ext cx="111556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>
                <a:solidFill>
                  <a:srgbClr val="475569"/>
                </a:solidFill>
                <a:latin typeface="Calibri"/>
              </a:rPr>
              <a:t>3 capas: Cerebro (por área) · Salidas personal · Otras eficiencias.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0" y="1691640"/>
            <a:ext cx="1078992" cy="365760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657600" y="1691640"/>
            <a:ext cx="1078992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Jun</a:t>
            </a:r>
          </a:p>
        </p:txBody>
      </p:sp>
      <p:sp>
        <p:nvSpPr>
          <p:cNvPr id="7" name="Rectangle 6"/>
          <p:cNvSpPr/>
          <p:nvPr/>
        </p:nvSpPr>
        <p:spPr>
          <a:xfrm>
            <a:off x="4754880" y="1691640"/>
            <a:ext cx="1078992" cy="365760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754880" y="1691640"/>
            <a:ext cx="1078992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Jul</a:t>
            </a:r>
          </a:p>
        </p:txBody>
      </p:sp>
      <p:sp>
        <p:nvSpPr>
          <p:cNvPr id="9" name="Rectangle 8"/>
          <p:cNvSpPr/>
          <p:nvPr/>
        </p:nvSpPr>
        <p:spPr>
          <a:xfrm>
            <a:off x="5852160" y="1691640"/>
            <a:ext cx="1078992" cy="365760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852160" y="1691640"/>
            <a:ext cx="1078992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Ago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949440" y="1691640"/>
            <a:ext cx="1078992" cy="365760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949440" y="1691640"/>
            <a:ext cx="1078992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Sep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046720" y="1691640"/>
            <a:ext cx="1078992" cy="365760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046720" y="1691640"/>
            <a:ext cx="1078992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Oct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144000" y="1691640"/>
            <a:ext cx="1078992" cy="365760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144000" y="1691640"/>
            <a:ext cx="1078992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Nov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241280" y="1691640"/>
            <a:ext cx="1078992" cy="365760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0241280" y="1691640"/>
            <a:ext cx="1078992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Dic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2148840"/>
            <a:ext cx="31089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DC2626"/>
                </a:solidFill>
                <a:latin typeface="Calibri"/>
              </a:rPr>
              <a:t>Hitos personal</a:t>
            </a:r>
          </a:p>
        </p:txBody>
      </p:sp>
      <p:sp>
        <p:nvSpPr>
          <p:cNvPr id="20" name="Down Arrow 19"/>
          <p:cNvSpPr/>
          <p:nvPr/>
        </p:nvSpPr>
        <p:spPr>
          <a:xfrm>
            <a:off x="5715000" y="2148840"/>
            <a:ext cx="274320" cy="320040"/>
          </a:xfrm>
          <a:prstGeom prst="downArrow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Down Arrow 20"/>
          <p:cNvSpPr/>
          <p:nvPr/>
        </p:nvSpPr>
        <p:spPr>
          <a:xfrm>
            <a:off x="6263640" y="2148840"/>
            <a:ext cx="274320" cy="320040"/>
          </a:xfrm>
          <a:prstGeom prst="downArrow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Down Arrow 21"/>
          <p:cNvSpPr/>
          <p:nvPr/>
        </p:nvSpPr>
        <p:spPr>
          <a:xfrm>
            <a:off x="7360919" y="2148840"/>
            <a:ext cx="274320" cy="320040"/>
          </a:xfrm>
          <a:prstGeom prst="downArrow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Down Arrow 22"/>
          <p:cNvSpPr/>
          <p:nvPr/>
        </p:nvSpPr>
        <p:spPr>
          <a:xfrm>
            <a:off x="7909559" y="2148840"/>
            <a:ext cx="274320" cy="320040"/>
          </a:xfrm>
          <a:prstGeom prst="downArrow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Down Arrow 23"/>
          <p:cNvSpPr/>
          <p:nvPr/>
        </p:nvSpPr>
        <p:spPr>
          <a:xfrm>
            <a:off x="8458200" y="2148840"/>
            <a:ext cx="274320" cy="320040"/>
          </a:xfrm>
          <a:prstGeom prst="downArrow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57200" y="2606040"/>
            <a:ext cx="3108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1E40AF"/>
                </a:solidFill>
                <a:latin typeface="Calibri"/>
              </a:rPr>
              <a:t>Cerebro por área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2880360"/>
            <a:ext cx="310896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0F172A"/>
                </a:solidFill>
                <a:latin typeface="Calibri"/>
              </a:rPr>
              <a:t>SAC F1→F3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657600" y="2916936"/>
            <a:ext cx="1600199" cy="182880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57200" y="3154679"/>
            <a:ext cx="310896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0F172A"/>
                </a:solidFill>
                <a:latin typeface="Calibri"/>
              </a:rPr>
              <a:t>Contabilidad LCV F2→F3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657600" y="3191256"/>
            <a:ext cx="1600199" cy="182880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457200" y="3429000"/>
            <a:ext cx="310896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0F172A"/>
                </a:solidFill>
                <a:latin typeface="Calibri"/>
              </a:rPr>
              <a:t>Facturación F2→F3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206240" y="3465576"/>
            <a:ext cx="1600199" cy="182880"/>
          </a:xfrm>
          <a:prstGeom prst="rect">
            <a:avLst/>
          </a:prstGeom>
          <a:solidFill>
            <a:srgbClr val="FACC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457200" y="3703320"/>
            <a:ext cx="310896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0F172A"/>
                </a:solidFill>
                <a:latin typeface="Calibri"/>
              </a:rPr>
              <a:t>EEFF F1→F3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303520" y="3739896"/>
            <a:ext cx="2148840" cy="182880"/>
          </a:xfrm>
          <a:prstGeom prst="rect">
            <a:avLst/>
          </a:prstGeom>
          <a:solidFill>
            <a:srgbClr val="FACC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457200" y="3977639"/>
            <a:ext cx="310896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0F172A"/>
                </a:solidFill>
                <a:latin typeface="Calibri"/>
              </a:rPr>
              <a:t>Finanzas F3→F4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657600" y="4014215"/>
            <a:ext cx="3246120" cy="182880"/>
          </a:xfrm>
          <a:prstGeom prst="rect">
            <a:avLst/>
          </a:prstGeom>
          <a:solidFill>
            <a:srgbClr val="4A90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457200" y="4251960"/>
            <a:ext cx="310896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0F172A"/>
                </a:solidFill>
                <a:latin typeface="Calibri"/>
              </a:rPr>
              <a:t>Ventas F4 Mg Real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657600" y="4288536"/>
            <a:ext cx="2148840" cy="182880"/>
          </a:xfrm>
          <a:prstGeom prst="rect">
            <a:avLst/>
          </a:prstGeom>
          <a:solidFill>
            <a:srgbClr val="4A90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457200" y="4526279"/>
            <a:ext cx="310896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0F172A"/>
                </a:solidFill>
                <a:latin typeface="Calibri"/>
              </a:rPr>
              <a:t>Operaciones COMEX v2 + pre-embarque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657600" y="4562855"/>
            <a:ext cx="4343400" cy="182880"/>
          </a:xfrm>
          <a:prstGeom prst="rect">
            <a:avLst/>
          </a:prstGeom>
          <a:solidFill>
            <a:srgbClr val="4A90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457200" y="4800600"/>
            <a:ext cx="310896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0F172A"/>
                </a:solidFill>
                <a:latin typeface="Calibri"/>
              </a:rPr>
              <a:t>Planificación F3 (control equipo)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657600" y="4837176"/>
            <a:ext cx="1051560" cy="182880"/>
          </a:xfrm>
          <a:prstGeom prst="rect">
            <a:avLst/>
          </a:prstGeom>
          <a:solidFill>
            <a:srgbClr val="4A90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457200" y="5074920"/>
            <a:ext cx="310896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0F172A"/>
                </a:solidFill>
                <a:latin typeface="Calibri"/>
              </a:rPr>
              <a:t>Cerebro Voz (POC+prod)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498079" y="5111496"/>
            <a:ext cx="3246120" cy="182880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44" name="Connector 43"/>
          <p:cNvCxnSpPr/>
          <p:nvPr/>
        </p:nvCxnSpPr>
        <p:spPr>
          <a:xfrm>
            <a:off x="457200" y="5486400"/>
            <a:ext cx="10972800" cy="0"/>
          </a:xfrm>
          <a:prstGeom prst="line">
            <a:avLst/>
          </a:prstGeom>
          <a:ln w="9525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TextBox 44"/>
          <p:cNvSpPr txBox="1"/>
          <p:nvPr/>
        </p:nvSpPr>
        <p:spPr>
          <a:xfrm>
            <a:off x="457200" y="5532120"/>
            <a:ext cx="3108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10B981"/>
                </a:solidFill>
                <a:latin typeface="Calibri"/>
              </a:rPr>
              <a:t>Otras eficiencias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57200" y="5852160"/>
            <a:ext cx="310896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0F172A"/>
                </a:solidFill>
                <a:latin typeface="Calibri"/>
              </a:rPr>
              <a:t>Multivende eliminado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657600" y="5879592"/>
            <a:ext cx="1051560" cy="20116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457200" y="6126480"/>
            <a:ext cx="310896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0F172A"/>
                </a:solidFill>
                <a:latin typeface="Calibri"/>
              </a:rPr>
              <a:t>Odoo 35→15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754880" y="6153912"/>
            <a:ext cx="2148840" cy="20116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457200" y="6400800"/>
            <a:ext cx="310896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0F172A"/>
                </a:solidFill>
                <a:latin typeface="Calibri"/>
              </a:rPr>
              <a:t>Fulfillment Fala +10%</a:t>
            </a:r>
          </a:p>
        </p:txBody>
      </p:sp>
      <p:sp>
        <p:nvSpPr>
          <p:cNvPr id="51" name="Rectangle 50"/>
          <p:cNvSpPr/>
          <p:nvPr/>
        </p:nvSpPr>
        <p:spPr>
          <a:xfrm>
            <a:off x="7498079" y="6428232"/>
            <a:ext cx="3246120" cy="20116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52" name="Connector 51"/>
          <p:cNvCxnSpPr/>
          <p:nvPr/>
        </p:nvCxnSpPr>
        <p:spPr>
          <a:xfrm>
            <a:off x="457200" y="6537960"/>
            <a:ext cx="11277295" cy="0"/>
          </a:xfrm>
          <a:prstGeom prst="line">
            <a:avLst/>
          </a:prstGeom>
          <a:ln w="9525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TextBox 52"/>
          <p:cNvSpPr txBox="1"/>
          <p:nvPr/>
        </p:nvSpPr>
        <p:spPr>
          <a:xfrm>
            <a:off x="457200" y="658368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>
                <a:solidFill>
                  <a:srgbClr val="475569"/>
                </a:solidFill>
                <a:latin typeface="Calibri"/>
              </a:rPr>
              <a:t>Plan IA · Operaciones y Finanzas · Mayo 2026</a:t>
            </a:r>
          </a:p>
        </p:txBody>
      </p:sp>
      <p:pic>
        <p:nvPicPr>
          <p:cNvPr id="54" name="Picture 53" descr="unionx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0" y="6565392"/>
            <a:ext cx="464949" cy="228600"/>
          </a:xfrm>
          <a:prstGeom prst="rect">
            <a:avLst/>
          </a:prstGeom>
        </p:spPr>
      </p:pic>
      <p:sp>
        <p:nvSpPr>
          <p:cNvPr id="55" name="TextBox 54"/>
          <p:cNvSpPr txBox="1"/>
          <p:nvPr/>
        </p:nvSpPr>
        <p:spPr>
          <a:xfrm>
            <a:off x="10789920" y="658368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>
                <a:solidFill>
                  <a:srgbClr val="475569"/>
                </a:solidFill>
                <a:latin typeface="Calibri"/>
              </a:rPr>
              <a:t>21 / 27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115568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>
                <a:solidFill>
                  <a:srgbClr val="1E40AF"/>
                </a:solidFill>
                <a:latin typeface="Calibri"/>
              </a:rPr>
              <a:t>Hitos críticos — Entregables previos a cada salida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51560"/>
            <a:ext cx="111556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>
                <a:solidFill>
                  <a:srgbClr val="475569"/>
                </a:solidFill>
                <a:latin typeface="Calibri"/>
              </a:rPr>
              <a:t>Para cada fecha, los entregables IA tienen que estar en producción y validados antes.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691640"/>
            <a:ext cx="2240280" cy="64008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1737360"/>
            <a:ext cx="2057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31 JUL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011680"/>
            <a:ext cx="2057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Calibri"/>
              </a:rPr>
              <a:t>Anal. Log. Inv. + Anal. Cont. #1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331720"/>
            <a:ext cx="2240280" cy="4069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94360" y="2468880"/>
            <a:ext cx="1965960" cy="3840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>
                <a:solidFill>
                  <a:srgbClr val="0F172A"/>
                </a:solidFill>
                <a:latin typeface="Calibri"/>
              </a:rPr>
              <a:t>• Agente SAC F1 completo (15-jun)</a:t>
            </a:r>
          </a:p>
          <a:p>
            <a:pPr algn="l"/>
            <a:r>
              <a:rPr sz="950" b="0">
                <a:solidFill>
                  <a:srgbClr val="0F172A"/>
                </a:solidFill>
                <a:latin typeface="Calibri"/>
              </a:rPr>
              <a:t>• Agente SAC F2-F3 informe auto (30-jun)</a:t>
            </a:r>
          </a:p>
          <a:p>
            <a:pPr algn="l"/>
            <a:r>
              <a:rPr sz="950" b="0">
                <a:solidFill>
                  <a:srgbClr val="0F172A"/>
                </a:solidFill>
                <a:latin typeface="Calibri"/>
              </a:rPr>
              <a:t>• 2 ciclos validados sin error (15-jul)</a:t>
            </a:r>
          </a:p>
          <a:p>
            <a:pPr algn="l"/>
            <a:r>
              <a:rPr sz="950" b="0">
                <a:solidFill>
                  <a:srgbClr val="0F172A"/>
                </a:solidFill>
                <a:latin typeface="Calibri"/>
              </a:rPr>
              <a:t>• Agente LCV-Compras 60d prod (15-jul)</a:t>
            </a:r>
          </a:p>
          <a:p>
            <a:pPr algn="l"/>
            <a:r>
              <a:rPr sz="950" b="0">
                <a:solidFill>
                  <a:srgbClr val="0F172A"/>
                </a:solidFill>
                <a:latin typeface="Calibri"/>
              </a:rPr>
              <a:t>• Onboarding Camila/Víctor (20-jul)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0" y="1691640"/>
            <a:ext cx="2240280" cy="640080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834640" y="1737360"/>
            <a:ext cx="2057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15 AGO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34640" y="2011680"/>
            <a:ext cx="2057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Calibri"/>
              </a:rPr>
              <a:t>Facturadora #1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743200" y="2331720"/>
            <a:ext cx="2240280" cy="4069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2880360" y="2468880"/>
            <a:ext cx="1965960" cy="3840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>
                <a:solidFill>
                  <a:srgbClr val="0F172A"/>
                </a:solidFill>
                <a:latin typeface="Calibri"/>
              </a:rPr>
              <a:t>• POC etiqueta+deadline en prod (30-jun)</a:t>
            </a:r>
          </a:p>
          <a:p>
            <a:pPr algn="l"/>
            <a:r>
              <a:rPr sz="950" b="0">
                <a:solidFill>
                  <a:srgbClr val="0F172A"/>
                </a:solidFill>
                <a:latin typeface="Calibri"/>
              </a:rPr>
              <a:t>• 2 ciclos completos sin error (julio)</a:t>
            </a:r>
          </a:p>
          <a:p>
            <a:pPr algn="l"/>
            <a:r>
              <a:rPr sz="950" b="0">
                <a:solidFill>
                  <a:srgbClr val="0F172A"/>
                </a:solidFill>
                <a:latin typeface="Calibri"/>
              </a:rPr>
              <a:t>• Tabla criterio facturación canal (15-jul)</a:t>
            </a:r>
          </a:p>
          <a:p>
            <a:pPr algn="l"/>
            <a:r>
              <a:rPr sz="950" b="0">
                <a:solidFill>
                  <a:srgbClr val="0F172A"/>
                </a:solidFill>
                <a:latin typeface="Calibri"/>
              </a:rPr>
              <a:t>• Validación final flujo (10-ago)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0" y="1691640"/>
            <a:ext cx="2240280" cy="640080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120640" y="1737360"/>
            <a:ext cx="2057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15 SEP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20640" y="2011680"/>
            <a:ext cx="2057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Calibri"/>
              </a:rPr>
              <a:t>Facturadora #2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0" y="2331720"/>
            <a:ext cx="2240280" cy="4069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166360" y="2468880"/>
            <a:ext cx="1965960" cy="3840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>
                <a:solidFill>
                  <a:srgbClr val="0F172A"/>
                </a:solidFill>
                <a:latin typeface="Calibri"/>
              </a:rPr>
              <a:t>• Flujo #1 estable post-15-ago</a:t>
            </a:r>
          </a:p>
          <a:p>
            <a:pPr algn="l"/>
            <a:r>
              <a:rPr sz="950" b="0">
                <a:solidFill>
                  <a:srgbClr val="0F172A"/>
                </a:solidFill>
                <a:latin typeface="Calibri"/>
              </a:rPr>
              <a:t>• Redistribución carga residual</a:t>
            </a:r>
          </a:p>
          <a:p>
            <a:pPr algn="l"/>
            <a:r>
              <a:rPr sz="950" b="0">
                <a:solidFill>
                  <a:srgbClr val="0F172A"/>
                </a:solidFill>
                <a:latin typeface="Calibri"/>
              </a:rPr>
              <a:t>• Validación 30 días con flujo #1 sola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315200" y="1691640"/>
            <a:ext cx="2240280" cy="64008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406640" y="1737360"/>
            <a:ext cx="2057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30 SEP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06640" y="2011680"/>
            <a:ext cx="2057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Calibri"/>
              </a:rPr>
              <a:t>Control de Gestión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15200" y="2331720"/>
            <a:ext cx="2240280" cy="4069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452360" y="2468880"/>
            <a:ext cx="1965960" cy="3840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>
                <a:solidFill>
                  <a:srgbClr val="0F172A"/>
                </a:solidFill>
                <a:latin typeface="Calibri"/>
              </a:rPr>
              <a:t>• EEFF F1 completo (31-jul)</a:t>
            </a:r>
          </a:p>
          <a:p>
            <a:pPr algn="l"/>
            <a:r>
              <a:rPr sz="950" b="0">
                <a:solidFill>
                  <a:srgbClr val="0F172A"/>
                </a:solidFill>
                <a:latin typeface="Calibri"/>
              </a:rPr>
              <a:t>• Skill reporte integrada al pipeline (15-ago)</a:t>
            </a:r>
          </a:p>
          <a:p>
            <a:pPr algn="l"/>
            <a:r>
              <a:rPr sz="950" b="0">
                <a:solidFill>
                  <a:srgbClr val="0F172A"/>
                </a:solidFill>
                <a:latin typeface="Calibri"/>
              </a:rPr>
              <a:t>• EEFF en vivo + planilla planif. financiera (15-sep)</a:t>
            </a:r>
          </a:p>
          <a:p>
            <a:pPr algn="l"/>
            <a:r>
              <a:rPr sz="950" b="0">
                <a:solidFill>
                  <a:srgbClr val="0F172A"/>
                </a:solidFill>
                <a:latin typeface="Calibri"/>
              </a:rPr>
              <a:t>• Skills contribución y P&amp;L en cerebro</a:t>
            </a:r>
          </a:p>
          <a:p>
            <a:pPr algn="l"/>
            <a:r>
              <a:rPr sz="950" b="0">
                <a:solidFill>
                  <a:srgbClr val="0F172A"/>
                </a:solidFill>
                <a:latin typeface="Calibri"/>
              </a:rPr>
              <a:t>• Chat ejecutivo POC operativo (22-sep)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601200" y="1691640"/>
            <a:ext cx="2240280" cy="640080"/>
          </a:xfrm>
          <a:prstGeom prst="rect">
            <a:avLst/>
          </a:prstGeom>
          <a:solidFill>
            <a:srgbClr val="FACC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9692640" y="1737360"/>
            <a:ext cx="2057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OCT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92640" y="2011680"/>
            <a:ext cx="2057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Calibri"/>
              </a:rPr>
              <a:t>Anal. Contable #2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601200" y="2331720"/>
            <a:ext cx="2240280" cy="4069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9738360" y="2468880"/>
            <a:ext cx="1965960" cy="3840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>
                <a:solidFill>
                  <a:srgbClr val="0F172A"/>
                </a:solidFill>
                <a:latin typeface="Calibri"/>
              </a:rPr>
              <a:t>• Fix root cause Agente Cobranza (15-jun urgente)</a:t>
            </a:r>
          </a:p>
          <a:p>
            <a:pPr algn="l"/>
            <a:r>
              <a:rPr sz="950" b="0">
                <a:solidFill>
                  <a:srgbClr val="0F172A"/>
                </a:solidFill>
                <a:latin typeface="Calibri"/>
              </a:rPr>
              <a:t>• Cobranza reactivada + 60 d sin error (15-sep)</a:t>
            </a:r>
          </a:p>
          <a:p>
            <a:pPr algn="l"/>
            <a:r>
              <a:rPr sz="950" b="0">
                <a:solidFill>
                  <a:srgbClr val="0F172A"/>
                </a:solidFill>
                <a:latin typeface="Calibri"/>
              </a:rPr>
              <a:t>• Camila absorbe carga residual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457200" y="6537960"/>
            <a:ext cx="11277295" cy="0"/>
          </a:xfrm>
          <a:prstGeom prst="line">
            <a:avLst/>
          </a:prstGeom>
          <a:ln w="9525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457200" y="658368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>
                <a:solidFill>
                  <a:srgbClr val="475569"/>
                </a:solidFill>
                <a:latin typeface="Calibri"/>
              </a:rPr>
              <a:t>Plan IA · Operaciones y Finanzas · Mayo 2026</a:t>
            </a:r>
          </a:p>
        </p:txBody>
      </p:sp>
      <p:pic>
        <p:nvPicPr>
          <p:cNvPr id="32" name="Picture 31" descr="unionx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6565392"/>
            <a:ext cx="464949" cy="228600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10789920" y="658368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>
                <a:solidFill>
                  <a:srgbClr val="475569"/>
                </a:solidFill>
                <a:latin typeface="Calibri"/>
              </a:rPr>
              <a:t>22 / 27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115568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>
                <a:solidFill>
                  <a:srgbClr val="1E40AF"/>
                </a:solidFill>
                <a:latin typeface="Calibri"/>
              </a:rPr>
              <a:t>Vista calendario — Qué se entrega cada 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51560"/>
            <a:ext cx="111556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>
                <a:solidFill>
                  <a:srgbClr val="475569"/>
                </a:solidFill>
                <a:latin typeface="Calibri"/>
              </a:rPr>
              <a:t>Cinco meses críticos jun→oct 2026.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691640"/>
            <a:ext cx="2240280" cy="502920"/>
          </a:xfrm>
          <a:prstGeom prst="rect">
            <a:avLst/>
          </a:prstGeom>
          <a:solidFill>
            <a:srgbClr val="4A90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1691640"/>
            <a:ext cx="224028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JUNIO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194560"/>
            <a:ext cx="2240280" cy="3200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94360" y="2331720"/>
            <a:ext cx="1965960" cy="3017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>
                <a:solidFill>
                  <a:srgbClr val="0F172A"/>
                </a:solidFill>
                <a:latin typeface="Calibri"/>
              </a:rPr>
              <a:t>• SAC F1-F3</a:t>
            </a:r>
          </a:p>
          <a:p>
            <a:pPr algn="l"/>
            <a:r>
              <a:rPr sz="1000" b="0">
                <a:solidFill>
                  <a:srgbClr val="0F172A"/>
                </a:solidFill>
                <a:latin typeface="Calibri"/>
              </a:rPr>
              <a:t>• Cobranza fix root cause</a:t>
            </a:r>
          </a:p>
          <a:p>
            <a:pPr algn="l"/>
            <a:r>
              <a:rPr sz="1000" b="0">
                <a:solidFill>
                  <a:srgbClr val="0F172A"/>
                </a:solidFill>
                <a:latin typeface="Calibri"/>
              </a:rPr>
              <a:t>• Comisión canal Ventas</a:t>
            </a:r>
          </a:p>
          <a:p>
            <a:pPr algn="l"/>
            <a:r>
              <a:rPr sz="1000" b="0">
                <a:solidFill>
                  <a:srgbClr val="0F172A"/>
                </a:solidFill>
                <a:latin typeface="Calibri"/>
              </a:rPr>
              <a:t>• Skills Contribución+P&amp;L cerebro</a:t>
            </a:r>
          </a:p>
          <a:p>
            <a:pPr algn="l"/>
            <a:r>
              <a:rPr sz="1000" b="0">
                <a:solidFill>
                  <a:srgbClr val="0F172A"/>
                </a:solidFill>
                <a:latin typeface="Calibri"/>
              </a:rPr>
              <a:t>• Planificación → equipo</a:t>
            </a:r>
          </a:p>
          <a:p>
            <a:pPr algn="l"/>
            <a:r>
              <a:rPr sz="1000" b="0">
                <a:solidFill>
                  <a:srgbClr val="0F172A"/>
                </a:solidFill>
                <a:latin typeface="Calibri"/>
              </a:rPr>
              <a:t>• COMEX pre-embarque + producción</a:t>
            </a:r>
          </a:p>
          <a:p>
            <a:pPr algn="l"/>
            <a:r>
              <a:rPr sz="1000" b="0">
                <a:solidFill>
                  <a:srgbClr val="0F172A"/>
                </a:solidFill>
                <a:latin typeface="Calibri"/>
              </a:rPr>
              <a:t>• Multivende eliminado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5440680"/>
            <a:ext cx="2240280" cy="96012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7200" y="5440680"/>
            <a:ext cx="2240280" cy="9601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0">
                <a:solidFill>
                  <a:srgbClr val="475569"/>
                </a:solidFill>
                <a:latin typeface="Calibri"/>
              </a:rPr>
              <a:t>—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0" y="1691640"/>
            <a:ext cx="2240280" cy="502920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743200" y="1691640"/>
            <a:ext cx="224028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JULIO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743200" y="2194560"/>
            <a:ext cx="2240280" cy="3200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2880360" y="2331720"/>
            <a:ext cx="1965960" cy="3017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>
                <a:solidFill>
                  <a:srgbClr val="0F172A"/>
                </a:solidFill>
                <a:latin typeface="Calibri"/>
              </a:rPr>
              <a:t>• SAC F3 validación</a:t>
            </a:r>
          </a:p>
          <a:p>
            <a:pPr algn="l"/>
            <a:r>
              <a:rPr sz="1000" b="0">
                <a:solidFill>
                  <a:srgbClr val="0F172A"/>
                </a:solidFill>
                <a:latin typeface="Calibri"/>
              </a:rPr>
              <a:t>• POC facturación</a:t>
            </a:r>
          </a:p>
          <a:p>
            <a:pPr algn="l"/>
            <a:r>
              <a:rPr sz="1000" b="0">
                <a:solidFill>
                  <a:srgbClr val="0F172A"/>
                </a:solidFill>
                <a:latin typeface="Calibri"/>
              </a:rPr>
              <a:t>• LCV-Compras 60d</a:t>
            </a:r>
          </a:p>
          <a:p>
            <a:pPr algn="l"/>
            <a:r>
              <a:rPr sz="1000" b="0">
                <a:solidFill>
                  <a:srgbClr val="0F172A"/>
                </a:solidFill>
                <a:latin typeface="Calibri"/>
              </a:rPr>
              <a:t>• Onboarding Camila/Víctor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0" y="5440680"/>
            <a:ext cx="2240280" cy="960120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2834640" y="5486400"/>
            <a:ext cx="2057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▼ 31 Jul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834640" y="5852160"/>
            <a:ext cx="20574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Anal.LI + AC #1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0" y="1691640"/>
            <a:ext cx="2240280" cy="502920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029200" y="1691640"/>
            <a:ext cx="224028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AGOSTO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29200" y="2194560"/>
            <a:ext cx="2240280" cy="3200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166360" y="2331720"/>
            <a:ext cx="1965960" cy="3017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>
                <a:solidFill>
                  <a:srgbClr val="0F172A"/>
                </a:solidFill>
                <a:latin typeface="Calibri"/>
              </a:rPr>
              <a:t>• Fact #1 en prod</a:t>
            </a:r>
          </a:p>
          <a:p>
            <a:pPr algn="l"/>
            <a:r>
              <a:rPr sz="1000" b="0">
                <a:solidFill>
                  <a:srgbClr val="0F172A"/>
                </a:solidFill>
                <a:latin typeface="Calibri"/>
              </a:rPr>
              <a:t>• Odoo audit usos 90d</a:t>
            </a:r>
          </a:p>
          <a:p>
            <a:pPr algn="l"/>
            <a:r>
              <a:rPr sz="1000" b="0">
                <a:solidFill>
                  <a:srgbClr val="0F172A"/>
                </a:solidFill>
                <a:latin typeface="Calibri"/>
              </a:rPr>
              <a:t>• Costo variable bodega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29200" y="5440680"/>
            <a:ext cx="2240280" cy="960120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120640" y="5486400"/>
            <a:ext cx="2057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▼ 15 Ago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120640" y="5852160"/>
            <a:ext cx="20574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Fact. #1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15200" y="1691640"/>
            <a:ext cx="2240280" cy="502920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315200" y="1691640"/>
            <a:ext cx="224028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SEPTIEMBRE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315200" y="2194560"/>
            <a:ext cx="2240280" cy="3200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7452360" y="2331720"/>
            <a:ext cx="1965960" cy="3017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>
                <a:solidFill>
                  <a:srgbClr val="0F172A"/>
                </a:solidFill>
                <a:latin typeface="Calibri"/>
              </a:rPr>
              <a:t>• Fact #2 validación</a:t>
            </a:r>
          </a:p>
          <a:p>
            <a:pPr algn="l"/>
            <a:r>
              <a:rPr sz="1000" b="0">
                <a:solidFill>
                  <a:srgbClr val="0F172A"/>
                </a:solidFill>
                <a:latin typeface="Calibri"/>
              </a:rPr>
              <a:t>• EEFF en vivo + planilla</a:t>
            </a:r>
          </a:p>
          <a:p>
            <a:pPr algn="l"/>
            <a:r>
              <a:rPr sz="1000" b="0">
                <a:solidFill>
                  <a:srgbClr val="0F172A"/>
                </a:solidFill>
                <a:latin typeface="Calibri"/>
              </a:rPr>
              <a:t>• Skills P&amp;L 2 ciclos</a:t>
            </a:r>
          </a:p>
          <a:p>
            <a:pPr algn="l"/>
            <a:r>
              <a:rPr sz="1000" b="0">
                <a:solidFill>
                  <a:srgbClr val="0F172A"/>
                </a:solidFill>
                <a:latin typeface="Calibri"/>
              </a:rPr>
              <a:t>• Chat ejecutivo POC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315200" y="5440680"/>
            <a:ext cx="2240280" cy="960120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7406640" y="5486400"/>
            <a:ext cx="2057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▼ 15+30 Sep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406640" y="5852160"/>
            <a:ext cx="20574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Fact #2 + Ctrl Gest.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601200" y="1691640"/>
            <a:ext cx="2240280" cy="502920"/>
          </a:xfrm>
          <a:prstGeom prst="rect">
            <a:avLst/>
          </a:prstGeom>
          <a:solidFill>
            <a:srgbClr val="FACC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9601200" y="1691640"/>
            <a:ext cx="224028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OCTUBRE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601200" y="2194560"/>
            <a:ext cx="2240280" cy="3200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9738360" y="2331720"/>
            <a:ext cx="1965960" cy="3017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>
                <a:solidFill>
                  <a:srgbClr val="0F172A"/>
                </a:solidFill>
                <a:latin typeface="Calibri"/>
              </a:rPr>
              <a:t>• Cobranza reactivada</a:t>
            </a:r>
          </a:p>
          <a:p>
            <a:pPr algn="l"/>
            <a:r>
              <a:rPr sz="1000" b="0">
                <a:solidFill>
                  <a:srgbClr val="0F172A"/>
                </a:solidFill>
                <a:latin typeface="Calibri"/>
              </a:rPr>
              <a:t>• Cerebro Voz POC</a:t>
            </a:r>
          </a:p>
          <a:p>
            <a:pPr algn="l"/>
            <a:r>
              <a:rPr sz="1000" b="0">
                <a:solidFill>
                  <a:srgbClr val="0F172A"/>
                </a:solidFill>
                <a:latin typeface="Calibri"/>
              </a:rPr>
              <a:t>• Fulfillment plan migración</a:t>
            </a:r>
          </a:p>
        </p:txBody>
      </p:sp>
      <p:sp>
        <p:nvSpPr>
          <p:cNvPr id="36" name="Rectangle 35"/>
          <p:cNvSpPr/>
          <p:nvPr/>
        </p:nvSpPr>
        <p:spPr>
          <a:xfrm>
            <a:off x="9601200" y="5440680"/>
            <a:ext cx="2240280" cy="96012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9692640" y="5486400"/>
            <a:ext cx="2057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▼ Oct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692640" y="5852160"/>
            <a:ext cx="20574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Anal. Cont. #2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457200" y="6537960"/>
            <a:ext cx="11277295" cy="0"/>
          </a:xfrm>
          <a:prstGeom prst="line">
            <a:avLst/>
          </a:prstGeom>
          <a:ln w="9525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457200" y="658368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>
                <a:solidFill>
                  <a:srgbClr val="475569"/>
                </a:solidFill>
                <a:latin typeface="Calibri"/>
              </a:rPr>
              <a:t>Plan IA · Operaciones y Finanzas · Mayo 2026</a:t>
            </a:r>
          </a:p>
        </p:txBody>
      </p:sp>
      <p:pic>
        <p:nvPicPr>
          <p:cNvPr id="41" name="Picture 40" descr="unionx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6565392"/>
            <a:ext cx="464949" cy="228600"/>
          </a:xfrm>
          <a:prstGeom prst="rect">
            <a:avLst/>
          </a:prstGeom>
        </p:spPr>
      </p:pic>
      <p:sp>
        <p:nvSpPr>
          <p:cNvPr id="42" name="TextBox 41"/>
          <p:cNvSpPr txBox="1"/>
          <p:nvPr/>
        </p:nvSpPr>
        <p:spPr>
          <a:xfrm>
            <a:off x="10789920" y="658368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>
                <a:solidFill>
                  <a:srgbClr val="475569"/>
                </a:solidFill>
                <a:latin typeface="Calibri"/>
              </a:rPr>
              <a:t>23 / 27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115568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>
                <a:solidFill>
                  <a:srgbClr val="1E40AF"/>
                </a:solidFill>
                <a:latin typeface="Calibri"/>
              </a:rPr>
              <a:t>KPIs — Cuadro de mando dic-2026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51560"/>
            <a:ext cx="111556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>
                <a:solidFill>
                  <a:srgbClr val="475569"/>
                </a:solidFill>
                <a:latin typeface="Calibri"/>
              </a:rPr>
              <a:t>4 dimensiones · Benchmark sector: ROI digital típico 2-3x año 1 · 4-6x año 2 exitoso.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691640"/>
            <a:ext cx="2743200" cy="457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457200" y="1691640"/>
            <a:ext cx="2743200" cy="502920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1691640"/>
            <a:ext cx="27432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COSTOS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377440"/>
            <a:ext cx="24688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>
                <a:solidFill>
                  <a:srgbClr val="475569"/>
                </a:solidFill>
                <a:latin typeface="Calibri"/>
              </a:rPr>
              <a:t>Headcount admin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651760"/>
            <a:ext cx="246888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>
                <a:solidFill>
                  <a:srgbClr val="1E40AF"/>
                </a:solidFill>
                <a:latin typeface="Calibri"/>
              </a:rPr>
              <a:t>47 → 41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3063240"/>
            <a:ext cx="246888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>
                <a:solidFill>
                  <a:srgbClr val="475569"/>
                </a:solidFill>
                <a:latin typeface="Calibri"/>
              </a:rPr>
              <a:t>(-6 personas)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3337560"/>
            <a:ext cx="24688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>
                <a:solidFill>
                  <a:srgbClr val="475569"/>
                </a:solidFill>
                <a:latin typeface="Calibri"/>
              </a:rPr>
              <a:t>Costo personal/año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3611880"/>
            <a:ext cx="246888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>
                <a:solidFill>
                  <a:srgbClr val="1E40AF"/>
                </a:solidFill>
                <a:latin typeface="Calibri"/>
              </a:rPr>
              <a:t>-$91 MM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4023360"/>
            <a:ext cx="246888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>
                <a:solidFill>
                  <a:srgbClr val="475569"/>
                </a:solidFill>
                <a:latin typeface="Calibri"/>
              </a:rPr>
              <a:t>run-rate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4297680"/>
            <a:ext cx="24688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>
                <a:solidFill>
                  <a:srgbClr val="475569"/>
                </a:solidFill>
                <a:latin typeface="Calibri"/>
              </a:rPr>
              <a:t>Costo SaaS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4572000"/>
            <a:ext cx="246888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>
                <a:solidFill>
                  <a:srgbClr val="1E40AF"/>
                </a:solidFill>
                <a:latin typeface="Calibri"/>
              </a:rPr>
              <a:t>-$8,7 MM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4983480"/>
            <a:ext cx="246888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>
                <a:solidFill>
                  <a:srgbClr val="475569"/>
                </a:solidFill>
                <a:latin typeface="Calibri"/>
              </a:rPr>
              <a:t>Odoo+Multivende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5257800"/>
            <a:ext cx="24688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>
                <a:solidFill>
                  <a:srgbClr val="475569"/>
                </a:solidFill>
                <a:latin typeface="Calibri"/>
              </a:rPr>
              <a:t>Inversión IA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5532120"/>
            <a:ext cx="246888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>
                <a:solidFill>
                  <a:srgbClr val="1E40AF"/>
                </a:solidFill>
                <a:latin typeface="Calibri"/>
              </a:rPr>
              <a:t>USD $2.250/m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" y="5943600"/>
            <a:ext cx="246888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>
                <a:solidFill>
                  <a:srgbClr val="475569"/>
                </a:solidFill>
                <a:latin typeface="Calibri"/>
              </a:rPr>
              <a:t>Claude + Cerebro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291840" y="1691640"/>
            <a:ext cx="2743200" cy="457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3291840" y="1691640"/>
            <a:ext cx="2743200" cy="502920"/>
          </a:xfrm>
          <a:prstGeom prst="rect">
            <a:avLst/>
          </a:prstGeom>
          <a:solidFill>
            <a:srgbClr val="4A90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3291840" y="1691640"/>
            <a:ext cx="27432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EFICIENCIA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429000" y="2377440"/>
            <a:ext cx="24688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>
                <a:solidFill>
                  <a:srgbClr val="475569"/>
                </a:solidFill>
                <a:latin typeface="Calibri"/>
              </a:rPr>
              <a:t>Reportes manuales/sem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429000" y="2651760"/>
            <a:ext cx="246888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>
                <a:solidFill>
                  <a:srgbClr val="4A90E2"/>
                </a:solidFill>
                <a:latin typeface="Calibri"/>
              </a:rPr>
              <a:t>5 → 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429000" y="3063240"/>
            <a:ext cx="246888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>
                <a:solidFill>
                  <a:srgbClr val="475569"/>
                </a:solidFill>
                <a:latin typeface="Calibri"/>
              </a:rPr>
              <a:t>Andrés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429000" y="3337560"/>
            <a:ext cx="24688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>
                <a:solidFill>
                  <a:srgbClr val="475569"/>
                </a:solidFill>
                <a:latin typeface="Calibri"/>
              </a:rPr>
              <a:t>Tiempo consolidación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429000" y="3611880"/>
            <a:ext cx="246888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>
                <a:solidFill>
                  <a:srgbClr val="4A90E2"/>
                </a:solidFill>
                <a:latin typeface="Calibri"/>
              </a:rPr>
              <a:t>↓ 80%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429000" y="4023360"/>
            <a:ext cx="246888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>
                <a:solidFill>
                  <a:srgbClr val="475569"/>
                </a:solidFill>
                <a:latin typeface="Calibri"/>
              </a:rPr>
              <a:t>≤ 2 hrs/sem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429000" y="4297680"/>
            <a:ext cx="24688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>
                <a:solidFill>
                  <a:srgbClr val="475569"/>
                </a:solidFill>
                <a:latin typeface="Calibri"/>
              </a:rPr>
              <a:t>Lead time COMEX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429000" y="4572000"/>
            <a:ext cx="246888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>
                <a:solidFill>
                  <a:srgbClr val="4A90E2"/>
                </a:solidFill>
                <a:latin typeface="Calibri"/>
              </a:rPr>
              <a:t>↓ 70%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429000" y="4983480"/>
            <a:ext cx="246888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>
                <a:solidFill>
                  <a:srgbClr val="475569"/>
                </a:solidFill>
                <a:latin typeface="Calibri"/>
              </a:rPr>
              <a:t>≤ 1 día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429000" y="5257800"/>
            <a:ext cx="24688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>
                <a:solidFill>
                  <a:srgbClr val="475569"/>
                </a:solidFill>
                <a:latin typeface="Calibri"/>
              </a:rPr>
              <a:t>Visibilidad EBIT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429000" y="5532120"/>
            <a:ext cx="246888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>
                <a:solidFill>
                  <a:srgbClr val="4A90E2"/>
                </a:solidFill>
                <a:latin typeface="Calibri"/>
              </a:rPr>
              <a:t>30 d → 1 d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126480" y="1691640"/>
            <a:ext cx="2743200" cy="457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6126480" y="1691640"/>
            <a:ext cx="2743200" cy="5029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126480" y="1691640"/>
            <a:ext cx="27432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CALIDAD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63640" y="2377440"/>
            <a:ext cx="24688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>
                <a:solidFill>
                  <a:srgbClr val="475569"/>
                </a:solidFill>
                <a:latin typeface="Calibri"/>
              </a:rPr>
              <a:t>Tasa error reportes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63640" y="2651760"/>
            <a:ext cx="246888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>
                <a:solidFill>
                  <a:srgbClr val="10B981"/>
                </a:solidFill>
                <a:latin typeface="Calibri"/>
              </a:rPr>
              <a:t>75% → &lt; 5%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263640" y="3337560"/>
            <a:ext cx="24688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>
                <a:solidFill>
                  <a:srgbClr val="475569"/>
                </a:solidFill>
                <a:latin typeface="Calibri"/>
              </a:rPr>
              <a:t>Cuadre SII×Odoo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263640" y="3611880"/>
            <a:ext cx="246888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>
                <a:solidFill>
                  <a:srgbClr val="10B981"/>
                </a:solidFill>
                <a:latin typeface="Calibri"/>
              </a:rPr>
              <a:t>5-7 d → &lt; 1 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263640" y="4297680"/>
            <a:ext cx="24688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>
                <a:solidFill>
                  <a:srgbClr val="475569"/>
                </a:solidFill>
                <a:latin typeface="Calibri"/>
              </a:rPr>
              <a:t>Quiebres demanda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263640" y="4572000"/>
            <a:ext cx="246888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>
                <a:solidFill>
                  <a:srgbClr val="10B981"/>
                </a:solidFill>
                <a:latin typeface="Calibri"/>
              </a:rPr>
              <a:t>5% → 3%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263640" y="4983480"/>
            <a:ext cx="246888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>
                <a:solidFill>
                  <a:srgbClr val="475569"/>
                </a:solidFill>
                <a:latin typeface="Calibri"/>
              </a:rPr>
              <a:t>potencial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263640" y="5257800"/>
            <a:ext cx="24688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>
                <a:solidFill>
                  <a:srgbClr val="475569"/>
                </a:solidFill>
                <a:latin typeface="Calibri"/>
              </a:rPr>
              <a:t>Inventario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263640" y="5532120"/>
            <a:ext cx="246888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>
                <a:solidFill>
                  <a:srgbClr val="10B981"/>
                </a:solidFill>
                <a:latin typeface="Calibri"/>
              </a:rPr>
              <a:t>-0,5 mes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263640" y="5943600"/>
            <a:ext cx="246888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>
                <a:solidFill>
                  <a:srgbClr val="475569"/>
                </a:solidFill>
                <a:latin typeface="Calibri"/>
              </a:rPr>
              <a:t>potencial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8961120" y="1691640"/>
            <a:ext cx="2743200" cy="457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Rectangle 47"/>
          <p:cNvSpPr/>
          <p:nvPr/>
        </p:nvSpPr>
        <p:spPr>
          <a:xfrm>
            <a:off x="8961120" y="1691640"/>
            <a:ext cx="2743200" cy="502920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8961120" y="1691640"/>
            <a:ext cx="27432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MADUREZ + ROI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098280" y="2377440"/>
            <a:ext cx="24688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>
                <a:solidFill>
                  <a:srgbClr val="475569"/>
                </a:solidFill>
                <a:latin typeface="Calibri"/>
              </a:rPr>
              <a:t>Áreas F3+ (de 9)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098280" y="2651760"/>
            <a:ext cx="246888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>
                <a:solidFill>
                  <a:srgbClr val="EA580C"/>
                </a:solidFill>
                <a:latin typeface="Calibri"/>
              </a:rPr>
              <a:t>3 → 7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098280" y="3337560"/>
            <a:ext cx="24688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>
                <a:solidFill>
                  <a:srgbClr val="475569"/>
                </a:solidFill>
                <a:latin typeface="Calibri"/>
              </a:rPr>
              <a:t>Agentes en prod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098280" y="3611880"/>
            <a:ext cx="246888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>
                <a:solidFill>
                  <a:srgbClr val="EA580C"/>
                </a:solidFill>
                <a:latin typeface="Calibri"/>
              </a:rPr>
              <a:t>2 → 5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098280" y="4297680"/>
            <a:ext cx="24688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>
                <a:solidFill>
                  <a:srgbClr val="475569"/>
                </a:solidFill>
                <a:latin typeface="Calibri"/>
              </a:rPr>
              <a:t>ROI 2026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098280" y="4572000"/>
            <a:ext cx="246888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>
                <a:solidFill>
                  <a:srgbClr val="EA580C"/>
                </a:solidFill>
                <a:latin typeface="Calibri"/>
              </a:rPr>
              <a:t>~3,0x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098280" y="4983480"/>
            <a:ext cx="246888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>
                <a:solidFill>
                  <a:srgbClr val="475569"/>
                </a:solidFill>
                <a:latin typeface="Calibri"/>
              </a:rPr>
              <a:t>directos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098280" y="5257800"/>
            <a:ext cx="24688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>
                <a:solidFill>
                  <a:srgbClr val="475569"/>
                </a:solidFill>
                <a:latin typeface="Calibri"/>
              </a:rPr>
              <a:t>ROI 2027 + potenciales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098280" y="5532120"/>
            <a:ext cx="246888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>
                <a:solidFill>
                  <a:srgbClr val="EA580C"/>
                </a:solidFill>
                <a:latin typeface="Calibri"/>
              </a:rPr>
              <a:t>~6,6x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098280" y="5943600"/>
            <a:ext cx="246888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>
                <a:solidFill>
                  <a:srgbClr val="475569"/>
                </a:solidFill>
                <a:latin typeface="Calibri"/>
              </a:rPr>
              <a:t>$158 MM/año</a:t>
            </a:r>
          </a:p>
        </p:txBody>
      </p:sp>
      <p:cxnSp>
        <p:nvCxnSpPr>
          <p:cNvPr id="60" name="Connector 59"/>
          <p:cNvCxnSpPr/>
          <p:nvPr/>
        </p:nvCxnSpPr>
        <p:spPr>
          <a:xfrm>
            <a:off x="457200" y="6537960"/>
            <a:ext cx="11277295" cy="0"/>
          </a:xfrm>
          <a:prstGeom prst="line">
            <a:avLst/>
          </a:prstGeom>
          <a:ln w="9525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TextBox 60"/>
          <p:cNvSpPr txBox="1"/>
          <p:nvPr/>
        </p:nvSpPr>
        <p:spPr>
          <a:xfrm>
            <a:off x="457200" y="658368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>
                <a:solidFill>
                  <a:srgbClr val="475569"/>
                </a:solidFill>
                <a:latin typeface="Calibri"/>
              </a:rPr>
              <a:t>Plan IA · Operaciones y Finanzas · Mayo 2026</a:t>
            </a:r>
          </a:p>
        </p:txBody>
      </p:sp>
      <p:pic>
        <p:nvPicPr>
          <p:cNvPr id="62" name="Picture 61" descr="unionx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6565392"/>
            <a:ext cx="464949" cy="228600"/>
          </a:xfrm>
          <a:prstGeom prst="rect">
            <a:avLst/>
          </a:prstGeom>
        </p:spPr>
      </p:pic>
      <p:sp>
        <p:nvSpPr>
          <p:cNvPr id="63" name="TextBox 62"/>
          <p:cNvSpPr txBox="1"/>
          <p:nvPr/>
        </p:nvSpPr>
        <p:spPr>
          <a:xfrm>
            <a:off x="10789920" y="658368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>
                <a:solidFill>
                  <a:srgbClr val="475569"/>
                </a:solidFill>
                <a:latin typeface="Calibri"/>
              </a:rPr>
              <a:t>24 / 27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115568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>
                <a:solidFill>
                  <a:srgbClr val="1E40AF"/>
                </a:solidFill>
                <a:latin typeface="Calibri"/>
              </a:rPr>
              <a:t>Riesgos y mitigaciones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51560"/>
            <a:ext cx="111556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>
                <a:solidFill>
                  <a:srgbClr val="475569"/>
                </a:solidFill>
                <a:latin typeface="Calibri"/>
              </a:rPr>
              <a:t>8 riesgos identificados. El #1 (fix Agente Cobranza) es bloqueante y prioridad máxima.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691640"/>
            <a:ext cx="411480" cy="365760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1691640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#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1691640"/>
            <a:ext cx="4069080" cy="365760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60120" y="1691640"/>
            <a:ext cx="402336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Riesgo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0" y="1691640"/>
            <a:ext cx="457200" cy="365760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074920" y="1691640"/>
            <a:ext cx="41148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P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532120" y="1691640"/>
            <a:ext cx="457200" cy="365760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577840" y="1691640"/>
            <a:ext cx="41148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I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035040" y="1691640"/>
            <a:ext cx="4526280" cy="365760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080759" y="1691640"/>
            <a:ext cx="448056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Mitigación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607040" y="1691640"/>
            <a:ext cx="1097280" cy="365760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0652760" y="1691640"/>
            <a:ext cx="105156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Owner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2103120"/>
            <a:ext cx="411480" cy="50292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02920" y="2103120"/>
            <a:ext cx="36576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14400" y="2103120"/>
            <a:ext cx="4069080" cy="50292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005840" y="2103120"/>
            <a:ext cx="393192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0F172A"/>
                </a:solidFill>
                <a:latin typeface="Calibri"/>
              </a:rPr>
              <a:t>Agente Cobranza no se arregla en junio → caen 2 hitos (jul + oct)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29200" y="2103120"/>
            <a:ext cx="457200" cy="50292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029200" y="2103120"/>
            <a:ext cx="4572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>
                <a:solidFill>
                  <a:srgbClr val="0F172A"/>
                </a:solidFill>
                <a:latin typeface="Calibri"/>
              </a:rPr>
              <a:t>M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532120" y="2103120"/>
            <a:ext cx="457200" cy="50292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532120" y="2103120"/>
            <a:ext cx="4572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>
                <a:solidFill>
                  <a:srgbClr val="0F172A"/>
                </a:solidFill>
                <a:latin typeface="Calibri"/>
              </a:rPr>
              <a:t>A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035040" y="2103120"/>
            <a:ext cx="4526280" cy="50292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126479" y="2103120"/>
            <a:ext cx="438912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0F172A"/>
                </a:solidFill>
                <a:latin typeface="Calibri"/>
              </a:rPr>
              <a:t>Fix prioridad máxima S1-S2 (1-30 jun) · Plan B: Martín reactiva Task Scheduler local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0607040" y="2103120"/>
            <a:ext cx="1097280" cy="50292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10652760" y="2103120"/>
            <a:ext cx="105156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0">
                <a:solidFill>
                  <a:srgbClr val="0F172A"/>
                </a:solidFill>
                <a:latin typeface="Calibri"/>
              </a:rPr>
              <a:t>Andrés + Víctor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7200" y="2633472"/>
            <a:ext cx="411480" cy="502920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502920" y="2633472"/>
            <a:ext cx="36576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14400" y="2633472"/>
            <a:ext cx="406908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1005840" y="2633472"/>
            <a:ext cx="393192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0F172A"/>
                </a:solidFill>
                <a:latin typeface="Calibri"/>
              </a:rPr>
              <a:t>Adopción baja del equipo (siguen con Excel local)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029200" y="2633472"/>
            <a:ext cx="45720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5029200" y="2633472"/>
            <a:ext cx="4572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>
                <a:solidFill>
                  <a:srgbClr val="0F172A"/>
                </a:solidFill>
                <a:latin typeface="Calibri"/>
              </a:rPr>
              <a:t>M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532120" y="2633472"/>
            <a:ext cx="45720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5532120" y="2633472"/>
            <a:ext cx="4572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>
                <a:solidFill>
                  <a:srgbClr val="0F172A"/>
                </a:solidFill>
                <a:latin typeface="Calibri"/>
              </a:rPr>
              <a:t>A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035040" y="2633472"/>
            <a:ext cx="452628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6126479" y="2633472"/>
            <a:ext cx="438912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0F172A"/>
                </a:solidFill>
                <a:latin typeface="Calibri"/>
              </a:rPr>
              <a:t>Onboarding formal · cerrar acceso planillas paralelas · sponsor Gerencia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0607040" y="2633472"/>
            <a:ext cx="109728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10652760" y="2633472"/>
            <a:ext cx="105156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0">
                <a:solidFill>
                  <a:srgbClr val="0F172A"/>
                </a:solidFill>
                <a:latin typeface="Calibri"/>
              </a:rPr>
              <a:t>Andrés + Gerencia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57200" y="3163824"/>
            <a:ext cx="411480" cy="502920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502920" y="3163824"/>
            <a:ext cx="36576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43" name="Rectangle 42"/>
          <p:cNvSpPr/>
          <p:nvPr/>
        </p:nvSpPr>
        <p:spPr>
          <a:xfrm>
            <a:off x="914400" y="3163824"/>
            <a:ext cx="4069080" cy="50292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1005840" y="3163824"/>
            <a:ext cx="393192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0F172A"/>
                </a:solidFill>
                <a:latin typeface="Calibri"/>
              </a:rPr>
              <a:t>Comunicación interna mal manejada → conflicto laboral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029200" y="3163824"/>
            <a:ext cx="457200" cy="50292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5029200" y="3163824"/>
            <a:ext cx="4572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>
                <a:solidFill>
                  <a:srgbClr val="0F172A"/>
                </a:solidFill>
                <a:latin typeface="Calibri"/>
              </a:rPr>
              <a:t>M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532120" y="3163824"/>
            <a:ext cx="457200" cy="50292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5532120" y="3163824"/>
            <a:ext cx="4572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>
                <a:solidFill>
                  <a:srgbClr val="0F172A"/>
                </a:solidFill>
                <a:latin typeface="Calibri"/>
              </a:rPr>
              <a:t>A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035040" y="3163824"/>
            <a:ext cx="4526280" cy="50292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6126479" y="3163824"/>
            <a:ext cx="438912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0F172A"/>
                </a:solidFill>
                <a:latin typeface="Calibri"/>
              </a:rPr>
              <a:t>Plan comunicación RR.HH. 30 d antes · narrativa automatización · finiquitos OK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0607040" y="3163824"/>
            <a:ext cx="1097280" cy="50292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10652760" y="3163824"/>
            <a:ext cx="105156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0">
                <a:solidFill>
                  <a:srgbClr val="0F172A"/>
                </a:solidFill>
                <a:latin typeface="Calibri"/>
              </a:rPr>
              <a:t>Gerencia + RR.HH.</a:t>
            </a:r>
          </a:p>
        </p:txBody>
      </p:sp>
      <p:sp>
        <p:nvSpPr>
          <p:cNvPr id="53" name="Rectangle 52"/>
          <p:cNvSpPr/>
          <p:nvPr/>
        </p:nvSpPr>
        <p:spPr>
          <a:xfrm>
            <a:off x="457200" y="3694175"/>
            <a:ext cx="411480" cy="502920"/>
          </a:xfrm>
          <a:prstGeom prst="rect">
            <a:avLst/>
          </a:prstGeom>
          <a:solidFill>
            <a:srgbClr val="FACC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502920" y="3694175"/>
            <a:ext cx="36576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55" name="Rectangle 54"/>
          <p:cNvSpPr/>
          <p:nvPr/>
        </p:nvSpPr>
        <p:spPr>
          <a:xfrm>
            <a:off x="914400" y="3694175"/>
            <a:ext cx="406908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1005840" y="3694175"/>
            <a:ext cx="393192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0F172A"/>
                </a:solidFill>
                <a:latin typeface="Calibri"/>
              </a:rPr>
              <a:t>POC etiqueta+deadline no llega a prod a tiempo (15-ago)</a:t>
            </a:r>
          </a:p>
        </p:txBody>
      </p:sp>
      <p:sp>
        <p:nvSpPr>
          <p:cNvPr id="57" name="Rectangle 56"/>
          <p:cNvSpPr/>
          <p:nvPr/>
        </p:nvSpPr>
        <p:spPr>
          <a:xfrm>
            <a:off x="5029200" y="3694175"/>
            <a:ext cx="45720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5029200" y="3694175"/>
            <a:ext cx="4572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>
                <a:solidFill>
                  <a:srgbClr val="0F172A"/>
                </a:solidFill>
                <a:latin typeface="Calibri"/>
              </a:rPr>
              <a:t>M</a:t>
            </a:r>
          </a:p>
        </p:txBody>
      </p:sp>
      <p:sp>
        <p:nvSpPr>
          <p:cNvPr id="59" name="Rectangle 58"/>
          <p:cNvSpPr/>
          <p:nvPr/>
        </p:nvSpPr>
        <p:spPr>
          <a:xfrm>
            <a:off x="5532120" y="3694175"/>
            <a:ext cx="45720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5532120" y="3694175"/>
            <a:ext cx="4572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>
                <a:solidFill>
                  <a:srgbClr val="0F172A"/>
                </a:solidFill>
                <a:latin typeface="Calibri"/>
              </a:rPr>
              <a:t>M</a:t>
            </a:r>
          </a:p>
        </p:txBody>
      </p:sp>
      <p:sp>
        <p:nvSpPr>
          <p:cNvPr id="61" name="Rectangle 60"/>
          <p:cNvSpPr/>
          <p:nvPr/>
        </p:nvSpPr>
        <p:spPr>
          <a:xfrm>
            <a:off x="6035040" y="3694175"/>
            <a:ext cx="452628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6126479" y="3694175"/>
            <a:ext cx="438912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0F172A"/>
                </a:solidFill>
                <a:latin typeface="Calibri"/>
              </a:rPr>
              <a:t>Sprint dedicado junio · Yohana valida semana a semana · plan B: postergar 30-ago</a:t>
            </a:r>
          </a:p>
        </p:txBody>
      </p:sp>
      <p:sp>
        <p:nvSpPr>
          <p:cNvPr id="63" name="Rectangle 62"/>
          <p:cNvSpPr/>
          <p:nvPr/>
        </p:nvSpPr>
        <p:spPr>
          <a:xfrm>
            <a:off x="10607040" y="3694175"/>
            <a:ext cx="109728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10652760" y="3694175"/>
            <a:ext cx="105156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0">
                <a:solidFill>
                  <a:srgbClr val="0F172A"/>
                </a:solidFill>
                <a:latin typeface="Calibri"/>
              </a:rPr>
              <a:t>Andrés + Yohana</a:t>
            </a:r>
          </a:p>
        </p:txBody>
      </p:sp>
      <p:sp>
        <p:nvSpPr>
          <p:cNvPr id="65" name="Rectangle 64"/>
          <p:cNvSpPr/>
          <p:nvPr/>
        </p:nvSpPr>
        <p:spPr>
          <a:xfrm>
            <a:off x="457200" y="4224527"/>
            <a:ext cx="411480" cy="502920"/>
          </a:xfrm>
          <a:prstGeom prst="rect">
            <a:avLst/>
          </a:prstGeom>
          <a:solidFill>
            <a:srgbClr val="FACC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502920" y="4224527"/>
            <a:ext cx="36576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67" name="Rectangle 66"/>
          <p:cNvSpPr/>
          <p:nvPr/>
        </p:nvSpPr>
        <p:spPr>
          <a:xfrm>
            <a:off x="914400" y="4224527"/>
            <a:ext cx="4069080" cy="50292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1005840" y="4224527"/>
            <a:ext cx="393192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0F172A"/>
                </a:solidFill>
                <a:latin typeface="Calibri"/>
              </a:rPr>
              <a:t>Costo Claude API se descontrola</a:t>
            </a:r>
          </a:p>
        </p:txBody>
      </p:sp>
      <p:sp>
        <p:nvSpPr>
          <p:cNvPr id="69" name="Rectangle 68"/>
          <p:cNvSpPr/>
          <p:nvPr/>
        </p:nvSpPr>
        <p:spPr>
          <a:xfrm>
            <a:off x="5029200" y="4224527"/>
            <a:ext cx="457200" cy="50292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TextBox 69"/>
          <p:cNvSpPr txBox="1"/>
          <p:nvPr/>
        </p:nvSpPr>
        <p:spPr>
          <a:xfrm>
            <a:off x="5029200" y="4224527"/>
            <a:ext cx="4572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>
                <a:solidFill>
                  <a:srgbClr val="0F172A"/>
                </a:solidFill>
                <a:latin typeface="Calibri"/>
              </a:rPr>
              <a:t>B</a:t>
            </a:r>
          </a:p>
        </p:txBody>
      </p:sp>
      <p:sp>
        <p:nvSpPr>
          <p:cNvPr id="71" name="Rectangle 70"/>
          <p:cNvSpPr/>
          <p:nvPr/>
        </p:nvSpPr>
        <p:spPr>
          <a:xfrm>
            <a:off x="5532120" y="4224527"/>
            <a:ext cx="457200" cy="50292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TextBox 71"/>
          <p:cNvSpPr txBox="1"/>
          <p:nvPr/>
        </p:nvSpPr>
        <p:spPr>
          <a:xfrm>
            <a:off x="5532120" y="4224527"/>
            <a:ext cx="4572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>
                <a:solidFill>
                  <a:srgbClr val="0F172A"/>
                </a:solidFill>
                <a:latin typeface="Calibri"/>
              </a:rPr>
              <a:t>M</a:t>
            </a:r>
          </a:p>
        </p:txBody>
      </p:sp>
      <p:sp>
        <p:nvSpPr>
          <p:cNvPr id="73" name="Rectangle 72"/>
          <p:cNvSpPr/>
          <p:nvPr/>
        </p:nvSpPr>
        <p:spPr>
          <a:xfrm>
            <a:off x="6035040" y="4224527"/>
            <a:ext cx="4526280" cy="50292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TextBox 73"/>
          <p:cNvSpPr txBox="1"/>
          <p:nvPr/>
        </p:nvSpPr>
        <p:spPr>
          <a:xfrm>
            <a:off x="6126479" y="4224527"/>
            <a:ext cx="438912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0F172A"/>
                </a:solidFill>
                <a:latin typeface="Calibri"/>
              </a:rPr>
              <a:t>Prompt caching · límites por skill · auditoría mensual · alerta a USD $3.000</a:t>
            </a:r>
          </a:p>
        </p:txBody>
      </p:sp>
      <p:sp>
        <p:nvSpPr>
          <p:cNvPr id="75" name="Rectangle 74"/>
          <p:cNvSpPr/>
          <p:nvPr/>
        </p:nvSpPr>
        <p:spPr>
          <a:xfrm>
            <a:off x="10607040" y="4224527"/>
            <a:ext cx="1097280" cy="50292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TextBox 75"/>
          <p:cNvSpPr txBox="1"/>
          <p:nvPr/>
        </p:nvSpPr>
        <p:spPr>
          <a:xfrm>
            <a:off x="10652760" y="4224527"/>
            <a:ext cx="105156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0">
                <a:solidFill>
                  <a:srgbClr val="0F172A"/>
                </a:solidFill>
                <a:latin typeface="Calibri"/>
              </a:rPr>
              <a:t>Andrés</a:t>
            </a:r>
          </a:p>
        </p:txBody>
      </p:sp>
      <p:sp>
        <p:nvSpPr>
          <p:cNvPr id="77" name="Rectangle 76"/>
          <p:cNvSpPr/>
          <p:nvPr/>
        </p:nvSpPr>
        <p:spPr>
          <a:xfrm>
            <a:off x="457200" y="4754879"/>
            <a:ext cx="411480" cy="502920"/>
          </a:xfrm>
          <a:prstGeom prst="rect">
            <a:avLst/>
          </a:prstGeom>
          <a:solidFill>
            <a:srgbClr val="FACC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TextBox 77"/>
          <p:cNvSpPr txBox="1"/>
          <p:nvPr/>
        </p:nvSpPr>
        <p:spPr>
          <a:xfrm>
            <a:off x="502920" y="4754879"/>
            <a:ext cx="36576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79" name="Rectangle 78"/>
          <p:cNvSpPr/>
          <p:nvPr/>
        </p:nvSpPr>
        <p:spPr>
          <a:xfrm>
            <a:off x="914400" y="4754879"/>
            <a:ext cx="406908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TextBox 79"/>
          <p:cNvSpPr txBox="1"/>
          <p:nvPr/>
        </p:nvSpPr>
        <p:spPr>
          <a:xfrm>
            <a:off x="1005840" y="4754879"/>
            <a:ext cx="393192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0F172A"/>
                </a:solidFill>
                <a:latin typeface="Calibri"/>
              </a:rPr>
              <a:t>Incidente tipo Cobranza se repite</a:t>
            </a:r>
          </a:p>
        </p:txBody>
      </p:sp>
      <p:sp>
        <p:nvSpPr>
          <p:cNvPr id="81" name="Rectangle 80"/>
          <p:cNvSpPr/>
          <p:nvPr/>
        </p:nvSpPr>
        <p:spPr>
          <a:xfrm>
            <a:off x="5029200" y="4754879"/>
            <a:ext cx="45720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TextBox 81"/>
          <p:cNvSpPr txBox="1"/>
          <p:nvPr/>
        </p:nvSpPr>
        <p:spPr>
          <a:xfrm>
            <a:off x="5029200" y="4754879"/>
            <a:ext cx="4572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>
                <a:solidFill>
                  <a:srgbClr val="0F172A"/>
                </a:solidFill>
                <a:latin typeface="Calibri"/>
              </a:rPr>
              <a:t>B</a:t>
            </a:r>
          </a:p>
        </p:txBody>
      </p:sp>
      <p:sp>
        <p:nvSpPr>
          <p:cNvPr id="83" name="Rectangle 82"/>
          <p:cNvSpPr/>
          <p:nvPr/>
        </p:nvSpPr>
        <p:spPr>
          <a:xfrm>
            <a:off x="5532120" y="4754879"/>
            <a:ext cx="45720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4" name="TextBox 83"/>
          <p:cNvSpPr txBox="1"/>
          <p:nvPr/>
        </p:nvSpPr>
        <p:spPr>
          <a:xfrm>
            <a:off x="5532120" y="4754879"/>
            <a:ext cx="4572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>
                <a:solidFill>
                  <a:srgbClr val="0F172A"/>
                </a:solidFill>
                <a:latin typeface="Calibri"/>
              </a:rPr>
              <a:t>A</a:t>
            </a:r>
          </a:p>
        </p:txBody>
      </p:sp>
      <p:sp>
        <p:nvSpPr>
          <p:cNvPr id="85" name="Rectangle 84"/>
          <p:cNvSpPr/>
          <p:nvPr/>
        </p:nvSpPr>
        <p:spPr>
          <a:xfrm>
            <a:off x="6035040" y="4754879"/>
            <a:ext cx="452628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6" name="TextBox 85"/>
          <p:cNvSpPr txBox="1"/>
          <p:nvPr/>
        </p:nvSpPr>
        <p:spPr>
          <a:xfrm>
            <a:off x="6126479" y="4754879"/>
            <a:ext cx="438912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0F172A"/>
                </a:solidFill>
                <a:latin typeface="Calibri"/>
              </a:rPr>
              <a:t>Regla nueva: features que escriben en Drive/Odoo requieren OK humano pre-merge</a:t>
            </a:r>
          </a:p>
        </p:txBody>
      </p:sp>
      <p:sp>
        <p:nvSpPr>
          <p:cNvPr id="87" name="Rectangle 86"/>
          <p:cNvSpPr/>
          <p:nvPr/>
        </p:nvSpPr>
        <p:spPr>
          <a:xfrm>
            <a:off x="10607040" y="4754879"/>
            <a:ext cx="109728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8" name="TextBox 87"/>
          <p:cNvSpPr txBox="1"/>
          <p:nvPr/>
        </p:nvSpPr>
        <p:spPr>
          <a:xfrm>
            <a:off x="10652760" y="4754879"/>
            <a:ext cx="105156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0">
                <a:solidFill>
                  <a:srgbClr val="0F172A"/>
                </a:solidFill>
                <a:latin typeface="Calibri"/>
              </a:rPr>
              <a:t>Andrés</a:t>
            </a:r>
          </a:p>
        </p:txBody>
      </p:sp>
      <p:sp>
        <p:nvSpPr>
          <p:cNvPr id="89" name="Rectangle 88"/>
          <p:cNvSpPr/>
          <p:nvPr/>
        </p:nvSpPr>
        <p:spPr>
          <a:xfrm>
            <a:off x="457200" y="5285231"/>
            <a:ext cx="411480" cy="502920"/>
          </a:xfrm>
          <a:prstGeom prst="rect">
            <a:avLst/>
          </a:prstGeom>
          <a:solidFill>
            <a:srgbClr val="FACC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" name="TextBox 89"/>
          <p:cNvSpPr txBox="1"/>
          <p:nvPr/>
        </p:nvSpPr>
        <p:spPr>
          <a:xfrm>
            <a:off x="502920" y="5285231"/>
            <a:ext cx="36576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91" name="Rectangle 90"/>
          <p:cNvSpPr/>
          <p:nvPr/>
        </p:nvSpPr>
        <p:spPr>
          <a:xfrm>
            <a:off x="914400" y="5285231"/>
            <a:ext cx="4069080" cy="50292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2" name="TextBox 91"/>
          <p:cNvSpPr txBox="1"/>
          <p:nvPr/>
        </p:nvSpPr>
        <p:spPr>
          <a:xfrm>
            <a:off x="1005840" y="5285231"/>
            <a:ext cx="393192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0F172A"/>
                </a:solidFill>
                <a:latin typeface="Calibri"/>
              </a:rPr>
              <a:t>Andrés es single point of failure</a:t>
            </a:r>
          </a:p>
        </p:txBody>
      </p:sp>
      <p:sp>
        <p:nvSpPr>
          <p:cNvPr id="93" name="Rectangle 92"/>
          <p:cNvSpPr/>
          <p:nvPr/>
        </p:nvSpPr>
        <p:spPr>
          <a:xfrm>
            <a:off x="5029200" y="5285231"/>
            <a:ext cx="457200" cy="50292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4" name="TextBox 93"/>
          <p:cNvSpPr txBox="1"/>
          <p:nvPr/>
        </p:nvSpPr>
        <p:spPr>
          <a:xfrm>
            <a:off x="5029200" y="5285231"/>
            <a:ext cx="4572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>
                <a:solidFill>
                  <a:srgbClr val="0F172A"/>
                </a:solidFill>
                <a:latin typeface="Calibri"/>
              </a:rPr>
              <a:t>A</a:t>
            </a:r>
          </a:p>
        </p:txBody>
      </p:sp>
      <p:sp>
        <p:nvSpPr>
          <p:cNvPr id="95" name="Rectangle 94"/>
          <p:cNvSpPr/>
          <p:nvPr/>
        </p:nvSpPr>
        <p:spPr>
          <a:xfrm>
            <a:off x="5532120" y="5285231"/>
            <a:ext cx="457200" cy="50292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6" name="TextBox 95"/>
          <p:cNvSpPr txBox="1"/>
          <p:nvPr/>
        </p:nvSpPr>
        <p:spPr>
          <a:xfrm>
            <a:off x="5532120" y="5285231"/>
            <a:ext cx="4572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>
                <a:solidFill>
                  <a:srgbClr val="0F172A"/>
                </a:solidFill>
                <a:latin typeface="Calibri"/>
              </a:rPr>
              <a:t>A</a:t>
            </a:r>
          </a:p>
        </p:txBody>
      </p:sp>
      <p:sp>
        <p:nvSpPr>
          <p:cNvPr id="97" name="Rectangle 96"/>
          <p:cNvSpPr/>
          <p:nvPr/>
        </p:nvSpPr>
        <p:spPr>
          <a:xfrm>
            <a:off x="6035040" y="5285231"/>
            <a:ext cx="4526280" cy="50292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8" name="TextBox 97"/>
          <p:cNvSpPr txBox="1"/>
          <p:nvPr/>
        </p:nvSpPr>
        <p:spPr>
          <a:xfrm>
            <a:off x="6126479" y="5285231"/>
            <a:ext cx="438912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0F172A"/>
                </a:solidFill>
                <a:latin typeface="Calibri"/>
              </a:rPr>
              <a:t>Docs vivos (docs/*_ESTADO_*.md) · onboarding técnico a 2do · Claude copiloto</a:t>
            </a:r>
          </a:p>
        </p:txBody>
      </p:sp>
      <p:sp>
        <p:nvSpPr>
          <p:cNvPr id="99" name="Rectangle 98"/>
          <p:cNvSpPr/>
          <p:nvPr/>
        </p:nvSpPr>
        <p:spPr>
          <a:xfrm>
            <a:off x="10607040" y="5285231"/>
            <a:ext cx="1097280" cy="50292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0" name="TextBox 99"/>
          <p:cNvSpPr txBox="1"/>
          <p:nvPr/>
        </p:nvSpPr>
        <p:spPr>
          <a:xfrm>
            <a:off x="10652760" y="5285231"/>
            <a:ext cx="105156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0">
                <a:solidFill>
                  <a:srgbClr val="0F172A"/>
                </a:solidFill>
                <a:latin typeface="Calibri"/>
              </a:rPr>
              <a:t>Andrés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457200" y="5815583"/>
            <a:ext cx="411480" cy="5029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2" name="TextBox 101"/>
          <p:cNvSpPr txBox="1"/>
          <p:nvPr/>
        </p:nvSpPr>
        <p:spPr>
          <a:xfrm>
            <a:off x="502920" y="5815583"/>
            <a:ext cx="36576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8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914400" y="5815583"/>
            <a:ext cx="406908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" name="TextBox 103"/>
          <p:cNvSpPr txBox="1"/>
          <p:nvPr/>
        </p:nvSpPr>
        <p:spPr>
          <a:xfrm>
            <a:off x="1005840" y="5815583"/>
            <a:ext cx="393192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0F172A"/>
                </a:solidFill>
                <a:latin typeface="Calibri"/>
              </a:rPr>
              <a:t>Dependencia Odoo (si cae, todo cae)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5029200" y="5815583"/>
            <a:ext cx="45720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6" name="TextBox 105"/>
          <p:cNvSpPr txBox="1"/>
          <p:nvPr/>
        </p:nvSpPr>
        <p:spPr>
          <a:xfrm>
            <a:off x="5029200" y="5815583"/>
            <a:ext cx="4572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>
                <a:solidFill>
                  <a:srgbClr val="0F172A"/>
                </a:solidFill>
                <a:latin typeface="Calibri"/>
              </a:rPr>
              <a:t>B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5532120" y="5815583"/>
            <a:ext cx="45720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8" name="TextBox 107"/>
          <p:cNvSpPr txBox="1"/>
          <p:nvPr/>
        </p:nvSpPr>
        <p:spPr>
          <a:xfrm>
            <a:off x="5532120" y="5815583"/>
            <a:ext cx="4572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>
                <a:solidFill>
                  <a:srgbClr val="0F172A"/>
                </a:solidFill>
                <a:latin typeface="Calibri"/>
              </a:rPr>
              <a:t>A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6035040" y="5815583"/>
            <a:ext cx="452628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0" name="TextBox 109"/>
          <p:cNvSpPr txBox="1"/>
          <p:nvPr/>
        </p:nvSpPr>
        <p:spPr>
          <a:xfrm>
            <a:off x="6126479" y="5815583"/>
            <a:ext cx="438912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0F172A"/>
                </a:solidFill>
                <a:latin typeface="Calibri"/>
              </a:rPr>
              <a:t>Histórico parquet · apps funcionan con histórico aunque Odoo caiga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10607040" y="5815583"/>
            <a:ext cx="109728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2" name="TextBox 111"/>
          <p:cNvSpPr txBox="1"/>
          <p:nvPr/>
        </p:nvSpPr>
        <p:spPr>
          <a:xfrm>
            <a:off x="10652760" y="5815583"/>
            <a:ext cx="105156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0">
                <a:solidFill>
                  <a:srgbClr val="0F172A"/>
                </a:solidFill>
                <a:latin typeface="Calibri"/>
              </a:rPr>
              <a:t>—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457200" y="6355080"/>
            <a:ext cx="11430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0">
                <a:solidFill>
                  <a:srgbClr val="475569"/>
                </a:solidFill>
                <a:latin typeface="Calibri"/>
              </a:rPr>
              <a:t>P = Probabilidad · I = Impacto · A = Alto · M = Medio · B = Bajo</a:t>
            </a:r>
          </a:p>
        </p:txBody>
      </p:sp>
      <p:cxnSp>
        <p:nvCxnSpPr>
          <p:cNvPr id="114" name="Connector 113"/>
          <p:cNvCxnSpPr/>
          <p:nvPr/>
        </p:nvCxnSpPr>
        <p:spPr>
          <a:xfrm>
            <a:off x="457200" y="6537960"/>
            <a:ext cx="11277295" cy="0"/>
          </a:xfrm>
          <a:prstGeom prst="line">
            <a:avLst/>
          </a:prstGeom>
          <a:ln w="9525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5" name="TextBox 114"/>
          <p:cNvSpPr txBox="1"/>
          <p:nvPr/>
        </p:nvSpPr>
        <p:spPr>
          <a:xfrm>
            <a:off x="457200" y="658368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>
                <a:solidFill>
                  <a:srgbClr val="475569"/>
                </a:solidFill>
                <a:latin typeface="Calibri"/>
              </a:rPr>
              <a:t>Plan IA · Operaciones y Finanzas · Mayo 2026</a:t>
            </a:r>
          </a:p>
        </p:txBody>
      </p:sp>
      <p:pic>
        <p:nvPicPr>
          <p:cNvPr id="116" name="Picture 115" descr="unionx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6565392"/>
            <a:ext cx="464949" cy="228600"/>
          </a:xfrm>
          <a:prstGeom prst="rect">
            <a:avLst/>
          </a:prstGeom>
        </p:spPr>
      </p:pic>
      <p:sp>
        <p:nvSpPr>
          <p:cNvPr id="117" name="TextBox 116"/>
          <p:cNvSpPr txBox="1"/>
          <p:nvPr/>
        </p:nvSpPr>
        <p:spPr>
          <a:xfrm>
            <a:off x="10789920" y="658368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>
                <a:solidFill>
                  <a:srgbClr val="475569"/>
                </a:solidFill>
                <a:latin typeface="Calibri"/>
              </a:rPr>
              <a:t>25 / 27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115568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>
                <a:solidFill>
                  <a:srgbClr val="1E40AF"/>
                </a:solidFill>
                <a:latin typeface="Calibri"/>
              </a:rPr>
              <a:t>Cierre — Decisiones que necesitamos hoy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51560"/>
            <a:ext cx="111556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>
                <a:solidFill>
                  <a:srgbClr val="475569"/>
                </a:solidFill>
                <a:latin typeface="Calibri"/>
              </a:rPr>
              <a:t>5 decisiones que destraban la ejecución de los próximos 30 días.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691640"/>
            <a:ext cx="11247120" cy="5029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457200" y="1691640"/>
            <a:ext cx="548640" cy="502920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1691640"/>
            <a:ext cx="54864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1764792"/>
            <a:ext cx="43891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0F172A"/>
                </a:solidFill>
                <a:latin typeface="Calibri"/>
              </a:rPr>
              <a:t>Aprobación del plan global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1965960"/>
            <a:ext cx="43891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>
                <a:solidFill>
                  <a:srgbClr val="475569"/>
                </a:solidFill>
                <a:latin typeface="Calibri"/>
              </a:rPr>
              <a:t>Cerebro + 6 salidas + 3 eficiencias directas + potenciales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0" y="1691640"/>
            <a:ext cx="32004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0">
                <a:solidFill>
                  <a:srgbClr val="1E40AF"/>
                </a:solidFill>
                <a:latin typeface="Calibri"/>
              </a:rPr>
              <a:t>Gerencia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0" y="1691640"/>
            <a:ext cx="18288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>
                <a:solidFill>
                  <a:srgbClr val="DC2626"/>
                </a:solidFill>
                <a:latin typeface="Calibri"/>
              </a:rPr>
              <a:t>Hoy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2286000"/>
            <a:ext cx="11247120" cy="5029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57200" y="2286000"/>
            <a:ext cx="548640" cy="502920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57200" y="2286000"/>
            <a:ext cx="54864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2359152"/>
            <a:ext cx="43891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0F172A"/>
                </a:solidFill>
                <a:latin typeface="Calibri"/>
              </a:rPr>
              <a:t>Aprobación presupuesto IA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2560320"/>
            <a:ext cx="43891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>
                <a:solidFill>
                  <a:srgbClr val="475569"/>
                </a:solidFill>
                <a:latin typeface="Calibri"/>
              </a:rPr>
              <a:t>Subir USD $1.500/m → ~$2.250/m (chat ejec. + 5 agentes nuevos)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0" y="2286000"/>
            <a:ext cx="32004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0">
                <a:solidFill>
                  <a:srgbClr val="1E40AF"/>
                </a:solidFill>
                <a:latin typeface="Calibri"/>
              </a:rPr>
              <a:t>Finanzas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0" y="2286000"/>
            <a:ext cx="18288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>
                <a:solidFill>
                  <a:srgbClr val="DC2626"/>
                </a:solidFill>
                <a:latin typeface="Calibri"/>
              </a:rPr>
              <a:t>Esta semana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2880360"/>
            <a:ext cx="11247120" cy="5029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457200" y="2880360"/>
            <a:ext cx="548640" cy="502920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57200" y="2880360"/>
            <a:ext cx="54864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" y="2953512"/>
            <a:ext cx="43891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0F172A"/>
                </a:solidFill>
                <a:latin typeface="Calibri"/>
              </a:rPr>
              <a:t>Validación calendario salidas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7280" y="3154680"/>
            <a:ext cx="43891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>
                <a:solidFill>
                  <a:srgbClr val="475569"/>
                </a:solidFill>
                <a:latin typeface="Calibri"/>
              </a:rPr>
              <a:t>RR.HH. + Legal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0" y="2880360"/>
            <a:ext cx="32004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0">
                <a:solidFill>
                  <a:srgbClr val="1E40AF"/>
                </a:solidFill>
                <a:latin typeface="Calibri"/>
              </a:rPr>
              <a:t>Gerencia + RR.HH.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01200" y="2880360"/>
            <a:ext cx="18288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>
                <a:solidFill>
                  <a:srgbClr val="DC2626"/>
                </a:solidFill>
                <a:latin typeface="Calibri"/>
              </a:rPr>
              <a:t>Esta semana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57200" y="3474720"/>
            <a:ext cx="11247120" cy="5029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457200" y="3474720"/>
            <a:ext cx="548640" cy="502920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57200" y="3474720"/>
            <a:ext cx="54864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97280" y="3547872"/>
            <a:ext cx="43891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0F172A"/>
                </a:solidFill>
                <a:latin typeface="Calibri"/>
              </a:rPr>
              <a:t>Sponsor para adopción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97280" y="3749040"/>
            <a:ext cx="43891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>
                <a:solidFill>
                  <a:srgbClr val="475569"/>
                </a:solidFill>
                <a:latin typeface="Calibri"/>
              </a:rPr>
              <a:t>Cerrar Excel paralelos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943600" y="3474720"/>
            <a:ext cx="32004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0">
                <a:solidFill>
                  <a:srgbClr val="1E40AF"/>
                </a:solidFill>
                <a:latin typeface="Calibri"/>
              </a:rPr>
              <a:t>Gerencia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601200" y="3474720"/>
            <a:ext cx="18288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>
                <a:solidFill>
                  <a:srgbClr val="DC2626"/>
                </a:solidFill>
                <a:latin typeface="Calibri"/>
              </a:rPr>
              <a:t>Inmediato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57200" y="4069080"/>
            <a:ext cx="11247120" cy="5029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457200" y="4069080"/>
            <a:ext cx="548640" cy="502920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457200" y="4069080"/>
            <a:ext cx="54864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97280" y="4142232"/>
            <a:ext cx="43891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0F172A"/>
                </a:solidFill>
                <a:latin typeface="Calibri"/>
              </a:rPr>
              <a:t>Fix Agente Cobranza prioridad #1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97280" y="4343400"/>
            <a:ext cx="43891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>
                <a:solidFill>
                  <a:srgbClr val="475569"/>
                </a:solidFill>
                <a:latin typeface="Calibri"/>
              </a:rPr>
              <a:t>Destrabar recursos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943600" y="4069080"/>
            <a:ext cx="32004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0">
                <a:solidFill>
                  <a:srgbClr val="1E40AF"/>
                </a:solidFill>
                <a:latin typeface="Calibri"/>
              </a:rPr>
              <a:t>Andrés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601200" y="4069080"/>
            <a:ext cx="18288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>
                <a:solidFill>
                  <a:srgbClr val="DC2626"/>
                </a:solidFill>
                <a:latin typeface="Calibri"/>
              </a:rPr>
              <a:t>30-jun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7200" y="4937760"/>
            <a:ext cx="11430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475569"/>
                </a:solidFill>
                <a:latin typeface="Calibri"/>
              </a:rPr>
              <a:t>PRÓXIMOS 30 DÍAS (JUNIO 2026)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457200" y="5349240"/>
            <a:ext cx="2743200" cy="548640"/>
          </a:xfrm>
          <a:prstGeom prst="roundRect">
            <a:avLst>
              <a:gd name="adj" fmla="val 8000"/>
            </a:avLst>
          </a:prstGeom>
          <a:solidFill>
            <a:srgbClr val="4A90E2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594360" y="5394960"/>
            <a:ext cx="25603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Calibri"/>
              </a:rPr>
              <a:t>S1 (1-7)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94360" y="5623560"/>
            <a:ext cx="25603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>
                <a:solidFill>
                  <a:srgbClr val="FFFFFF"/>
                </a:solidFill>
                <a:latin typeface="Calibri"/>
              </a:rPr>
              <a:t>Kick-off + comunicación interna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3291840" y="5349240"/>
            <a:ext cx="2743200" cy="548640"/>
          </a:xfrm>
          <a:prstGeom prst="roundRect">
            <a:avLst>
              <a:gd name="adj" fmla="val 8000"/>
            </a:avLst>
          </a:prstGeom>
          <a:solidFill>
            <a:srgbClr val="4A90E2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3429000" y="5394960"/>
            <a:ext cx="25603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Calibri"/>
              </a:rPr>
              <a:t>S2 (8-14)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429000" y="5623560"/>
            <a:ext cx="25603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>
                <a:solidFill>
                  <a:srgbClr val="FFFFFF"/>
                </a:solidFill>
                <a:latin typeface="Calibri"/>
              </a:rPr>
              <a:t>Fix Agente Cobranza + SAC F1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6126480" y="5349240"/>
            <a:ext cx="2743200" cy="548640"/>
          </a:xfrm>
          <a:prstGeom prst="roundRect">
            <a:avLst>
              <a:gd name="adj" fmla="val 8000"/>
            </a:avLst>
          </a:prstGeom>
          <a:solidFill>
            <a:srgbClr val="4A90E2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6263640" y="5394960"/>
            <a:ext cx="25603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Calibri"/>
              </a:rPr>
              <a:t>S3 (15-21)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263640" y="5623560"/>
            <a:ext cx="25603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>
                <a:solidFill>
                  <a:srgbClr val="FFFFFF"/>
                </a:solidFill>
                <a:latin typeface="Calibri"/>
              </a:rPr>
              <a:t>POC etiqueta + comisiones canal + COMEX pre-embarque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8961120" y="5349240"/>
            <a:ext cx="2743200" cy="548640"/>
          </a:xfrm>
          <a:prstGeom prst="roundRect">
            <a:avLst>
              <a:gd name="adj" fmla="val 8000"/>
            </a:avLst>
          </a:prstGeom>
          <a:solidFill>
            <a:srgbClr val="4A90E2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9098280" y="5394960"/>
            <a:ext cx="25603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Calibri"/>
              </a:rPr>
              <a:t>S4 (22-30)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098280" y="5623560"/>
            <a:ext cx="25603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>
                <a:solidFill>
                  <a:srgbClr val="FFFFFF"/>
                </a:solidFill>
                <a:latin typeface="Calibri"/>
              </a:rPr>
              <a:t>Validación + go/no-go salidas julio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457200" y="6035040"/>
            <a:ext cx="11247120" cy="457200"/>
          </a:xfrm>
          <a:prstGeom prst="roundRect">
            <a:avLst>
              <a:gd name="adj" fmla="val 8000"/>
            </a:avLst>
          </a:prstGeom>
          <a:solidFill>
            <a:srgbClr val="10B981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640080" y="6080760"/>
            <a:ext cx="1088136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💡 El Cerebro UnionX ya existe a medias. Cerrar las piezas que faltan libera ~$33 MM este año, ~$100 MM run-rate directos + ~$58 MM potenciales.</a:t>
            </a:r>
          </a:p>
        </p:txBody>
      </p:sp>
      <p:cxnSp>
        <p:nvCxnSpPr>
          <p:cNvPr id="55" name="Connector 54"/>
          <p:cNvCxnSpPr/>
          <p:nvPr/>
        </p:nvCxnSpPr>
        <p:spPr>
          <a:xfrm>
            <a:off x="457200" y="6537960"/>
            <a:ext cx="11277295" cy="0"/>
          </a:xfrm>
          <a:prstGeom prst="line">
            <a:avLst/>
          </a:prstGeom>
          <a:ln w="9525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TextBox 55"/>
          <p:cNvSpPr txBox="1"/>
          <p:nvPr/>
        </p:nvSpPr>
        <p:spPr>
          <a:xfrm>
            <a:off x="457200" y="658368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>
                <a:solidFill>
                  <a:srgbClr val="475569"/>
                </a:solidFill>
                <a:latin typeface="Calibri"/>
              </a:rPr>
              <a:t>Plan IA · Operaciones y Finanzas · Mayo 2026</a:t>
            </a:r>
          </a:p>
        </p:txBody>
      </p:sp>
      <p:pic>
        <p:nvPicPr>
          <p:cNvPr id="57" name="Picture 56" descr="unionx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6565392"/>
            <a:ext cx="464949" cy="228600"/>
          </a:xfrm>
          <a:prstGeom prst="rect">
            <a:avLst/>
          </a:prstGeom>
        </p:spPr>
      </p:pic>
      <p:sp>
        <p:nvSpPr>
          <p:cNvPr id="58" name="TextBox 57"/>
          <p:cNvSpPr txBox="1"/>
          <p:nvPr/>
        </p:nvSpPr>
        <p:spPr>
          <a:xfrm>
            <a:off x="10789920" y="658368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>
                <a:solidFill>
                  <a:srgbClr val="475569"/>
                </a:solidFill>
                <a:latin typeface="Calibri"/>
              </a:rPr>
              <a:t>26 / 27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115568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>
                <a:solidFill>
                  <a:srgbClr val="1E40AF"/>
                </a:solidFill>
                <a:latin typeface="Calibri"/>
              </a:rPr>
              <a:t>Anexo técnico — Stack · Costo IA · ROI completo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51560"/>
            <a:ext cx="111556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>
                <a:solidFill>
                  <a:srgbClr val="475569"/>
                </a:solidFill>
                <a:latin typeface="Calibri"/>
              </a:rPr>
              <a:t>Desglose de inversión + 3 escenarios de ROI (2026 · 2027 directos · 2027 con potenciales).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91640"/>
            <a:ext cx="6400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>
                <a:solidFill>
                  <a:srgbClr val="1E40AF"/>
                </a:solidFill>
                <a:latin typeface="Calibri"/>
              </a:rPr>
              <a:t>DESGLOSE COSTO IA MENSUAL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103120"/>
            <a:ext cx="6400800" cy="3657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94360" y="2103120"/>
            <a:ext cx="347472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0F172A"/>
                </a:solidFill>
                <a:latin typeface="Calibri"/>
              </a:rPr>
              <a:t>Claude API hoy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60520" y="2103120"/>
            <a:ext cx="109728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>
                <a:solidFill>
                  <a:srgbClr val="1E40AF"/>
                </a:solidFill>
                <a:latin typeface="Calibri"/>
              </a:rPr>
              <a:t>$1.500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49240" y="2103120"/>
            <a:ext cx="141732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475569"/>
                </a:solidFill>
                <a:latin typeface="Calibri"/>
              </a:rPr>
              <a:t>2 agentes + 6 skills + desarrollo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514600"/>
            <a:ext cx="6400800" cy="3657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94360" y="2514600"/>
            <a:ext cx="347472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0F172A"/>
                </a:solidFill>
                <a:latin typeface="Calibri"/>
              </a:rPr>
              <a:t>+ Agente SAC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60520" y="2514600"/>
            <a:ext cx="109728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>
                <a:solidFill>
                  <a:srgbClr val="1E40AF"/>
                </a:solidFill>
                <a:latin typeface="Calibri"/>
              </a:rPr>
              <a:t>+$80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49240" y="2514600"/>
            <a:ext cx="141732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475569"/>
                </a:solidFill>
                <a:latin typeface="Calibri"/>
              </a:rPr>
              <a:t>Polling NC/devoluciones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2926079"/>
            <a:ext cx="6400800" cy="3657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94360" y="2926079"/>
            <a:ext cx="347472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0F172A"/>
                </a:solidFill>
                <a:latin typeface="Calibri"/>
              </a:rPr>
              <a:t>+ Agente Cobranza (post-fix)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60520" y="2926079"/>
            <a:ext cx="109728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>
                <a:solidFill>
                  <a:srgbClr val="1E40AF"/>
                </a:solidFill>
                <a:latin typeface="Calibri"/>
              </a:rPr>
              <a:t>+$80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49240" y="2926079"/>
            <a:ext cx="141732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475569"/>
                </a:solidFill>
                <a:latin typeface="Calibri"/>
              </a:rPr>
              <a:t>Procesamiento diario 5 clientes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3337560"/>
            <a:ext cx="6400800" cy="3657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94360" y="3337560"/>
            <a:ext cx="347472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0F172A"/>
                </a:solidFill>
                <a:latin typeface="Calibri"/>
              </a:rPr>
              <a:t>+ Agente Facturación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60520" y="3337560"/>
            <a:ext cx="109728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>
                <a:solidFill>
                  <a:srgbClr val="1E40AF"/>
                </a:solidFill>
                <a:latin typeface="Calibri"/>
              </a:rPr>
              <a:t>+$100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49240" y="3337560"/>
            <a:ext cx="141732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475569"/>
                </a:solidFill>
                <a:latin typeface="Calibri"/>
              </a:rPr>
              <a:t>POC etiqueta+deadline prod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3749039"/>
            <a:ext cx="6400800" cy="3657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94360" y="3749039"/>
            <a:ext cx="347472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0F172A"/>
                </a:solidFill>
                <a:latin typeface="Calibri"/>
              </a:rPr>
              <a:t>+ Agente EEFF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160520" y="3749039"/>
            <a:ext cx="109728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>
                <a:solidFill>
                  <a:srgbClr val="1E40AF"/>
                </a:solidFill>
                <a:latin typeface="Calibri"/>
              </a:rPr>
              <a:t>+$100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49240" y="3749039"/>
            <a:ext cx="141732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475569"/>
                </a:solidFill>
                <a:latin typeface="Calibri"/>
              </a:rPr>
              <a:t>EEFF en vivo desde Odoo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57200" y="4160520"/>
            <a:ext cx="6400800" cy="3657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94360" y="4160520"/>
            <a:ext cx="347472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0F172A"/>
                </a:solidFill>
                <a:latin typeface="Calibri"/>
              </a:rPr>
              <a:t>+ Chat ejecutivo 24/7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160520" y="4160520"/>
            <a:ext cx="109728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>
                <a:solidFill>
                  <a:srgbClr val="1E40AF"/>
                </a:solidFill>
                <a:latin typeface="Calibri"/>
              </a:rPr>
              <a:t>+$400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349240" y="4160520"/>
            <a:ext cx="141732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475569"/>
                </a:solidFill>
                <a:latin typeface="Calibri"/>
              </a:rPr>
              <a:t>Pregúntale al Cerebro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57200" y="4572000"/>
            <a:ext cx="6400800" cy="3657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594360" y="4572000"/>
            <a:ext cx="347472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0F172A"/>
                </a:solidFill>
                <a:latin typeface="Calibri"/>
              </a:rPr>
              <a:t>+ Alertas tiempo real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160520" y="4572000"/>
            <a:ext cx="109728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>
                <a:solidFill>
                  <a:srgbClr val="1E40AF"/>
                </a:solidFill>
                <a:latin typeface="Calibri"/>
              </a:rPr>
              <a:t>+$150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349240" y="4572000"/>
            <a:ext cx="141732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475569"/>
                </a:solidFill>
                <a:latin typeface="Calibri"/>
              </a:rPr>
              <a:t>10 alertas activas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57200" y="4983479"/>
            <a:ext cx="6400800" cy="3657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594360" y="4983479"/>
            <a:ext cx="347472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0F172A"/>
                </a:solidFill>
                <a:latin typeface="Calibri"/>
              </a:rPr>
              <a:t>− Prompt caching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160520" y="4983479"/>
            <a:ext cx="109728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>
                <a:solidFill>
                  <a:srgbClr val="1E40AF"/>
                </a:solidFill>
                <a:latin typeface="Calibri"/>
              </a:rPr>
              <a:t>−$200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349240" y="4983479"/>
            <a:ext cx="141732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475569"/>
                </a:solidFill>
                <a:latin typeface="Calibri"/>
              </a:rPr>
              <a:t>Cachear contexto repetido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57200" y="5440680"/>
            <a:ext cx="6400800" cy="457200"/>
          </a:xfrm>
          <a:prstGeom prst="roundRect">
            <a:avLst>
              <a:gd name="adj" fmla="val 8000"/>
            </a:avLst>
          </a:prstGeom>
          <a:solidFill>
            <a:srgbClr val="4A90E2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594360" y="5440680"/>
            <a:ext cx="36576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TOTAL RÉGIMEN COMPLETO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160520" y="5440680"/>
            <a:ext cx="109728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~$2.250/m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349240" y="5440680"/>
            <a:ext cx="141732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$27 MM CLP/año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57200" y="5989320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>
                <a:solidFill>
                  <a:srgbClr val="475569"/>
                </a:solidFill>
                <a:latin typeface="Calibri"/>
              </a:rPr>
              <a:t>+ DuckDB sobre parquet local: $0/mes (post 7-jun)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132320" y="1691640"/>
            <a:ext cx="47548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>
                <a:solidFill>
                  <a:srgbClr val="1E40AF"/>
                </a:solidFill>
                <a:latin typeface="Calibri"/>
              </a:rPr>
              <a:t>ROI EN 3 ESCENARIOS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7132320" y="2103120"/>
            <a:ext cx="4754880" cy="1234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A58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ectangle 44"/>
          <p:cNvSpPr/>
          <p:nvPr/>
        </p:nvSpPr>
        <p:spPr>
          <a:xfrm>
            <a:off x="7132320" y="2103120"/>
            <a:ext cx="4754880" cy="365760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7269480" y="2103120"/>
            <a:ext cx="45720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2026 · directos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269480" y="2514600"/>
            <a:ext cx="164592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3600" b="1">
                <a:solidFill>
                  <a:srgbClr val="EA580C"/>
                </a:solidFill>
                <a:latin typeface="Calibri"/>
              </a:rPr>
              <a:t>~3,0x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961120" y="2560320"/>
            <a:ext cx="2834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>
                <a:solidFill>
                  <a:srgbClr val="475569"/>
                </a:solidFill>
                <a:latin typeface="Calibri"/>
              </a:rPr>
              <a:t>Ahorro: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961120" y="2743200"/>
            <a:ext cx="2834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0F172A"/>
                </a:solidFill>
                <a:latin typeface="Calibri"/>
              </a:rPr>
              <a:t>$32,85 MM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961120" y="3017520"/>
            <a:ext cx="2834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>
                <a:solidFill>
                  <a:srgbClr val="475569"/>
                </a:solidFill>
                <a:latin typeface="Calibri"/>
              </a:rPr>
              <a:t>Costo IA: $11 MM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7132320" y="3474720"/>
            <a:ext cx="4754880" cy="1234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Rectangle 51"/>
          <p:cNvSpPr/>
          <p:nvPr/>
        </p:nvSpPr>
        <p:spPr>
          <a:xfrm>
            <a:off x="7132320" y="3474720"/>
            <a:ext cx="4754880" cy="3657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7269480" y="3474720"/>
            <a:ext cx="45720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2027 · directos run-rate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269480" y="3886200"/>
            <a:ext cx="164592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3600" b="1">
                <a:solidFill>
                  <a:srgbClr val="10B981"/>
                </a:solidFill>
                <a:latin typeface="Calibri"/>
              </a:rPr>
              <a:t>~4,2x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961120" y="3931920"/>
            <a:ext cx="2834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>
                <a:solidFill>
                  <a:srgbClr val="475569"/>
                </a:solidFill>
                <a:latin typeface="Calibri"/>
              </a:rPr>
              <a:t>Ahorro: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961120" y="4114800"/>
            <a:ext cx="2834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0F172A"/>
                </a:solidFill>
                <a:latin typeface="Calibri"/>
              </a:rPr>
              <a:t>$99,7 MM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961120" y="4389120"/>
            <a:ext cx="2834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>
                <a:solidFill>
                  <a:srgbClr val="475569"/>
                </a:solidFill>
                <a:latin typeface="Calibri"/>
              </a:rPr>
              <a:t>Costo IA: $24 MM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7132320" y="4846320"/>
            <a:ext cx="4754880" cy="1234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0596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Rectangle 58"/>
          <p:cNvSpPr/>
          <p:nvPr/>
        </p:nvSpPr>
        <p:spPr>
          <a:xfrm>
            <a:off x="7132320" y="4846320"/>
            <a:ext cx="4754880" cy="365760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7269480" y="4846320"/>
            <a:ext cx="45720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2027 · + potenciales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269480" y="5257800"/>
            <a:ext cx="164592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3600" b="1">
                <a:solidFill>
                  <a:srgbClr val="059669"/>
                </a:solidFill>
                <a:latin typeface="Calibri"/>
              </a:rPr>
              <a:t>~6,6x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961120" y="5303520"/>
            <a:ext cx="2834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>
                <a:solidFill>
                  <a:srgbClr val="475569"/>
                </a:solidFill>
                <a:latin typeface="Calibri"/>
              </a:rPr>
              <a:t>Ahorro: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961120" y="5486400"/>
            <a:ext cx="2834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0F172A"/>
                </a:solidFill>
                <a:latin typeface="Calibri"/>
              </a:rPr>
              <a:t>$157,7 MM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8961120" y="5760720"/>
            <a:ext cx="2834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>
                <a:solidFill>
                  <a:srgbClr val="475569"/>
                </a:solidFill>
                <a:latin typeface="Calibri"/>
              </a:rPr>
              <a:t>Costo IA: $24 MM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7132320" y="6263640"/>
            <a:ext cx="4754880" cy="27432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7269480" y="6263640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1">
                <a:solidFill>
                  <a:srgbClr val="1E40AF"/>
                </a:solidFill>
                <a:latin typeface="Calibri"/>
              </a:rPr>
              <a:t>Benchmark sector: 2-3x año 1 · 4-6x año 2 exitoso</a:t>
            </a:r>
          </a:p>
        </p:txBody>
      </p:sp>
      <p:cxnSp>
        <p:nvCxnSpPr>
          <p:cNvPr id="67" name="Connector 66"/>
          <p:cNvCxnSpPr/>
          <p:nvPr/>
        </p:nvCxnSpPr>
        <p:spPr>
          <a:xfrm>
            <a:off x="457200" y="6537960"/>
            <a:ext cx="11277295" cy="0"/>
          </a:xfrm>
          <a:prstGeom prst="line">
            <a:avLst/>
          </a:prstGeom>
          <a:ln w="9525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8" name="TextBox 67"/>
          <p:cNvSpPr txBox="1"/>
          <p:nvPr/>
        </p:nvSpPr>
        <p:spPr>
          <a:xfrm>
            <a:off x="457200" y="658368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>
                <a:solidFill>
                  <a:srgbClr val="475569"/>
                </a:solidFill>
                <a:latin typeface="Calibri"/>
              </a:rPr>
              <a:t>Plan IA · Operaciones y Finanzas · Mayo 2026</a:t>
            </a:r>
          </a:p>
        </p:txBody>
      </p:sp>
      <p:pic>
        <p:nvPicPr>
          <p:cNvPr id="69" name="Picture 68" descr="unionx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6565392"/>
            <a:ext cx="464949" cy="228600"/>
          </a:xfrm>
          <a:prstGeom prst="rect">
            <a:avLst/>
          </a:prstGeom>
        </p:spPr>
      </p:pic>
      <p:sp>
        <p:nvSpPr>
          <p:cNvPr id="70" name="TextBox 69"/>
          <p:cNvSpPr txBox="1"/>
          <p:nvPr/>
        </p:nvSpPr>
        <p:spPr>
          <a:xfrm>
            <a:off x="10789920" y="658368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>
                <a:solidFill>
                  <a:srgbClr val="475569"/>
                </a:solidFill>
                <a:latin typeface="Calibri"/>
              </a:rPr>
              <a:t>27 / 27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107</TotalTime>
  <Words>4289</Words>
  <Application>Microsoft Office PowerPoint</Application>
  <PresentationFormat>Panorámica</PresentationFormat>
  <Paragraphs>951</Paragraphs>
  <Slides>27</Slides>
  <Notes>1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27</vt:i4>
      </vt:variant>
    </vt:vector>
  </HeadingPairs>
  <TitlesOfParts>
    <vt:vector size="31" baseType="lpstr">
      <vt:lpstr>Aptos</vt:lpstr>
      <vt:lpstr>Arial</vt:lpstr>
      <vt:lpstr>Calibri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Andrés 2 Browne</cp:lastModifiedBy>
  <cp:revision>1</cp:revision>
  <dcterms:created xsi:type="dcterms:W3CDTF">2013-01-27T09:14:16Z</dcterms:created>
  <dcterms:modified xsi:type="dcterms:W3CDTF">2026-05-27T17:08:47Z</dcterms:modified>
  <cp:category/>
</cp:coreProperties>
</file>